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604020202020204" charset="0"/>
      <p:regular r:id="rId18"/>
    </p:embeddedFont>
    <p:embeddedFont>
      <p:font typeface="Open Sauce Bold" panose="020B0604020202020204" charset="0"/>
      <p:regular r:id="rId19"/>
    </p:embeddedFont>
    <p:embeddedFont>
      <p:font typeface="Poppins" panose="00000500000000000000" pitchFamily="2" charset="0"/>
      <p:regular r:id="rId20"/>
    </p:embeddedFont>
    <p:embeddedFont>
      <p:font typeface="Poppins Bold" panose="000008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svg"/><Relationship Id="rId3" Type="http://schemas.openxmlformats.org/officeDocument/2006/relationships/image" Target="../media/image9.png"/><Relationship Id="rId21" Type="http://schemas.openxmlformats.org/officeDocument/2006/relationships/image" Target="../media/image43.svg"/><Relationship Id="rId34" Type="http://schemas.openxmlformats.org/officeDocument/2006/relationships/image" Target="../media/image56.sv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17" Type="http://schemas.openxmlformats.org/officeDocument/2006/relationships/image" Target="../media/image39.svg"/><Relationship Id="rId25" Type="http://schemas.openxmlformats.org/officeDocument/2006/relationships/image" Target="../media/image47.png"/><Relationship Id="rId33" Type="http://schemas.openxmlformats.org/officeDocument/2006/relationships/image" Target="../media/image55.png"/><Relationship Id="rId2" Type="http://schemas.openxmlformats.org/officeDocument/2006/relationships/image" Target="../media/image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svg"/><Relationship Id="rId32" Type="http://schemas.openxmlformats.org/officeDocument/2006/relationships/image" Target="../media/image54.svg"/><Relationship Id="rId5" Type="http://schemas.openxmlformats.org/officeDocument/2006/relationships/image" Target="../media/image27.sv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svg"/><Relationship Id="rId10" Type="http://schemas.openxmlformats.org/officeDocument/2006/relationships/image" Target="../media/image32.svg"/><Relationship Id="rId19" Type="http://schemas.openxmlformats.org/officeDocument/2006/relationships/image" Target="../media/image41.svg"/><Relationship Id="rId31" Type="http://schemas.openxmlformats.org/officeDocument/2006/relationships/image" Target="../media/image53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sv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svg"/><Relationship Id="rId8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7.png"/><Relationship Id="rId18" Type="http://schemas.openxmlformats.org/officeDocument/2006/relationships/image" Target="../media/image59.svg"/><Relationship Id="rId26" Type="http://schemas.openxmlformats.org/officeDocument/2006/relationships/image" Target="../media/image67.png"/><Relationship Id="rId3" Type="http://schemas.openxmlformats.org/officeDocument/2006/relationships/image" Target="../media/image9.png"/><Relationship Id="rId21" Type="http://schemas.openxmlformats.org/officeDocument/2006/relationships/image" Target="../media/image62.png"/><Relationship Id="rId7" Type="http://schemas.openxmlformats.org/officeDocument/2006/relationships/image" Target="../media/image30.svg"/><Relationship Id="rId12" Type="http://schemas.openxmlformats.org/officeDocument/2006/relationships/image" Target="../media/image28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image" Target="../media/image7.png"/><Relationship Id="rId16" Type="http://schemas.openxmlformats.org/officeDocument/2006/relationships/image" Target="../media/image39.svg"/><Relationship Id="rId20" Type="http://schemas.openxmlformats.org/officeDocument/2006/relationships/image" Target="../media/image61.png"/><Relationship Id="rId29" Type="http://schemas.openxmlformats.org/officeDocument/2006/relationships/image" Target="../media/image7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24" Type="http://schemas.openxmlformats.org/officeDocument/2006/relationships/image" Target="../media/image65.svg"/><Relationship Id="rId5" Type="http://schemas.openxmlformats.org/officeDocument/2006/relationships/image" Target="../media/image27.svg"/><Relationship Id="rId15" Type="http://schemas.openxmlformats.org/officeDocument/2006/relationships/image" Target="../media/image38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image" Target="../media/image33.png"/><Relationship Id="rId19" Type="http://schemas.openxmlformats.org/officeDocument/2006/relationships/image" Target="../media/image60.png"/><Relationship Id="rId4" Type="http://schemas.openxmlformats.org/officeDocument/2006/relationships/image" Target="../media/image26.png"/><Relationship Id="rId9" Type="http://schemas.openxmlformats.org/officeDocument/2006/relationships/image" Target="../media/image32.svg"/><Relationship Id="rId14" Type="http://schemas.openxmlformats.org/officeDocument/2006/relationships/image" Target="../media/image57.png"/><Relationship Id="rId22" Type="http://schemas.openxmlformats.org/officeDocument/2006/relationships/image" Target="../media/image63.svg"/><Relationship Id="rId27" Type="http://schemas.openxmlformats.org/officeDocument/2006/relationships/image" Target="../media/image6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13" Type="http://schemas.openxmlformats.org/officeDocument/2006/relationships/image" Target="../media/image38.png"/><Relationship Id="rId18" Type="http://schemas.openxmlformats.org/officeDocument/2006/relationships/image" Target="../media/image83.png"/><Relationship Id="rId3" Type="http://schemas.openxmlformats.org/officeDocument/2006/relationships/image" Target="../media/image9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2.svg"/><Relationship Id="rId2" Type="http://schemas.openxmlformats.org/officeDocument/2006/relationships/image" Target="../media/image7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svg"/><Relationship Id="rId11" Type="http://schemas.openxmlformats.org/officeDocument/2006/relationships/image" Target="../media/image78.svg"/><Relationship Id="rId5" Type="http://schemas.openxmlformats.org/officeDocument/2006/relationships/image" Target="../media/image72.png"/><Relationship Id="rId15" Type="http://schemas.openxmlformats.org/officeDocument/2006/relationships/image" Target="../media/image80.png"/><Relationship Id="rId10" Type="http://schemas.openxmlformats.org/officeDocument/2006/relationships/image" Target="../media/image77.png"/><Relationship Id="rId19" Type="http://schemas.openxmlformats.org/officeDocument/2006/relationships/image" Target="../media/image84.sv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3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92.svg"/><Relationship Id="rId18" Type="http://schemas.openxmlformats.org/officeDocument/2006/relationships/image" Target="../media/image97.png"/><Relationship Id="rId3" Type="http://schemas.openxmlformats.org/officeDocument/2006/relationships/image" Target="../media/image9.png"/><Relationship Id="rId21" Type="http://schemas.openxmlformats.org/officeDocument/2006/relationships/image" Target="../media/image100.svg"/><Relationship Id="rId7" Type="http://schemas.openxmlformats.org/officeDocument/2006/relationships/image" Target="../media/image88.svg"/><Relationship Id="rId12" Type="http://schemas.openxmlformats.org/officeDocument/2006/relationships/image" Target="../media/image91.png"/><Relationship Id="rId17" Type="http://schemas.openxmlformats.org/officeDocument/2006/relationships/image" Target="../media/image96.svg"/><Relationship Id="rId2" Type="http://schemas.openxmlformats.org/officeDocument/2006/relationships/image" Target="../media/image7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0.svg"/><Relationship Id="rId5" Type="http://schemas.openxmlformats.org/officeDocument/2006/relationships/image" Target="../media/image86.svg"/><Relationship Id="rId15" Type="http://schemas.openxmlformats.org/officeDocument/2006/relationships/image" Target="../media/image94.svg"/><Relationship Id="rId23" Type="http://schemas.openxmlformats.org/officeDocument/2006/relationships/image" Target="../media/image102.svg"/><Relationship Id="rId10" Type="http://schemas.openxmlformats.org/officeDocument/2006/relationships/image" Target="../media/image89.png"/><Relationship Id="rId19" Type="http://schemas.openxmlformats.org/officeDocument/2006/relationships/image" Target="../media/image98.svg"/><Relationship Id="rId4" Type="http://schemas.openxmlformats.org/officeDocument/2006/relationships/image" Target="../media/image85.png"/><Relationship Id="rId9" Type="http://schemas.openxmlformats.org/officeDocument/2006/relationships/image" Target="../media/image63.sv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9.pn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svg"/><Relationship Id="rId11" Type="http://schemas.openxmlformats.org/officeDocument/2006/relationships/image" Target="../media/image7.png"/><Relationship Id="rId5" Type="http://schemas.openxmlformats.org/officeDocument/2006/relationships/image" Target="../media/image106.png"/><Relationship Id="rId10" Type="http://schemas.openxmlformats.org/officeDocument/2006/relationships/image" Target="../media/image111.svg"/><Relationship Id="rId4" Type="http://schemas.openxmlformats.org/officeDocument/2006/relationships/image" Target="../media/image105.svg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19034" y="4790063"/>
            <a:ext cx="2574905" cy="821186"/>
            <a:chOff x="0" y="0"/>
            <a:chExt cx="956238" cy="3049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6239" cy="304963"/>
            </a:xfrm>
            <a:custGeom>
              <a:avLst/>
              <a:gdLst/>
              <a:ahLst/>
              <a:cxnLst/>
              <a:rect l="l" t="t" r="r" b="b"/>
              <a:pathLst>
                <a:path w="956239" h="304963">
                  <a:moveTo>
                    <a:pt x="0" y="0"/>
                  </a:moveTo>
                  <a:lnTo>
                    <a:pt x="956239" y="0"/>
                  </a:lnTo>
                  <a:lnTo>
                    <a:pt x="95623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6238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844665" y="4154470"/>
            <a:ext cx="912794" cy="828743"/>
            <a:chOff x="0" y="0"/>
            <a:chExt cx="338983" cy="307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8983" cy="307769"/>
            </a:xfrm>
            <a:custGeom>
              <a:avLst/>
              <a:gdLst/>
              <a:ahLst/>
              <a:cxnLst/>
              <a:rect l="l" t="t" r="r" b="b"/>
              <a:pathLst>
                <a:path w="338983" h="307769">
                  <a:moveTo>
                    <a:pt x="0" y="0"/>
                  </a:moveTo>
                  <a:lnTo>
                    <a:pt x="338983" y="0"/>
                  </a:lnTo>
                  <a:lnTo>
                    <a:pt x="338983" y="307769"/>
                  </a:lnTo>
                  <a:lnTo>
                    <a:pt x="0" y="307769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38983" cy="355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43818" y="4446230"/>
            <a:ext cx="7542654" cy="1494918"/>
            <a:chOff x="0" y="0"/>
            <a:chExt cx="1809784" cy="3586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09784" cy="358691"/>
            </a:xfrm>
            <a:custGeom>
              <a:avLst/>
              <a:gdLst/>
              <a:ahLst/>
              <a:cxnLst/>
              <a:rect l="l" t="t" r="r" b="b"/>
              <a:pathLst>
                <a:path w="1809784" h="358691">
                  <a:moveTo>
                    <a:pt x="0" y="0"/>
                  </a:moveTo>
                  <a:lnTo>
                    <a:pt x="1809784" y="0"/>
                  </a:lnTo>
                  <a:lnTo>
                    <a:pt x="1809784" y="358691"/>
                  </a:lnTo>
                  <a:lnTo>
                    <a:pt x="0" y="358691"/>
                  </a:lnTo>
                  <a:close/>
                </a:path>
              </a:pathLst>
            </a:custGeom>
            <a:solidFill>
              <a:srgbClr val="1D468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09784" cy="406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9239250"/>
            <a:ext cx="18288000" cy="0"/>
          </a:xfrm>
          <a:prstGeom prst="line">
            <a:avLst/>
          </a:prstGeom>
          <a:ln w="19050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8201698"/>
            <a:ext cx="18288000" cy="0"/>
          </a:xfrm>
          <a:prstGeom prst="line">
            <a:avLst/>
          </a:prstGeom>
          <a:ln w="19050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 rot="-10800000">
            <a:off x="14463720" y="0"/>
            <a:ext cx="3169951" cy="1584976"/>
          </a:xfrm>
          <a:custGeom>
            <a:avLst/>
            <a:gdLst/>
            <a:ahLst/>
            <a:cxnLst/>
            <a:rect l="l" t="t" r="r" b="b"/>
            <a:pathLst>
              <a:path w="3169951" h="1584976">
                <a:moveTo>
                  <a:pt x="0" y="0"/>
                </a:moveTo>
                <a:lnTo>
                  <a:pt x="3169952" y="0"/>
                </a:lnTo>
                <a:lnTo>
                  <a:pt x="3169952" y="1584976"/>
                </a:lnTo>
                <a:lnTo>
                  <a:pt x="0" y="158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301034">
            <a:off x="792827" y="3095295"/>
            <a:ext cx="2602839" cy="3336973"/>
          </a:xfrm>
          <a:custGeom>
            <a:avLst/>
            <a:gdLst/>
            <a:ahLst/>
            <a:cxnLst/>
            <a:rect l="l" t="t" r="r" b="b"/>
            <a:pathLst>
              <a:path w="2602839" h="3336973">
                <a:moveTo>
                  <a:pt x="0" y="0"/>
                </a:moveTo>
                <a:lnTo>
                  <a:pt x="2602839" y="0"/>
                </a:lnTo>
                <a:lnTo>
                  <a:pt x="2602839" y="3336973"/>
                </a:lnTo>
                <a:lnTo>
                  <a:pt x="0" y="3336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714660" y="-1950753"/>
            <a:ext cx="3901506" cy="3901506"/>
          </a:xfrm>
          <a:custGeom>
            <a:avLst/>
            <a:gdLst/>
            <a:ahLst/>
            <a:cxnLst/>
            <a:rect l="l" t="t" r="r" b="b"/>
            <a:pathLst>
              <a:path w="3901506" h="3901506">
                <a:moveTo>
                  <a:pt x="0" y="0"/>
                </a:moveTo>
                <a:lnTo>
                  <a:pt x="3901507" y="0"/>
                </a:lnTo>
                <a:lnTo>
                  <a:pt x="3901507" y="3901506"/>
                </a:lnTo>
                <a:lnTo>
                  <a:pt x="0" y="3901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097882" y="8433317"/>
            <a:ext cx="4691862" cy="805933"/>
          </a:xfrm>
          <a:custGeom>
            <a:avLst/>
            <a:gdLst/>
            <a:ahLst/>
            <a:cxnLst/>
            <a:rect l="l" t="t" r="r" b="b"/>
            <a:pathLst>
              <a:path w="4691862" h="805933">
                <a:moveTo>
                  <a:pt x="0" y="0"/>
                </a:moveTo>
                <a:lnTo>
                  <a:pt x="4691862" y="0"/>
                </a:lnTo>
                <a:lnTo>
                  <a:pt x="4691862" y="805933"/>
                </a:lnTo>
                <a:lnTo>
                  <a:pt x="0" y="805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083" t="-522387" r="-25606" b="-114608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324285" y="8019590"/>
            <a:ext cx="1773597" cy="1141677"/>
          </a:xfrm>
          <a:custGeom>
            <a:avLst/>
            <a:gdLst/>
            <a:ahLst/>
            <a:cxnLst/>
            <a:rect l="l" t="t" r="r" b="b"/>
            <a:pathLst>
              <a:path w="1773597" h="1141677">
                <a:moveTo>
                  <a:pt x="0" y="0"/>
                </a:moveTo>
                <a:lnTo>
                  <a:pt x="1773597" y="0"/>
                </a:lnTo>
                <a:lnTo>
                  <a:pt x="1773597" y="1141677"/>
                </a:lnTo>
                <a:lnTo>
                  <a:pt x="0" y="11416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764" t="-34749" r="-13742" b="-5711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552518" y="8201698"/>
            <a:ext cx="3411197" cy="848535"/>
          </a:xfrm>
          <a:custGeom>
            <a:avLst/>
            <a:gdLst/>
            <a:ahLst/>
            <a:cxnLst/>
            <a:rect l="l" t="t" r="r" b="b"/>
            <a:pathLst>
              <a:path w="3411197" h="848535">
                <a:moveTo>
                  <a:pt x="0" y="0"/>
                </a:moveTo>
                <a:lnTo>
                  <a:pt x="3411197" y="0"/>
                </a:lnTo>
                <a:lnTo>
                  <a:pt x="3411197" y="848535"/>
                </a:lnTo>
                <a:lnTo>
                  <a:pt x="0" y="8485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240060" y="3977092"/>
            <a:ext cx="6806388" cy="248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36"/>
              </a:lnSpc>
              <a:spcBef>
                <a:spcPct val="0"/>
              </a:spcBef>
            </a:pPr>
            <a:r>
              <a:rPr lang="en-US" sz="13668" b="1" dirty="0">
                <a:solidFill>
                  <a:srgbClr val="F6F6F1"/>
                </a:solidFill>
                <a:latin typeface="Poppins Bold"/>
                <a:ea typeface="Poppins Bold"/>
                <a:cs typeface="Poppins Bold"/>
                <a:sym typeface="Poppins Bold"/>
              </a:rPr>
              <a:t>APT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86847" y="2013035"/>
            <a:ext cx="13809392" cy="248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36"/>
              </a:lnSpc>
              <a:spcBef>
                <a:spcPct val="0"/>
              </a:spcBef>
            </a:pPr>
            <a:r>
              <a:rPr lang="en-US" sz="13668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9034" y="6179007"/>
            <a:ext cx="9835971" cy="375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2"/>
              </a:lnSpc>
            </a:pPr>
            <a:r>
              <a:rPr lang="en-US" sz="2101" spc="4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Valentina Cisterna | Lucas Contreras | Jorge Lorca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38158" y="551338"/>
            <a:ext cx="12370691" cy="1371085"/>
          </a:xfrm>
          <a:custGeom>
            <a:avLst/>
            <a:gdLst/>
            <a:ahLst/>
            <a:cxnLst/>
            <a:rect l="l" t="t" r="r" b="b"/>
            <a:pathLst>
              <a:path w="12370691" h="1371085">
                <a:moveTo>
                  <a:pt x="0" y="0"/>
                </a:moveTo>
                <a:lnTo>
                  <a:pt x="12370691" y="0"/>
                </a:lnTo>
                <a:lnTo>
                  <a:pt x="12370691" y="1371084"/>
                </a:lnTo>
                <a:lnTo>
                  <a:pt x="0" y="1371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645336"/>
              </p:ext>
            </p:extLst>
          </p:nvPr>
        </p:nvGraphicFramePr>
        <p:xfrm>
          <a:off x="2085642" y="3285056"/>
          <a:ext cx="4478928" cy="3849919"/>
        </p:xfrm>
        <a:graphic>
          <a:graphicData uri="http://schemas.openxmlformats.org/drawingml/2006/table">
            <a:tbl>
              <a:tblPr/>
              <a:tblGrid>
                <a:gridCol w="4478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0303">
                <a:tc>
                  <a:txBody>
                    <a:bodyPr/>
                    <a:lstStyle/>
                    <a:p>
                      <a:pPr algn="l">
                        <a:lnSpc>
                          <a:spcPts val="3222"/>
                        </a:lnSpc>
                        <a:defRPr/>
                      </a:pPr>
                      <a:r>
                        <a:rPr lang="en-US" sz="2301" dirty="0">
                          <a:solidFill>
                            <a:srgbClr val="1C1F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sz="2301" dirty="0" err="1">
                          <a:solidFill>
                            <a:srgbClr val="1C1F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Introducción</a:t>
                      </a:r>
                      <a:endParaRPr lang="en-US" sz="1100" dirty="0"/>
                    </a:p>
                  </a:txBody>
                  <a:tcPr marL="285140" marR="285140" marT="285140" marB="285140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907">
                <a:tc>
                  <a:txBody>
                    <a:bodyPr/>
                    <a:lstStyle/>
                    <a:p>
                      <a:pPr algn="l">
                        <a:lnSpc>
                          <a:spcPts val="3222"/>
                        </a:lnSpc>
                        <a:defRPr/>
                      </a:pPr>
                      <a:r>
                        <a:rPr lang="en-US" sz="2301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Contexto/Solución</a:t>
                      </a:r>
                      <a:endParaRPr lang="en-US" sz="1100"/>
                    </a:p>
                  </a:txBody>
                  <a:tcPr marL="285140" marR="285140" marT="285140" marB="285140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4709">
                <a:tc>
                  <a:txBody>
                    <a:bodyPr/>
                    <a:lstStyle/>
                    <a:p>
                      <a:pPr algn="l">
                        <a:lnSpc>
                          <a:spcPts val="3222"/>
                        </a:lnSpc>
                        <a:defRPr/>
                      </a:pPr>
                      <a:r>
                        <a:rPr lang="en-US" sz="2301" dirty="0" err="1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Diagrama</a:t>
                      </a:r>
                      <a:r>
                        <a:rPr lang="en-US" sz="2301" dirty="0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de </a:t>
                      </a:r>
                      <a:r>
                        <a:rPr lang="en-US" sz="2301" dirty="0" err="1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capas</a:t>
                      </a:r>
                      <a:endParaRPr lang="en-US" sz="1100" dirty="0"/>
                    </a:p>
                  </a:txBody>
                  <a:tcPr marL="285140" marR="285140" marT="285140" marB="285140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1240664" y="3454538"/>
            <a:ext cx="844978" cy="845343"/>
            <a:chOff x="0" y="0"/>
            <a:chExt cx="812800" cy="8131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40664" y="4705635"/>
            <a:ext cx="844978" cy="845343"/>
            <a:chOff x="0" y="0"/>
            <a:chExt cx="812800" cy="8131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0664" y="5964979"/>
            <a:ext cx="844978" cy="845343"/>
            <a:chOff x="0" y="0"/>
            <a:chExt cx="812800" cy="8131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43109" y="3463832"/>
            <a:ext cx="835688" cy="836049"/>
            <a:chOff x="0" y="0"/>
            <a:chExt cx="812800" cy="813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90700" y="670737"/>
            <a:ext cx="10522547" cy="1042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F6F6F1"/>
                </a:solidFill>
                <a:latin typeface="Poppins Bold"/>
                <a:ea typeface="Poppins Bold"/>
                <a:cs typeface="Poppins Bold"/>
                <a:sym typeface="Poppins Bold"/>
              </a:rPr>
              <a:t>ÍNDICE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96907" y="4791991"/>
            <a:ext cx="835688" cy="836049"/>
            <a:chOff x="0" y="0"/>
            <a:chExt cx="812800" cy="8131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96907" y="6123340"/>
            <a:ext cx="835688" cy="836049"/>
            <a:chOff x="0" y="0"/>
            <a:chExt cx="812800" cy="8131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3151"/>
            </a:xfrm>
            <a:custGeom>
              <a:avLst/>
              <a:gdLst/>
              <a:ahLst/>
              <a:cxnLst/>
              <a:rect l="l" t="t" r="r" b="b"/>
              <a:pathLst>
                <a:path w="812800" h="813151">
                  <a:moveTo>
                    <a:pt x="406400" y="0"/>
                  </a:moveTo>
                  <a:cubicBezTo>
                    <a:pt x="181951" y="0"/>
                    <a:pt x="0" y="182030"/>
                    <a:pt x="0" y="406575"/>
                  </a:cubicBezTo>
                  <a:cubicBezTo>
                    <a:pt x="0" y="631121"/>
                    <a:pt x="181951" y="813151"/>
                    <a:pt x="406400" y="813151"/>
                  </a:cubicBezTo>
                  <a:cubicBezTo>
                    <a:pt x="630849" y="813151"/>
                    <a:pt x="812800" y="631121"/>
                    <a:pt x="812800" y="406575"/>
                  </a:cubicBezTo>
                  <a:cubicBezTo>
                    <a:pt x="812800" y="1820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83"/>
              <a:ext cx="660400" cy="71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083" t="-522387" r="-25606" b="-114608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5" name="AutoShape 25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1D4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1D46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/>
          <p:cNvSpPr/>
          <p:nvPr/>
        </p:nvSpPr>
        <p:spPr>
          <a:xfrm>
            <a:off x="4928826" y="313941"/>
            <a:ext cx="1635744" cy="1608481"/>
          </a:xfrm>
          <a:custGeom>
            <a:avLst/>
            <a:gdLst/>
            <a:ahLst/>
            <a:cxnLst/>
            <a:rect l="l" t="t" r="r" b="b"/>
            <a:pathLst>
              <a:path w="1635744" h="1608481">
                <a:moveTo>
                  <a:pt x="0" y="0"/>
                </a:moveTo>
                <a:lnTo>
                  <a:pt x="1635744" y="0"/>
                </a:lnTo>
                <a:lnTo>
                  <a:pt x="1635744" y="1608481"/>
                </a:lnTo>
                <a:lnTo>
                  <a:pt x="0" y="1608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8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312365"/>
              </p:ext>
            </p:extLst>
          </p:nvPr>
        </p:nvGraphicFramePr>
        <p:xfrm>
          <a:off x="10657725" y="3197884"/>
          <a:ext cx="4478928" cy="3849919"/>
        </p:xfrm>
        <a:graphic>
          <a:graphicData uri="http://schemas.openxmlformats.org/drawingml/2006/table">
            <a:tbl>
              <a:tblPr/>
              <a:tblGrid>
                <a:gridCol w="4478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0303">
                <a:tc>
                  <a:txBody>
                    <a:bodyPr/>
                    <a:lstStyle/>
                    <a:p>
                      <a:pPr algn="l">
                        <a:lnSpc>
                          <a:spcPts val="3222"/>
                        </a:lnSpc>
                        <a:defRPr/>
                      </a:pPr>
                      <a:r>
                        <a:rPr lang="en-US" sz="2301">
                          <a:solidFill>
                            <a:srgbClr val="1C1F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Mapa Tecnológico</a:t>
                      </a:r>
                      <a:endParaRPr lang="en-US" sz="1100"/>
                    </a:p>
                  </a:txBody>
                  <a:tcPr marL="285140" marR="285140" marT="285140" marB="285140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907">
                <a:tc>
                  <a:txBody>
                    <a:bodyPr/>
                    <a:lstStyle/>
                    <a:p>
                      <a:pPr algn="l">
                        <a:lnSpc>
                          <a:spcPts val="3222"/>
                        </a:lnSpc>
                        <a:defRPr/>
                      </a:pPr>
                      <a:r>
                        <a:rPr lang="en-US" sz="2301" dirty="0" err="1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Diagrama</a:t>
                      </a:r>
                      <a:r>
                        <a:rPr lang="en-US" sz="2301" dirty="0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de </a:t>
                      </a:r>
                      <a:r>
                        <a:rPr lang="en-US" sz="2301" dirty="0" err="1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contenedores</a:t>
                      </a:r>
                      <a:endParaRPr lang="en-US" sz="1100" dirty="0"/>
                    </a:p>
                  </a:txBody>
                  <a:tcPr marL="285140" marR="285140" marT="285140" marB="285140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4709">
                <a:tc>
                  <a:txBody>
                    <a:bodyPr/>
                    <a:lstStyle/>
                    <a:p>
                      <a:pPr algn="l">
                        <a:lnSpc>
                          <a:spcPts val="3222"/>
                        </a:lnSpc>
                        <a:defRPr/>
                      </a:pPr>
                      <a:r>
                        <a:rPr lang="en-US" sz="2301" dirty="0" err="1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Diagrama</a:t>
                      </a:r>
                      <a:r>
                        <a:rPr lang="en-US" sz="2301" dirty="0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de </a:t>
                      </a:r>
                      <a:r>
                        <a:rPr lang="en-US" sz="2301" dirty="0" err="1">
                          <a:solidFill>
                            <a:srgbClr val="1C1F2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Flujo</a:t>
                      </a:r>
                      <a:endParaRPr lang="en-US" sz="1100" dirty="0"/>
                    </a:p>
                  </a:txBody>
                  <a:tcPr marL="285140" marR="285140" marT="285140" marB="285140" anchor="ctr">
                    <a:lnL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18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14" cap="flat" cmpd="sng" algn="ctr">
                      <a:solidFill>
                        <a:srgbClr val="323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46434" y="2280576"/>
            <a:ext cx="11082984" cy="6553200"/>
            <a:chOff x="0" y="0"/>
            <a:chExt cx="2918975" cy="17259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18975" cy="1725946"/>
            </a:xfrm>
            <a:custGeom>
              <a:avLst/>
              <a:gdLst/>
              <a:ahLst/>
              <a:cxnLst/>
              <a:rect l="l" t="t" r="r" b="b"/>
              <a:pathLst>
                <a:path w="2918975" h="1725946">
                  <a:moveTo>
                    <a:pt x="13971" y="0"/>
                  </a:moveTo>
                  <a:lnTo>
                    <a:pt x="2905004" y="0"/>
                  </a:lnTo>
                  <a:cubicBezTo>
                    <a:pt x="2912720" y="0"/>
                    <a:pt x="2918975" y="6255"/>
                    <a:pt x="2918975" y="13971"/>
                  </a:cubicBezTo>
                  <a:lnTo>
                    <a:pt x="2918975" y="1711975"/>
                  </a:lnTo>
                  <a:cubicBezTo>
                    <a:pt x="2918975" y="1715680"/>
                    <a:pt x="2917503" y="1719234"/>
                    <a:pt x="2914883" y="1721854"/>
                  </a:cubicBezTo>
                  <a:cubicBezTo>
                    <a:pt x="2912263" y="1724474"/>
                    <a:pt x="2908710" y="1725946"/>
                    <a:pt x="2905004" y="1725946"/>
                  </a:cubicBezTo>
                  <a:lnTo>
                    <a:pt x="13971" y="1725946"/>
                  </a:lnTo>
                  <a:cubicBezTo>
                    <a:pt x="6255" y="1725946"/>
                    <a:pt x="0" y="1719691"/>
                    <a:pt x="0" y="1711975"/>
                  </a:cubicBezTo>
                  <a:lnTo>
                    <a:pt x="0" y="13971"/>
                  </a:lnTo>
                  <a:cubicBezTo>
                    <a:pt x="0" y="10266"/>
                    <a:pt x="1472" y="6712"/>
                    <a:pt x="4092" y="4092"/>
                  </a:cubicBezTo>
                  <a:cubicBezTo>
                    <a:pt x="6712" y="1472"/>
                    <a:pt x="10266" y="0"/>
                    <a:pt x="13971" y="0"/>
                  </a:cubicBezTo>
                  <a:close/>
                </a:path>
              </a:pathLst>
            </a:custGeom>
            <a:solidFill>
              <a:srgbClr val="1D4686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918975" cy="1773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90700" y="2558504"/>
            <a:ext cx="5345921" cy="5953243"/>
            <a:chOff x="0" y="0"/>
            <a:chExt cx="812800" cy="9051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05138"/>
            </a:xfrm>
            <a:custGeom>
              <a:avLst/>
              <a:gdLst/>
              <a:ahLst/>
              <a:cxnLst/>
              <a:rect l="l" t="t" r="r" b="b"/>
              <a:pathLst>
                <a:path w="812800" h="905138">
                  <a:moveTo>
                    <a:pt x="33308" y="0"/>
                  </a:moveTo>
                  <a:lnTo>
                    <a:pt x="779492" y="0"/>
                  </a:lnTo>
                  <a:cubicBezTo>
                    <a:pt x="797887" y="0"/>
                    <a:pt x="812800" y="14913"/>
                    <a:pt x="812800" y="33308"/>
                  </a:cubicBezTo>
                  <a:lnTo>
                    <a:pt x="812800" y="871830"/>
                  </a:lnTo>
                  <a:cubicBezTo>
                    <a:pt x="812800" y="880663"/>
                    <a:pt x="809291" y="889136"/>
                    <a:pt x="803044" y="895382"/>
                  </a:cubicBezTo>
                  <a:cubicBezTo>
                    <a:pt x="796798" y="901629"/>
                    <a:pt x="788326" y="905138"/>
                    <a:pt x="779492" y="905138"/>
                  </a:cubicBezTo>
                  <a:lnTo>
                    <a:pt x="33308" y="905138"/>
                  </a:lnTo>
                  <a:cubicBezTo>
                    <a:pt x="14913" y="905138"/>
                    <a:pt x="0" y="890225"/>
                    <a:pt x="0" y="871830"/>
                  </a:cubicBezTo>
                  <a:lnTo>
                    <a:pt x="0" y="33308"/>
                  </a:lnTo>
                  <a:cubicBezTo>
                    <a:pt x="0" y="14913"/>
                    <a:pt x="14913" y="0"/>
                    <a:pt x="33308" y="0"/>
                  </a:cubicBezTo>
                  <a:close/>
                </a:path>
              </a:pathLst>
            </a:custGeom>
            <a:blipFill>
              <a:blip r:embed="rId2"/>
              <a:stretch>
                <a:fillRect l="-3770" r="-5788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083" t="-522387" r="-25606" b="-11460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5479629" y="7481238"/>
            <a:ext cx="1046202" cy="1030509"/>
          </a:xfrm>
          <a:custGeom>
            <a:avLst/>
            <a:gdLst/>
            <a:ahLst/>
            <a:cxnLst/>
            <a:rect l="l" t="t" r="r" b="b"/>
            <a:pathLst>
              <a:path w="1046202" h="1030509">
                <a:moveTo>
                  <a:pt x="0" y="0"/>
                </a:moveTo>
                <a:lnTo>
                  <a:pt x="1046202" y="0"/>
                </a:lnTo>
                <a:lnTo>
                  <a:pt x="1046202" y="1030508"/>
                </a:lnTo>
                <a:lnTo>
                  <a:pt x="0" y="10305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882727" y="684715"/>
            <a:ext cx="10522547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22493" y="2866727"/>
            <a:ext cx="9103338" cy="461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Tranportes Contreras es una empresa de transporte de carga por carretera con más de 20 años de trayectoria en el rubro logístico nacional, especializada en servicios interurbanos y distribución de carga general.</a:t>
            </a:r>
          </a:p>
          <a:p>
            <a:pPr algn="l">
              <a:lnSpc>
                <a:spcPts val="2066"/>
              </a:lnSpc>
            </a:pPr>
            <a:endParaRPr lang="en-US" sz="1475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066"/>
              </a:lnSpc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Formalización de la arquitectura base, modelo relacional e integración bimodal del sistema:</a:t>
            </a:r>
          </a:p>
          <a:p>
            <a:pPr algn="l">
              <a:lnSpc>
                <a:spcPts val="2066"/>
              </a:lnSpc>
            </a:pPr>
            <a:endParaRPr lang="en-US" sz="1475">
              <a:solidFill>
                <a:srgbClr val="FEFD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18618" lvl="1" indent="-159309" algn="l">
              <a:lnSpc>
                <a:spcPts val="2066"/>
              </a:lnSpc>
              <a:buFont typeface="Arial"/>
              <a:buChar char="•"/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Arquitectura de Software en 4 Capas: Estructura desacoplada que articula la interfaz multiplataforma (Flutter), distribución web global (Firebase Hosting), backend como servicio (Supabase) y persistencia relacional (PostgreSQL).</a:t>
            </a:r>
          </a:p>
          <a:p>
            <a:pPr marL="318618" lvl="1" indent="-159309" algn="l">
              <a:lnSpc>
                <a:spcPts val="2066"/>
              </a:lnSpc>
              <a:buFont typeface="Arial"/>
              <a:buChar char="•"/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Modelo Relacional y Seguridad RLS: Diseño normalizado en 4 subsistemas (Seguridad, Maestros, Transaccional y Rendición) con control de acceso por filas (Row Level Security) mediante tokens JWT.</a:t>
            </a:r>
          </a:p>
          <a:p>
            <a:pPr marL="318618" lvl="1" indent="-159309" algn="l">
              <a:lnSpc>
                <a:spcPts val="2066"/>
              </a:lnSpc>
              <a:buFont typeface="Arial"/>
              <a:buChar char="•"/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Mecanismo de Conectividad Direct-to-Database: Consumo optimizado mediante el motor PostgREST para resolución de relaciones complejas en transacciones únicas sin intermediarios.</a:t>
            </a:r>
          </a:p>
          <a:p>
            <a:pPr marL="318618" lvl="1" indent="-159309" algn="l">
              <a:lnSpc>
                <a:spcPts val="2066"/>
              </a:lnSpc>
              <a:spcBef>
                <a:spcPct val="0"/>
              </a:spcBef>
              <a:buFont typeface="Arial"/>
              <a:buChar char="•"/>
            </a:pPr>
            <a:r>
              <a:rPr lang="en-US" sz="1475">
                <a:solidFill>
                  <a:srgbClr val="FEFDFC"/>
                </a:solidFill>
                <a:latin typeface="Poppins"/>
                <a:ea typeface="Poppins"/>
                <a:cs typeface="Poppins"/>
                <a:sym typeface="Poppins"/>
              </a:rPr>
              <a:t>Despliegue Multiplataforma y Consistencia de Código: Publicación del panel administrativo en entorno cloud y generación del paquete nativo Android (APK) a partir de una base de código unificada.</a:t>
            </a:r>
          </a:p>
        </p:txBody>
      </p:sp>
    </p:spTree>
  </p:cSld>
  <p:clrMapOvr>
    <a:masterClrMapping/>
  </p:clrMapOvr>
  <p:transition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83" t="-522387" r="-25606" b="-1146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626258" y="-158620"/>
            <a:ext cx="18914258" cy="2239545"/>
            <a:chOff x="0" y="0"/>
            <a:chExt cx="6055655" cy="717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55655" cy="717021"/>
            </a:xfrm>
            <a:custGeom>
              <a:avLst/>
              <a:gdLst/>
              <a:ahLst/>
              <a:cxnLst/>
              <a:rect l="l" t="t" r="r" b="b"/>
              <a:pathLst>
                <a:path w="6055655" h="717021">
                  <a:moveTo>
                    <a:pt x="3275" y="0"/>
                  </a:moveTo>
                  <a:lnTo>
                    <a:pt x="6052380" y="0"/>
                  </a:lnTo>
                  <a:cubicBezTo>
                    <a:pt x="6053249" y="0"/>
                    <a:pt x="6054082" y="345"/>
                    <a:pt x="6054696" y="959"/>
                  </a:cubicBezTo>
                  <a:cubicBezTo>
                    <a:pt x="6055310" y="1573"/>
                    <a:pt x="6055655" y="2406"/>
                    <a:pt x="6055655" y="3275"/>
                  </a:cubicBezTo>
                  <a:lnTo>
                    <a:pt x="6055655" y="713746"/>
                  </a:lnTo>
                  <a:cubicBezTo>
                    <a:pt x="6055655" y="714615"/>
                    <a:pt x="6055310" y="715448"/>
                    <a:pt x="6054696" y="716062"/>
                  </a:cubicBezTo>
                  <a:cubicBezTo>
                    <a:pt x="6054082" y="716676"/>
                    <a:pt x="6053249" y="717021"/>
                    <a:pt x="6052380" y="717021"/>
                  </a:cubicBezTo>
                  <a:lnTo>
                    <a:pt x="3275" y="717021"/>
                  </a:lnTo>
                  <a:cubicBezTo>
                    <a:pt x="2406" y="717021"/>
                    <a:pt x="1573" y="716676"/>
                    <a:pt x="959" y="716062"/>
                  </a:cubicBezTo>
                  <a:cubicBezTo>
                    <a:pt x="345" y="715448"/>
                    <a:pt x="0" y="714615"/>
                    <a:pt x="0" y="713746"/>
                  </a:cubicBezTo>
                  <a:lnTo>
                    <a:pt x="0" y="3275"/>
                  </a:lnTo>
                  <a:cubicBezTo>
                    <a:pt x="0" y="2406"/>
                    <a:pt x="345" y="1573"/>
                    <a:pt x="959" y="959"/>
                  </a:cubicBezTo>
                  <a:cubicBezTo>
                    <a:pt x="1573" y="345"/>
                    <a:pt x="2406" y="0"/>
                    <a:pt x="3275" y="0"/>
                  </a:cubicBezTo>
                  <a:close/>
                </a:path>
              </a:pathLst>
            </a:custGeom>
            <a:solidFill>
              <a:srgbClr val="DA722E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055655" cy="764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961436" y="750122"/>
            <a:ext cx="2006145" cy="962950"/>
          </a:xfrm>
          <a:custGeom>
            <a:avLst/>
            <a:gdLst/>
            <a:ahLst/>
            <a:cxnLst/>
            <a:rect l="l" t="t" r="r" b="b"/>
            <a:pathLst>
              <a:path w="2006145" h="962950">
                <a:moveTo>
                  <a:pt x="0" y="0"/>
                </a:moveTo>
                <a:lnTo>
                  <a:pt x="2006145" y="0"/>
                </a:lnTo>
                <a:lnTo>
                  <a:pt x="2006145" y="962950"/>
                </a:lnTo>
                <a:lnTo>
                  <a:pt x="0" y="96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705797" y="3948491"/>
            <a:ext cx="876300" cy="8763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2314714" y="5588275"/>
            <a:ext cx="3852444" cy="920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4" name="Group 14"/>
          <p:cNvGrpSpPr/>
          <p:nvPr/>
        </p:nvGrpSpPr>
        <p:grpSpPr>
          <a:xfrm>
            <a:off x="9805478" y="3541634"/>
            <a:ext cx="876300" cy="87630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2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11068313" y="4166156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9984185" y="3717323"/>
            <a:ext cx="548428" cy="548428"/>
          </a:xfrm>
          <a:custGeom>
            <a:avLst/>
            <a:gdLst/>
            <a:ahLst/>
            <a:cxnLst/>
            <a:rect l="l" t="t" r="r" b="b"/>
            <a:pathLst>
              <a:path w="548428" h="548428">
                <a:moveTo>
                  <a:pt x="0" y="0"/>
                </a:moveTo>
                <a:lnTo>
                  <a:pt x="548427" y="0"/>
                </a:lnTo>
                <a:lnTo>
                  <a:pt x="548427" y="548428"/>
                </a:lnTo>
                <a:lnTo>
                  <a:pt x="0" y="548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176488" y="6948091"/>
            <a:ext cx="461431" cy="782086"/>
          </a:xfrm>
          <a:custGeom>
            <a:avLst/>
            <a:gdLst/>
            <a:ahLst/>
            <a:cxnLst/>
            <a:rect l="l" t="t" r="r" b="b"/>
            <a:pathLst>
              <a:path w="461431" h="782086">
                <a:moveTo>
                  <a:pt x="0" y="0"/>
                </a:moveTo>
                <a:lnTo>
                  <a:pt x="461431" y="0"/>
                </a:lnTo>
                <a:lnTo>
                  <a:pt x="461431" y="782086"/>
                </a:lnTo>
                <a:lnTo>
                  <a:pt x="0" y="782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068313" y="5652964"/>
            <a:ext cx="677782" cy="579504"/>
          </a:xfrm>
          <a:custGeom>
            <a:avLst/>
            <a:gdLst/>
            <a:ahLst/>
            <a:cxnLst/>
            <a:rect l="l" t="t" r="r" b="b"/>
            <a:pathLst>
              <a:path w="677782" h="579504">
                <a:moveTo>
                  <a:pt x="0" y="0"/>
                </a:moveTo>
                <a:lnTo>
                  <a:pt x="677782" y="0"/>
                </a:lnTo>
                <a:lnTo>
                  <a:pt x="677782" y="579503"/>
                </a:lnTo>
                <a:lnTo>
                  <a:pt x="0" y="5795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AutoShape 21"/>
          <p:cNvSpPr/>
          <p:nvPr/>
        </p:nvSpPr>
        <p:spPr>
          <a:xfrm>
            <a:off x="12035583" y="5860483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12035583" y="7288657"/>
            <a:ext cx="2979752" cy="0"/>
          </a:xfrm>
          <a:prstGeom prst="line">
            <a:avLst/>
          </a:prstGeom>
          <a:ln w="19050" cap="flat">
            <a:solidFill>
              <a:srgbClr val="DA722E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 flipH="1">
            <a:off x="9805478" y="4862321"/>
            <a:ext cx="577934" cy="1229647"/>
          </a:xfrm>
          <a:custGeom>
            <a:avLst/>
            <a:gdLst/>
            <a:ahLst/>
            <a:cxnLst/>
            <a:rect l="l" t="t" r="r" b="b"/>
            <a:pathLst>
              <a:path w="577934" h="1229647">
                <a:moveTo>
                  <a:pt x="577934" y="0"/>
                </a:moveTo>
                <a:lnTo>
                  <a:pt x="0" y="0"/>
                </a:lnTo>
                <a:lnTo>
                  <a:pt x="0" y="1229647"/>
                </a:lnTo>
                <a:lnTo>
                  <a:pt x="577934" y="1229647"/>
                </a:lnTo>
                <a:lnTo>
                  <a:pt x="57793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9805478" y="6443786"/>
            <a:ext cx="577934" cy="1229647"/>
          </a:xfrm>
          <a:custGeom>
            <a:avLst/>
            <a:gdLst/>
            <a:ahLst/>
            <a:cxnLst/>
            <a:rect l="l" t="t" r="r" b="b"/>
            <a:pathLst>
              <a:path w="577934" h="1229647">
                <a:moveTo>
                  <a:pt x="577934" y="0"/>
                </a:moveTo>
                <a:lnTo>
                  <a:pt x="0" y="0"/>
                </a:lnTo>
                <a:lnTo>
                  <a:pt x="0" y="1229646"/>
                </a:lnTo>
                <a:lnTo>
                  <a:pt x="577934" y="1229646"/>
                </a:lnTo>
                <a:lnTo>
                  <a:pt x="57793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3406701" y="3312492"/>
            <a:ext cx="1474491" cy="1512299"/>
          </a:xfrm>
          <a:custGeom>
            <a:avLst/>
            <a:gdLst/>
            <a:ahLst/>
            <a:cxnLst/>
            <a:rect l="l" t="t" r="r" b="b"/>
            <a:pathLst>
              <a:path w="1474491" h="1512299">
                <a:moveTo>
                  <a:pt x="0" y="0"/>
                </a:moveTo>
                <a:lnTo>
                  <a:pt x="1474492" y="0"/>
                </a:lnTo>
                <a:lnTo>
                  <a:pt x="1474492" y="1512299"/>
                </a:lnTo>
                <a:lnTo>
                  <a:pt x="0" y="151229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50545" y="670422"/>
            <a:ext cx="4387812" cy="104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6"/>
              </a:lnSpc>
              <a:spcBef>
                <a:spcPct val="0"/>
              </a:spcBef>
            </a:pPr>
            <a:r>
              <a:rPr lang="en-US" sz="582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14714" y="5892749"/>
            <a:ext cx="3857108" cy="1165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90"/>
              </a:lnSpc>
              <a:spcBef>
                <a:spcPct val="0"/>
              </a:spcBef>
            </a:pPr>
            <a:r>
              <a:rPr lang="en-US" sz="1400" spc="84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Procesos</a:t>
            </a:r>
            <a:r>
              <a:rPr lang="en-US" sz="1400" u="none" spc="84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 manuales y registros dispersos en papel/planillas para la asignación de fletes y rendición de gastos.</a:t>
            </a:r>
          </a:p>
          <a:p>
            <a:pPr marL="0" lvl="0" indent="0" algn="just">
              <a:lnSpc>
                <a:spcPts val="1620"/>
              </a:lnSpc>
              <a:spcBef>
                <a:spcPct val="0"/>
              </a:spcBef>
            </a:pPr>
            <a:endParaRPr lang="en-US" sz="1400" u="none" spc="84">
              <a:solidFill>
                <a:srgbClr val="35346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314714" y="5081966"/>
            <a:ext cx="4380947" cy="44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PROBLEMATICA ACTUAL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68313" y="4307444"/>
            <a:ext cx="5443554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spc="84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400" u="none" spc="84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cosistema digital centralizado para trazabilidad completa del ciclo de transporte de carga.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068313" y="3660173"/>
            <a:ext cx="438094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SOLUCIÓN DESARROLLADA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35583" y="5876197"/>
            <a:ext cx="4363867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spc="84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Ge</a:t>
            </a:r>
            <a:r>
              <a:rPr lang="en-US" sz="1400" u="none" spc="84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stión administrativa de flota, clientes, conductores y generación de reportes.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35583" y="5464405"/>
            <a:ext cx="1671585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PANEL WEB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35583" y="7301034"/>
            <a:ext cx="5183725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r>
              <a:rPr lang="en-US" sz="1400" spc="84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Op</a:t>
            </a:r>
            <a:r>
              <a:rPr lang="en-US" sz="1400" u="none" spc="84">
                <a:solidFill>
                  <a:srgbClr val="353462"/>
                </a:solidFill>
                <a:latin typeface="Poppins"/>
                <a:ea typeface="Poppins"/>
                <a:cs typeface="Poppins"/>
                <a:sym typeface="Poppins"/>
              </a:rPr>
              <a:t>eración en ruta para conductores (trazabilidad, combustible, incidentes y asistencia).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035583" y="6889242"/>
            <a:ext cx="2802703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353462"/>
                </a:solidFill>
                <a:latin typeface="Poppins Bold"/>
                <a:ea typeface="Poppins Bold"/>
                <a:cs typeface="Poppins Bold"/>
                <a:sym typeface="Poppins Bold"/>
              </a:rPr>
              <a:t>APP MÓVIL (ANDROID)</a:t>
            </a:r>
          </a:p>
        </p:txBody>
      </p:sp>
    </p:spTree>
  </p:cSld>
  <p:clrMapOvr>
    <a:masterClrMapping/>
  </p:clrMapOvr>
  <p:transition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83" t="-522387" r="-25606" b="-1146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0" y="4732907"/>
            <a:ext cx="1287452" cy="821186"/>
            <a:chOff x="0" y="0"/>
            <a:chExt cx="478119" cy="3049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0641" y="4732907"/>
            <a:ext cx="1287452" cy="821186"/>
            <a:chOff x="0" y="0"/>
            <a:chExt cx="478119" cy="3049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93108" y="3629480"/>
            <a:ext cx="2749161" cy="1512807"/>
            <a:chOff x="0" y="0"/>
            <a:chExt cx="929413" cy="5114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9413" cy="511437"/>
            </a:xfrm>
            <a:custGeom>
              <a:avLst/>
              <a:gdLst/>
              <a:ahLst/>
              <a:cxnLst/>
              <a:rect l="l" t="t" r="r" b="b"/>
              <a:pathLst>
                <a:path w="929413" h="511437">
                  <a:moveTo>
                    <a:pt x="42242" y="0"/>
                  </a:moveTo>
                  <a:lnTo>
                    <a:pt x="887172" y="0"/>
                  </a:lnTo>
                  <a:cubicBezTo>
                    <a:pt x="898375" y="0"/>
                    <a:pt x="909119" y="4450"/>
                    <a:pt x="917041" y="12372"/>
                  </a:cubicBezTo>
                  <a:cubicBezTo>
                    <a:pt x="924963" y="20294"/>
                    <a:pt x="929413" y="31038"/>
                    <a:pt x="929413" y="42242"/>
                  </a:cubicBezTo>
                  <a:lnTo>
                    <a:pt x="929413" y="469196"/>
                  </a:lnTo>
                  <a:cubicBezTo>
                    <a:pt x="929413" y="492525"/>
                    <a:pt x="910501" y="511437"/>
                    <a:pt x="887172" y="511437"/>
                  </a:cubicBezTo>
                  <a:lnTo>
                    <a:pt x="42242" y="511437"/>
                  </a:lnTo>
                  <a:cubicBezTo>
                    <a:pt x="31038" y="511437"/>
                    <a:pt x="20294" y="506987"/>
                    <a:pt x="12372" y="499065"/>
                  </a:cubicBezTo>
                  <a:cubicBezTo>
                    <a:pt x="4450" y="491143"/>
                    <a:pt x="0" y="480399"/>
                    <a:pt x="0" y="469196"/>
                  </a:cubicBezTo>
                  <a:lnTo>
                    <a:pt x="0" y="42242"/>
                  </a:lnTo>
                  <a:cubicBezTo>
                    <a:pt x="0" y="18912"/>
                    <a:pt x="18912" y="0"/>
                    <a:pt x="42242" y="0"/>
                  </a:cubicBezTo>
                  <a:close/>
                </a:path>
              </a:pathLst>
            </a:custGeom>
            <a:solidFill>
              <a:srgbClr val="E57F3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29413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79610" y="3629480"/>
            <a:ext cx="10027738" cy="1512807"/>
            <a:chOff x="0" y="0"/>
            <a:chExt cx="3390093" cy="5114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90093" cy="511437"/>
            </a:xfrm>
            <a:custGeom>
              <a:avLst/>
              <a:gdLst/>
              <a:ahLst/>
              <a:cxnLst/>
              <a:rect l="l" t="t" r="r" b="b"/>
              <a:pathLst>
                <a:path w="3390093" h="511437">
                  <a:moveTo>
                    <a:pt x="11581" y="0"/>
                  </a:moveTo>
                  <a:lnTo>
                    <a:pt x="3378512" y="0"/>
                  </a:lnTo>
                  <a:cubicBezTo>
                    <a:pt x="3384908" y="0"/>
                    <a:pt x="3390093" y="5185"/>
                    <a:pt x="3390093" y="11581"/>
                  </a:cubicBezTo>
                  <a:lnTo>
                    <a:pt x="3390093" y="499856"/>
                  </a:lnTo>
                  <a:cubicBezTo>
                    <a:pt x="3390093" y="506252"/>
                    <a:pt x="3384908" y="511437"/>
                    <a:pt x="3378512" y="511437"/>
                  </a:cubicBezTo>
                  <a:lnTo>
                    <a:pt x="11581" y="511437"/>
                  </a:lnTo>
                  <a:cubicBezTo>
                    <a:pt x="8509" y="511437"/>
                    <a:pt x="5564" y="510217"/>
                    <a:pt x="3392" y="508045"/>
                  </a:cubicBezTo>
                  <a:cubicBezTo>
                    <a:pt x="1220" y="505873"/>
                    <a:pt x="0" y="502928"/>
                    <a:pt x="0" y="499856"/>
                  </a:cubicBezTo>
                  <a:lnTo>
                    <a:pt x="0" y="11581"/>
                  </a:lnTo>
                  <a:cubicBezTo>
                    <a:pt x="0" y="5185"/>
                    <a:pt x="5185" y="0"/>
                    <a:pt x="11581" y="0"/>
                  </a:cubicBezTo>
                  <a:close/>
                </a:path>
              </a:pathLst>
            </a:custGeom>
            <a:solidFill>
              <a:srgbClr val="FEF4E9">
                <a:alpha val="27451"/>
              </a:srgbClr>
            </a:solidFill>
            <a:ln w="38100" cap="sq">
              <a:solidFill>
                <a:srgbClr val="F98526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390093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93108" y="1631021"/>
            <a:ext cx="2749161" cy="1512807"/>
            <a:chOff x="0" y="0"/>
            <a:chExt cx="929413" cy="5114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413" cy="511437"/>
            </a:xfrm>
            <a:custGeom>
              <a:avLst/>
              <a:gdLst/>
              <a:ahLst/>
              <a:cxnLst/>
              <a:rect l="l" t="t" r="r" b="b"/>
              <a:pathLst>
                <a:path w="929413" h="511437">
                  <a:moveTo>
                    <a:pt x="42242" y="0"/>
                  </a:moveTo>
                  <a:lnTo>
                    <a:pt x="887172" y="0"/>
                  </a:lnTo>
                  <a:cubicBezTo>
                    <a:pt x="898375" y="0"/>
                    <a:pt x="909119" y="4450"/>
                    <a:pt x="917041" y="12372"/>
                  </a:cubicBezTo>
                  <a:cubicBezTo>
                    <a:pt x="924963" y="20294"/>
                    <a:pt x="929413" y="31038"/>
                    <a:pt x="929413" y="42242"/>
                  </a:cubicBezTo>
                  <a:lnTo>
                    <a:pt x="929413" y="469196"/>
                  </a:lnTo>
                  <a:cubicBezTo>
                    <a:pt x="929413" y="492525"/>
                    <a:pt x="910501" y="511437"/>
                    <a:pt x="887172" y="511437"/>
                  </a:cubicBezTo>
                  <a:lnTo>
                    <a:pt x="42242" y="511437"/>
                  </a:lnTo>
                  <a:cubicBezTo>
                    <a:pt x="31038" y="511437"/>
                    <a:pt x="20294" y="506987"/>
                    <a:pt x="12372" y="499065"/>
                  </a:cubicBezTo>
                  <a:cubicBezTo>
                    <a:pt x="4450" y="491143"/>
                    <a:pt x="0" y="480399"/>
                    <a:pt x="0" y="469196"/>
                  </a:cubicBezTo>
                  <a:lnTo>
                    <a:pt x="0" y="42242"/>
                  </a:lnTo>
                  <a:cubicBezTo>
                    <a:pt x="0" y="18912"/>
                    <a:pt x="18912" y="0"/>
                    <a:pt x="42242" y="0"/>
                  </a:cubicBezTo>
                  <a:close/>
                </a:path>
              </a:pathLst>
            </a:custGeom>
            <a:solidFill>
              <a:srgbClr val="1D64A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29413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19385" y="1673690"/>
            <a:ext cx="6542895" cy="1512807"/>
            <a:chOff x="0" y="0"/>
            <a:chExt cx="2211967" cy="5114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11967" cy="511437"/>
            </a:xfrm>
            <a:custGeom>
              <a:avLst/>
              <a:gdLst/>
              <a:ahLst/>
              <a:cxnLst/>
              <a:rect l="l" t="t" r="r" b="b"/>
              <a:pathLst>
                <a:path w="2211967" h="511437">
                  <a:moveTo>
                    <a:pt x="17749" y="0"/>
                  </a:moveTo>
                  <a:lnTo>
                    <a:pt x="2194218" y="0"/>
                  </a:lnTo>
                  <a:cubicBezTo>
                    <a:pt x="2204020" y="0"/>
                    <a:pt x="2211967" y="7946"/>
                    <a:pt x="2211967" y="17749"/>
                  </a:cubicBezTo>
                  <a:lnTo>
                    <a:pt x="2211967" y="493688"/>
                  </a:lnTo>
                  <a:cubicBezTo>
                    <a:pt x="2211967" y="503491"/>
                    <a:pt x="2204020" y="511437"/>
                    <a:pt x="2194218" y="511437"/>
                  </a:cubicBezTo>
                  <a:lnTo>
                    <a:pt x="17749" y="511437"/>
                  </a:lnTo>
                  <a:cubicBezTo>
                    <a:pt x="7946" y="511437"/>
                    <a:pt x="0" y="503491"/>
                    <a:pt x="0" y="493688"/>
                  </a:cubicBezTo>
                  <a:lnTo>
                    <a:pt x="0" y="17749"/>
                  </a:lnTo>
                  <a:cubicBezTo>
                    <a:pt x="0" y="7946"/>
                    <a:pt x="7946" y="0"/>
                    <a:pt x="17749" y="0"/>
                  </a:cubicBezTo>
                  <a:close/>
                </a:path>
              </a:pathLst>
            </a:custGeom>
            <a:solidFill>
              <a:srgbClr val="D8EDFD"/>
            </a:solidFill>
            <a:ln w="3810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211967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2607797" y="1753109"/>
            <a:ext cx="407217" cy="407217"/>
          </a:xfrm>
          <a:custGeom>
            <a:avLst/>
            <a:gdLst/>
            <a:ahLst/>
            <a:cxnLst/>
            <a:rect l="l" t="t" r="r" b="b"/>
            <a:pathLst>
              <a:path w="407217" h="407217">
                <a:moveTo>
                  <a:pt x="0" y="0"/>
                </a:moveTo>
                <a:lnTo>
                  <a:pt x="407217" y="0"/>
                </a:lnTo>
                <a:lnTo>
                  <a:pt x="407217" y="407217"/>
                </a:lnTo>
                <a:lnTo>
                  <a:pt x="0" y="407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5510835" y="1833327"/>
            <a:ext cx="2014461" cy="1142245"/>
            <a:chOff x="0" y="0"/>
            <a:chExt cx="681032" cy="3861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1032" cy="386160"/>
            </a:xfrm>
            <a:custGeom>
              <a:avLst/>
              <a:gdLst/>
              <a:ahLst/>
              <a:cxnLst/>
              <a:rect l="l" t="t" r="r" b="b"/>
              <a:pathLst>
                <a:path w="681032" h="386160">
                  <a:moveTo>
                    <a:pt x="57648" y="0"/>
                  </a:moveTo>
                  <a:lnTo>
                    <a:pt x="623384" y="0"/>
                  </a:lnTo>
                  <a:cubicBezTo>
                    <a:pt x="655222" y="0"/>
                    <a:pt x="681032" y="25810"/>
                    <a:pt x="681032" y="57648"/>
                  </a:cubicBezTo>
                  <a:lnTo>
                    <a:pt x="681032" y="328513"/>
                  </a:lnTo>
                  <a:cubicBezTo>
                    <a:pt x="681032" y="360351"/>
                    <a:pt x="655222" y="386160"/>
                    <a:pt x="623384" y="386160"/>
                  </a:cubicBezTo>
                  <a:lnTo>
                    <a:pt x="57648" y="386160"/>
                  </a:lnTo>
                  <a:cubicBezTo>
                    <a:pt x="25810" y="386160"/>
                    <a:pt x="0" y="360351"/>
                    <a:pt x="0" y="328513"/>
                  </a:cubicBezTo>
                  <a:lnTo>
                    <a:pt x="0" y="57648"/>
                  </a:lnTo>
                  <a:cubicBezTo>
                    <a:pt x="0" y="25810"/>
                    <a:pt x="25810" y="0"/>
                    <a:pt x="57648" y="0"/>
                  </a:cubicBezTo>
                  <a:close/>
                </a:path>
              </a:pathLst>
            </a:custGeom>
            <a:solidFill>
              <a:srgbClr val="F3F9FD"/>
            </a:solidFill>
            <a:ln w="9525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681032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493108" y="7581243"/>
            <a:ext cx="2749161" cy="1512807"/>
            <a:chOff x="0" y="0"/>
            <a:chExt cx="929413" cy="5114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29413" cy="511437"/>
            </a:xfrm>
            <a:custGeom>
              <a:avLst/>
              <a:gdLst/>
              <a:ahLst/>
              <a:cxnLst/>
              <a:rect l="l" t="t" r="r" b="b"/>
              <a:pathLst>
                <a:path w="929413" h="511437">
                  <a:moveTo>
                    <a:pt x="42242" y="0"/>
                  </a:moveTo>
                  <a:lnTo>
                    <a:pt x="887172" y="0"/>
                  </a:lnTo>
                  <a:cubicBezTo>
                    <a:pt x="898375" y="0"/>
                    <a:pt x="909119" y="4450"/>
                    <a:pt x="917041" y="12372"/>
                  </a:cubicBezTo>
                  <a:cubicBezTo>
                    <a:pt x="924963" y="20294"/>
                    <a:pt x="929413" y="31038"/>
                    <a:pt x="929413" y="42242"/>
                  </a:cubicBezTo>
                  <a:lnTo>
                    <a:pt x="929413" y="469196"/>
                  </a:lnTo>
                  <a:cubicBezTo>
                    <a:pt x="929413" y="492525"/>
                    <a:pt x="910501" y="511437"/>
                    <a:pt x="887172" y="511437"/>
                  </a:cubicBezTo>
                  <a:lnTo>
                    <a:pt x="42242" y="511437"/>
                  </a:lnTo>
                  <a:cubicBezTo>
                    <a:pt x="31038" y="511437"/>
                    <a:pt x="20294" y="506987"/>
                    <a:pt x="12372" y="499065"/>
                  </a:cubicBezTo>
                  <a:cubicBezTo>
                    <a:pt x="4450" y="491143"/>
                    <a:pt x="0" y="480399"/>
                    <a:pt x="0" y="469196"/>
                  </a:cubicBezTo>
                  <a:lnTo>
                    <a:pt x="0" y="42242"/>
                  </a:lnTo>
                  <a:cubicBezTo>
                    <a:pt x="0" y="18912"/>
                    <a:pt x="18912" y="0"/>
                    <a:pt x="42242" y="0"/>
                  </a:cubicBezTo>
                  <a:close/>
                </a:path>
              </a:pathLst>
            </a:custGeom>
            <a:solidFill>
              <a:srgbClr val="504FA8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929413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19385" y="7581243"/>
            <a:ext cx="10027738" cy="1512807"/>
            <a:chOff x="0" y="0"/>
            <a:chExt cx="3390093" cy="5114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390093" cy="511437"/>
            </a:xfrm>
            <a:custGeom>
              <a:avLst/>
              <a:gdLst/>
              <a:ahLst/>
              <a:cxnLst/>
              <a:rect l="l" t="t" r="r" b="b"/>
              <a:pathLst>
                <a:path w="3390093" h="511437">
                  <a:moveTo>
                    <a:pt x="11581" y="0"/>
                  </a:moveTo>
                  <a:lnTo>
                    <a:pt x="3378512" y="0"/>
                  </a:lnTo>
                  <a:cubicBezTo>
                    <a:pt x="3384908" y="0"/>
                    <a:pt x="3390093" y="5185"/>
                    <a:pt x="3390093" y="11581"/>
                  </a:cubicBezTo>
                  <a:lnTo>
                    <a:pt x="3390093" y="499856"/>
                  </a:lnTo>
                  <a:cubicBezTo>
                    <a:pt x="3390093" y="506252"/>
                    <a:pt x="3384908" y="511437"/>
                    <a:pt x="3378512" y="511437"/>
                  </a:cubicBezTo>
                  <a:lnTo>
                    <a:pt x="11581" y="511437"/>
                  </a:lnTo>
                  <a:cubicBezTo>
                    <a:pt x="8509" y="511437"/>
                    <a:pt x="5564" y="510217"/>
                    <a:pt x="3392" y="508045"/>
                  </a:cubicBezTo>
                  <a:cubicBezTo>
                    <a:pt x="1220" y="505873"/>
                    <a:pt x="0" y="502928"/>
                    <a:pt x="0" y="499856"/>
                  </a:cubicBezTo>
                  <a:lnTo>
                    <a:pt x="0" y="11581"/>
                  </a:lnTo>
                  <a:cubicBezTo>
                    <a:pt x="0" y="5185"/>
                    <a:pt x="5185" y="0"/>
                    <a:pt x="11581" y="0"/>
                  </a:cubicBezTo>
                  <a:close/>
                </a:path>
              </a:pathLst>
            </a:custGeom>
            <a:solidFill>
              <a:srgbClr val="ECECFE">
                <a:alpha val="27451"/>
              </a:srgbClr>
            </a:solidFill>
            <a:ln w="38100" cap="sq">
              <a:solidFill>
                <a:srgbClr val="CDCCFB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3390093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493108" y="5582785"/>
            <a:ext cx="2749161" cy="1512807"/>
            <a:chOff x="0" y="0"/>
            <a:chExt cx="929413" cy="51143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9413" cy="511437"/>
            </a:xfrm>
            <a:custGeom>
              <a:avLst/>
              <a:gdLst/>
              <a:ahLst/>
              <a:cxnLst/>
              <a:rect l="l" t="t" r="r" b="b"/>
              <a:pathLst>
                <a:path w="929413" h="511437">
                  <a:moveTo>
                    <a:pt x="42242" y="0"/>
                  </a:moveTo>
                  <a:lnTo>
                    <a:pt x="887172" y="0"/>
                  </a:lnTo>
                  <a:cubicBezTo>
                    <a:pt x="898375" y="0"/>
                    <a:pt x="909119" y="4450"/>
                    <a:pt x="917041" y="12372"/>
                  </a:cubicBezTo>
                  <a:cubicBezTo>
                    <a:pt x="924963" y="20294"/>
                    <a:pt x="929413" y="31038"/>
                    <a:pt x="929413" y="42242"/>
                  </a:cubicBezTo>
                  <a:lnTo>
                    <a:pt x="929413" y="469196"/>
                  </a:lnTo>
                  <a:cubicBezTo>
                    <a:pt x="929413" y="492525"/>
                    <a:pt x="910501" y="511437"/>
                    <a:pt x="887172" y="511437"/>
                  </a:cubicBezTo>
                  <a:lnTo>
                    <a:pt x="42242" y="511437"/>
                  </a:lnTo>
                  <a:cubicBezTo>
                    <a:pt x="31038" y="511437"/>
                    <a:pt x="20294" y="506987"/>
                    <a:pt x="12372" y="499065"/>
                  </a:cubicBezTo>
                  <a:cubicBezTo>
                    <a:pt x="4450" y="491143"/>
                    <a:pt x="0" y="480399"/>
                    <a:pt x="0" y="469196"/>
                  </a:cubicBezTo>
                  <a:lnTo>
                    <a:pt x="0" y="42242"/>
                  </a:lnTo>
                  <a:cubicBezTo>
                    <a:pt x="0" y="18912"/>
                    <a:pt x="18912" y="0"/>
                    <a:pt x="42242" y="0"/>
                  </a:cubicBezTo>
                  <a:close/>
                </a:path>
              </a:pathLst>
            </a:custGeom>
            <a:solidFill>
              <a:srgbClr val="0D7F5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929413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19385" y="5625454"/>
            <a:ext cx="10027738" cy="1512807"/>
            <a:chOff x="0" y="0"/>
            <a:chExt cx="3390093" cy="51143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390093" cy="511437"/>
            </a:xfrm>
            <a:custGeom>
              <a:avLst/>
              <a:gdLst/>
              <a:ahLst/>
              <a:cxnLst/>
              <a:rect l="l" t="t" r="r" b="b"/>
              <a:pathLst>
                <a:path w="3390093" h="511437">
                  <a:moveTo>
                    <a:pt x="11581" y="0"/>
                  </a:moveTo>
                  <a:lnTo>
                    <a:pt x="3378512" y="0"/>
                  </a:lnTo>
                  <a:cubicBezTo>
                    <a:pt x="3384908" y="0"/>
                    <a:pt x="3390093" y="5185"/>
                    <a:pt x="3390093" y="11581"/>
                  </a:cubicBezTo>
                  <a:lnTo>
                    <a:pt x="3390093" y="499856"/>
                  </a:lnTo>
                  <a:cubicBezTo>
                    <a:pt x="3390093" y="506252"/>
                    <a:pt x="3384908" y="511437"/>
                    <a:pt x="3378512" y="511437"/>
                  </a:cubicBezTo>
                  <a:lnTo>
                    <a:pt x="11581" y="511437"/>
                  </a:lnTo>
                  <a:cubicBezTo>
                    <a:pt x="8509" y="511437"/>
                    <a:pt x="5564" y="510217"/>
                    <a:pt x="3392" y="508045"/>
                  </a:cubicBezTo>
                  <a:cubicBezTo>
                    <a:pt x="1220" y="505873"/>
                    <a:pt x="0" y="502928"/>
                    <a:pt x="0" y="499856"/>
                  </a:cubicBezTo>
                  <a:lnTo>
                    <a:pt x="0" y="11581"/>
                  </a:lnTo>
                  <a:cubicBezTo>
                    <a:pt x="0" y="5185"/>
                    <a:pt x="5185" y="0"/>
                    <a:pt x="11581" y="0"/>
                  </a:cubicBezTo>
                  <a:close/>
                </a:path>
              </a:pathLst>
            </a:custGeom>
            <a:solidFill>
              <a:srgbClr val="DDF6EC"/>
            </a:solidFill>
            <a:ln w="38100" cap="sq">
              <a:solidFill>
                <a:srgbClr val="81D7B8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3390093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22137" y="7765910"/>
            <a:ext cx="4305264" cy="1142245"/>
            <a:chOff x="0" y="0"/>
            <a:chExt cx="1455487" cy="3861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55487" cy="386160"/>
            </a:xfrm>
            <a:custGeom>
              <a:avLst/>
              <a:gdLst/>
              <a:ahLst/>
              <a:cxnLst/>
              <a:rect l="l" t="t" r="r" b="b"/>
              <a:pathLst>
                <a:path w="1455487" h="386160">
                  <a:moveTo>
                    <a:pt x="26974" y="0"/>
                  </a:moveTo>
                  <a:lnTo>
                    <a:pt x="1428513" y="0"/>
                  </a:lnTo>
                  <a:cubicBezTo>
                    <a:pt x="1443411" y="0"/>
                    <a:pt x="1455487" y="12077"/>
                    <a:pt x="1455487" y="26974"/>
                  </a:cubicBezTo>
                  <a:lnTo>
                    <a:pt x="1455487" y="359187"/>
                  </a:lnTo>
                  <a:cubicBezTo>
                    <a:pt x="1455487" y="366341"/>
                    <a:pt x="1452645" y="373201"/>
                    <a:pt x="1447587" y="378260"/>
                  </a:cubicBezTo>
                  <a:cubicBezTo>
                    <a:pt x="1442528" y="383319"/>
                    <a:pt x="1435667" y="386160"/>
                    <a:pt x="1428513" y="386160"/>
                  </a:cubicBezTo>
                  <a:lnTo>
                    <a:pt x="26974" y="386160"/>
                  </a:lnTo>
                  <a:cubicBezTo>
                    <a:pt x="19820" y="386160"/>
                    <a:pt x="12959" y="383319"/>
                    <a:pt x="7900" y="378260"/>
                  </a:cubicBezTo>
                  <a:cubicBezTo>
                    <a:pt x="2842" y="373201"/>
                    <a:pt x="0" y="366341"/>
                    <a:pt x="0" y="359187"/>
                  </a:cubicBezTo>
                  <a:lnTo>
                    <a:pt x="0" y="26974"/>
                  </a:lnTo>
                  <a:cubicBezTo>
                    <a:pt x="0" y="19820"/>
                    <a:pt x="2842" y="12959"/>
                    <a:pt x="7900" y="7900"/>
                  </a:cubicBezTo>
                  <a:cubicBezTo>
                    <a:pt x="12959" y="2842"/>
                    <a:pt x="19820" y="0"/>
                    <a:pt x="26974" y="0"/>
                  </a:cubicBezTo>
                  <a:close/>
                </a:path>
              </a:pathLst>
            </a:custGeom>
            <a:solidFill>
              <a:srgbClr val="FDFDFF"/>
            </a:solidFill>
            <a:ln w="9525" cap="sq">
              <a:solidFill>
                <a:srgbClr val="CDCCFB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455487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5869644" y="8029641"/>
            <a:ext cx="656913" cy="741165"/>
          </a:xfrm>
          <a:custGeom>
            <a:avLst/>
            <a:gdLst/>
            <a:ahLst/>
            <a:cxnLst/>
            <a:rect l="l" t="t" r="r" b="b"/>
            <a:pathLst>
              <a:path w="656913" h="741165">
                <a:moveTo>
                  <a:pt x="0" y="0"/>
                </a:moveTo>
                <a:lnTo>
                  <a:pt x="656913" y="0"/>
                </a:lnTo>
                <a:lnTo>
                  <a:pt x="656913" y="741165"/>
                </a:lnTo>
                <a:lnTo>
                  <a:pt x="0" y="7411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2654" t="-53327" r="-244807" b="-49815"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2623006" y="3751325"/>
            <a:ext cx="413027" cy="413027"/>
          </a:xfrm>
          <a:custGeom>
            <a:avLst/>
            <a:gdLst/>
            <a:ahLst/>
            <a:cxnLst/>
            <a:rect l="l" t="t" r="r" b="b"/>
            <a:pathLst>
              <a:path w="413027" h="413027">
                <a:moveTo>
                  <a:pt x="0" y="0"/>
                </a:moveTo>
                <a:lnTo>
                  <a:pt x="413027" y="0"/>
                </a:lnTo>
                <a:lnTo>
                  <a:pt x="413027" y="413028"/>
                </a:lnTo>
                <a:lnTo>
                  <a:pt x="0" y="4130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2588167" y="5701192"/>
            <a:ext cx="414619" cy="414619"/>
          </a:xfrm>
          <a:custGeom>
            <a:avLst/>
            <a:gdLst/>
            <a:ahLst/>
            <a:cxnLst/>
            <a:rect l="l" t="t" r="r" b="b"/>
            <a:pathLst>
              <a:path w="414619" h="414619">
                <a:moveTo>
                  <a:pt x="0" y="0"/>
                </a:moveTo>
                <a:lnTo>
                  <a:pt x="414619" y="0"/>
                </a:lnTo>
                <a:lnTo>
                  <a:pt x="414619" y="414619"/>
                </a:lnTo>
                <a:lnTo>
                  <a:pt x="0" y="4146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2588167" y="7698752"/>
            <a:ext cx="410007" cy="410007"/>
          </a:xfrm>
          <a:custGeom>
            <a:avLst/>
            <a:gdLst/>
            <a:ahLst/>
            <a:cxnLst/>
            <a:rect l="l" t="t" r="r" b="b"/>
            <a:pathLst>
              <a:path w="410007" h="410007">
                <a:moveTo>
                  <a:pt x="0" y="0"/>
                </a:moveTo>
                <a:lnTo>
                  <a:pt x="410007" y="0"/>
                </a:lnTo>
                <a:lnTo>
                  <a:pt x="410007" y="410007"/>
                </a:lnTo>
                <a:lnTo>
                  <a:pt x="0" y="41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7" name="Group 47"/>
          <p:cNvGrpSpPr/>
          <p:nvPr/>
        </p:nvGrpSpPr>
        <p:grpSpPr>
          <a:xfrm>
            <a:off x="10662153" y="7766525"/>
            <a:ext cx="4309556" cy="1142245"/>
            <a:chOff x="0" y="0"/>
            <a:chExt cx="1456938" cy="3861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56938" cy="386160"/>
            </a:xfrm>
            <a:custGeom>
              <a:avLst/>
              <a:gdLst/>
              <a:ahLst/>
              <a:cxnLst/>
              <a:rect l="l" t="t" r="r" b="b"/>
              <a:pathLst>
                <a:path w="1456938" h="386160">
                  <a:moveTo>
                    <a:pt x="26947" y="0"/>
                  </a:moveTo>
                  <a:lnTo>
                    <a:pt x="1429991" y="0"/>
                  </a:lnTo>
                  <a:cubicBezTo>
                    <a:pt x="1437138" y="0"/>
                    <a:pt x="1443992" y="2839"/>
                    <a:pt x="1449046" y="7893"/>
                  </a:cubicBezTo>
                  <a:cubicBezTo>
                    <a:pt x="1454099" y="12946"/>
                    <a:pt x="1456938" y="19800"/>
                    <a:pt x="1456938" y="26947"/>
                  </a:cubicBezTo>
                  <a:lnTo>
                    <a:pt x="1456938" y="359214"/>
                  </a:lnTo>
                  <a:cubicBezTo>
                    <a:pt x="1456938" y="366360"/>
                    <a:pt x="1454099" y="373214"/>
                    <a:pt x="1449046" y="378268"/>
                  </a:cubicBezTo>
                  <a:cubicBezTo>
                    <a:pt x="1443992" y="383321"/>
                    <a:pt x="1437138" y="386160"/>
                    <a:pt x="1429991" y="386160"/>
                  </a:cubicBezTo>
                  <a:lnTo>
                    <a:pt x="26947" y="386160"/>
                  </a:lnTo>
                  <a:cubicBezTo>
                    <a:pt x="19800" y="386160"/>
                    <a:pt x="12946" y="383321"/>
                    <a:pt x="7893" y="378268"/>
                  </a:cubicBezTo>
                  <a:cubicBezTo>
                    <a:pt x="2839" y="373214"/>
                    <a:pt x="0" y="366360"/>
                    <a:pt x="0" y="359214"/>
                  </a:cubicBezTo>
                  <a:lnTo>
                    <a:pt x="0" y="26947"/>
                  </a:lnTo>
                  <a:cubicBezTo>
                    <a:pt x="0" y="19800"/>
                    <a:pt x="2839" y="12946"/>
                    <a:pt x="7893" y="7893"/>
                  </a:cubicBezTo>
                  <a:cubicBezTo>
                    <a:pt x="12946" y="2839"/>
                    <a:pt x="19800" y="0"/>
                    <a:pt x="26947" y="0"/>
                  </a:cubicBezTo>
                  <a:close/>
                </a:path>
              </a:pathLst>
            </a:custGeom>
            <a:solidFill>
              <a:srgbClr val="FDFDFF"/>
            </a:solidFill>
            <a:ln w="9525" cap="sq">
              <a:solidFill>
                <a:srgbClr val="CDCCFB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456938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0" name="Freeform 50"/>
          <p:cNvSpPr/>
          <p:nvPr/>
        </p:nvSpPr>
        <p:spPr>
          <a:xfrm>
            <a:off x="6627680" y="8331414"/>
            <a:ext cx="105624" cy="80802"/>
          </a:xfrm>
          <a:custGeom>
            <a:avLst/>
            <a:gdLst/>
            <a:ahLst/>
            <a:cxnLst/>
            <a:rect l="l" t="t" r="r" b="b"/>
            <a:pathLst>
              <a:path w="105624" h="80802">
                <a:moveTo>
                  <a:pt x="0" y="0"/>
                </a:moveTo>
                <a:lnTo>
                  <a:pt x="105624" y="0"/>
                </a:lnTo>
                <a:lnTo>
                  <a:pt x="105624" y="80802"/>
                </a:lnTo>
                <a:lnTo>
                  <a:pt x="0" y="808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6627680" y="8527446"/>
            <a:ext cx="105624" cy="80802"/>
          </a:xfrm>
          <a:custGeom>
            <a:avLst/>
            <a:gdLst/>
            <a:ahLst/>
            <a:cxnLst/>
            <a:rect l="l" t="t" r="r" b="b"/>
            <a:pathLst>
              <a:path w="105624" h="80802">
                <a:moveTo>
                  <a:pt x="0" y="0"/>
                </a:moveTo>
                <a:lnTo>
                  <a:pt x="105624" y="0"/>
                </a:lnTo>
                <a:lnTo>
                  <a:pt x="105624" y="80802"/>
                </a:lnTo>
                <a:lnTo>
                  <a:pt x="0" y="808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6628838" y="8723056"/>
            <a:ext cx="105624" cy="80802"/>
          </a:xfrm>
          <a:custGeom>
            <a:avLst/>
            <a:gdLst/>
            <a:ahLst/>
            <a:cxnLst/>
            <a:rect l="l" t="t" r="r" b="b"/>
            <a:pathLst>
              <a:path w="105624" h="80802">
                <a:moveTo>
                  <a:pt x="0" y="0"/>
                </a:moveTo>
                <a:lnTo>
                  <a:pt x="105624" y="0"/>
                </a:lnTo>
                <a:lnTo>
                  <a:pt x="105624" y="80802"/>
                </a:lnTo>
                <a:lnTo>
                  <a:pt x="0" y="808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0874718" y="8056991"/>
            <a:ext cx="596906" cy="596906"/>
          </a:xfrm>
          <a:custGeom>
            <a:avLst/>
            <a:gdLst/>
            <a:ahLst/>
            <a:cxnLst/>
            <a:rect l="l" t="t" r="r" b="b"/>
            <a:pathLst>
              <a:path w="596906" h="596906">
                <a:moveTo>
                  <a:pt x="0" y="0"/>
                </a:moveTo>
                <a:lnTo>
                  <a:pt x="596905" y="0"/>
                </a:lnTo>
                <a:lnTo>
                  <a:pt x="596905" y="596906"/>
                </a:lnTo>
                <a:lnTo>
                  <a:pt x="0" y="596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6390795" y="2059516"/>
            <a:ext cx="1451924" cy="21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Pantallas</a:t>
            </a:r>
          </a:p>
        </p:txBody>
      </p:sp>
      <p:sp>
        <p:nvSpPr>
          <p:cNvPr id="55" name="Freeform 55"/>
          <p:cNvSpPr/>
          <p:nvPr/>
        </p:nvSpPr>
        <p:spPr>
          <a:xfrm>
            <a:off x="11583738" y="8470252"/>
            <a:ext cx="105624" cy="80802"/>
          </a:xfrm>
          <a:custGeom>
            <a:avLst/>
            <a:gdLst/>
            <a:ahLst/>
            <a:cxnLst/>
            <a:rect l="l" t="t" r="r" b="b"/>
            <a:pathLst>
              <a:path w="105624" h="80802">
                <a:moveTo>
                  <a:pt x="0" y="0"/>
                </a:moveTo>
                <a:lnTo>
                  <a:pt x="105623" y="0"/>
                </a:lnTo>
                <a:lnTo>
                  <a:pt x="105623" y="80802"/>
                </a:lnTo>
                <a:lnTo>
                  <a:pt x="0" y="808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11583738" y="8666284"/>
            <a:ext cx="105624" cy="80802"/>
          </a:xfrm>
          <a:custGeom>
            <a:avLst/>
            <a:gdLst/>
            <a:ahLst/>
            <a:cxnLst/>
            <a:rect l="l" t="t" r="r" b="b"/>
            <a:pathLst>
              <a:path w="105624" h="80802">
                <a:moveTo>
                  <a:pt x="0" y="0"/>
                </a:moveTo>
                <a:lnTo>
                  <a:pt x="105623" y="0"/>
                </a:lnTo>
                <a:lnTo>
                  <a:pt x="105623" y="80802"/>
                </a:lnTo>
                <a:lnTo>
                  <a:pt x="0" y="808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57" name="Group 57"/>
          <p:cNvGrpSpPr/>
          <p:nvPr/>
        </p:nvGrpSpPr>
        <p:grpSpPr>
          <a:xfrm>
            <a:off x="7574905" y="1833327"/>
            <a:ext cx="2014461" cy="1142245"/>
            <a:chOff x="0" y="0"/>
            <a:chExt cx="681032" cy="3861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81032" cy="386160"/>
            </a:xfrm>
            <a:custGeom>
              <a:avLst/>
              <a:gdLst/>
              <a:ahLst/>
              <a:cxnLst/>
              <a:rect l="l" t="t" r="r" b="b"/>
              <a:pathLst>
                <a:path w="681032" h="386160">
                  <a:moveTo>
                    <a:pt x="57648" y="0"/>
                  </a:moveTo>
                  <a:lnTo>
                    <a:pt x="623384" y="0"/>
                  </a:lnTo>
                  <a:cubicBezTo>
                    <a:pt x="655222" y="0"/>
                    <a:pt x="681032" y="25810"/>
                    <a:pt x="681032" y="57648"/>
                  </a:cubicBezTo>
                  <a:lnTo>
                    <a:pt x="681032" y="328513"/>
                  </a:lnTo>
                  <a:cubicBezTo>
                    <a:pt x="681032" y="360351"/>
                    <a:pt x="655222" y="386160"/>
                    <a:pt x="623384" y="386160"/>
                  </a:cubicBezTo>
                  <a:lnTo>
                    <a:pt x="57648" y="386160"/>
                  </a:lnTo>
                  <a:cubicBezTo>
                    <a:pt x="25810" y="386160"/>
                    <a:pt x="0" y="360351"/>
                    <a:pt x="0" y="328513"/>
                  </a:cubicBezTo>
                  <a:lnTo>
                    <a:pt x="0" y="57648"/>
                  </a:lnTo>
                  <a:cubicBezTo>
                    <a:pt x="0" y="25810"/>
                    <a:pt x="25810" y="0"/>
                    <a:pt x="57648" y="0"/>
                  </a:cubicBezTo>
                  <a:close/>
                </a:path>
              </a:pathLst>
            </a:custGeom>
            <a:solidFill>
              <a:srgbClr val="F3F9FD"/>
            </a:solidFill>
            <a:ln w="9525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681032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654923" y="1819673"/>
            <a:ext cx="2014461" cy="1142245"/>
            <a:chOff x="0" y="0"/>
            <a:chExt cx="681032" cy="3861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81032" cy="386160"/>
            </a:xfrm>
            <a:custGeom>
              <a:avLst/>
              <a:gdLst/>
              <a:ahLst/>
              <a:cxnLst/>
              <a:rect l="l" t="t" r="r" b="b"/>
              <a:pathLst>
                <a:path w="681032" h="386160">
                  <a:moveTo>
                    <a:pt x="57648" y="0"/>
                  </a:moveTo>
                  <a:lnTo>
                    <a:pt x="623384" y="0"/>
                  </a:lnTo>
                  <a:cubicBezTo>
                    <a:pt x="655222" y="0"/>
                    <a:pt x="681032" y="25810"/>
                    <a:pt x="681032" y="57648"/>
                  </a:cubicBezTo>
                  <a:lnTo>
                    <a:pt x="681032" y="328513"/>
                  </a:lnTo>
                  <a:cubicBezTo>
                    <a:pt x="681032" y="360351"/>
                    <a:pt x="655222" y="386160"/>
                    <a:pt x="623384" y="386160"/>
                  </a:cubicBezTo>
                  <a:lnTo>
                    <a:pt x="57648" y="386160"/>
                  </a:lnTo>
                  <a:cubicBezTo>
                    <a:pt x="25810" y="386160"/>
                    <a:pt x="0" y="360351"/>
                    <a:pt x="0" y="328513"/>
                  </a:cubicBezTo>
                  <a:lnTo>
                    <a:pt x="0" y="57648"/>
                  </a:lnTo>
                  <a:cubicBezTo>
                    <a:pt x="0" y="25810"/>
                    <a:pt x="25810" y="0"/>
                    <a:pt x="57648" y="0"/>
                  </a:cubicBezTo>
                  <a:close/>
                </a:path>
              </a:pathLst>
            </a:custGeom>
            <a:solidFill>
              <a:srgbClr val="F3F9FD"/>
            </a:solidFill>
            <a:ln w="9525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681032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716966" y="1679094"/>
            <a:ext cx="2630157" cy="1512807"/>
            <a:chOff x="0" y="0"/>
            <a:chExt cx="889181" cy="511437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89181" cy="511437"/>
            </a:xfrm>
            <a:custGeom>
              <a:avLst/>
              <a:gdLst/>
              <a:ahLst/>
              <a:cxnLst/>
              <a:rect l="l" t="t" r="r" b="b"/>
              <a:pathLst>
                <a:path w="889181" h="511437">
                  <a:moveTo>
                    <a:pt x="44153" y="0"/>
                  </a:moveTo>
                  <a:lnTo>
                    <a:pt x="845029" y="0"/>
                  </a:lnTo>
                  <a:cubicBezTo>
                    <a:pt x="856739" y="0"/>
                    <a:pt x="867969" y="4652"/>
                    <a:pt x="876249" y="12932"/>
                  </a:cubicBezTo>
                  <a:cubicBezTo>
                    <a:pt x="884530" y="21212"/>
                    <a:pt x="889181" y="32443"/>
                    <a:pt x="889181" y="44153"/>
                  </a:cubicBezTo>
                  <a:lnTo>
                    <a:pt x="889181" y="467284"/>
                  </a:lnTo>
                  <a:cubicBezTo>
                    <a:pt x="889181" y="491669"/>
                    <a:pt x="869414" y="511437"/>
                    <a:pt x="845029" y="511437"/>
                  </a:cubicBezTo>
                  <a:lnTo>
                    <a:pt x="44153" y="511437"/>
                  </a:lnTo>
                  <a:cubicBezTo>
                    <a:pt x="32443" y="511437"/>
                    <a:pt x="21212" y="506785"/>
                    <a:pt x="12932" y="498505"/>
                  </a:cubicBezTo>
                  <a:cubicBezTo>
                    <a:pt x="4652" y="490225"/>
                    <a:pt x="0" y="478994"/>
                    <a:pt x="0" y="467284"/>
                  </a:cubicBezTo>
                  <a:lnTo>
                    <a:pt x="0" y="44153"/>
                  </a:lnTo>
                  <a:cubicBezTo>
                    <a:pt x="0" y="32443"/>
                    <a:pt x="4652" y="21212"/>
                    <a:pt x="12932" y="12932"/>
                  </a:cubicBezTo>
                  <a:cubicBezTo>
                    <a:pt x="21212" y="4652"/>
                    <a:pt x="32443" y="0"/>
                    <a:pt x="44153" y="0"/>
                  </a:cubicBezTo>
                  <a:close/>
                </a:path>
              </a:pathLst>
            </a:custGeom>
            <a:ln w="28575" cap="sq">
              <a:solidFill>
                <a:srgbClr val="90CDFC"/>
              </a:solidFill>
              <a:prstDash val="dash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889181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859830" y="1821959"/>
            <a:ext cx="2349710" cy="1226737"/>
            <a:chOff x="0" y="0"/>
            <a:chExt cx="794370" cy="41472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94370" cy="414725"/>
            </a:xfrm>
            <a:custGeom>
              <a:avLst/>
              <a:gdLst/>
              <a:ahLst/>
              <a:cxnLst/>
              <a:rect l="l" t="t" r="r" b="b"/>
              <a:pathLst>
                <a:path w="794370" h="414725">
                  <a:moveTo>
                    <a:pt x="49423" y="0"/>
                  </a:moveTo>
                  <a:lnTo>
                    <a:pt x="744947" y="0"/>
                  </a:lnTo>
                  <a:cubicBezTo>
                    <a:pt x="758055" y="0"/>
                    <a:pt x="770626" y="5207"/>
                    <a:pt x="779894" y="14476"/>
                  </a:cubicBezTo>
                  <a:cubicBezTo>
                    <a:pt x="789163" y="23744"/>
                    <a:pt x="794370" y="36315"/>
                    <a:pt x="794370" y="49423"/>
                  </a:cubicBezTo>
                  <a:lnTo>
                    <a:pt x="794370" y="365302"/>
                  </a:lnTo>
                  <a:cubicBezTo>
                    <a:pt x="794370" y="378410"/>
                    <a:pt x="789163" y="390981"/>
                    <a:pt x="779894" y="400249"/>
                  </a:cubicBezTo>
                  <a:cubicBezTo>
                    <a:pt x="770626" y="409518"/>
                    <a:pt x="758055" y="414725"/>
                    <a:pt x="744947" y="414725"/>
                  </a:cubicBezTo>
                  <a:lnTo>
                    <a:pt x="49423" y="414725"/>
                  </a:lnTo>
                  <a:cubicBezTo>
                    <a:pt x="36315" y="414725"/>
                    <a:pt x="23744" y="409518"/>
                    <a:pt x="14476" y="400249"/>
                  </a:cubicBezTo>
                  <a:cubicBezTo>
                    <a:pt x="5207" y="390981"/>
                    <a:pt x="0" y="378410"/>
                    <a:pt x="0" y="365302"/>
                  </a:cubicBezTo>
                  <a:lnTo>
                    <a:pt x="0" y="49423"/>
                  </a:lnTo>
                  <a:cubicBezTo>
                    <a:pt x="0" y="36315"/>
                    <a:pt x="5207" y="23744"/>
                    <a:pt x="14476" y="14476"/>
                  </a:cubicBezTo>
                  <a:cubicBezTo>
                    <a:pt x="23744" y="5207"/>
                    <a:pt x="36315" y="0"/>
                    <a:pt x="49423" y="0"/>
                  </a:cubicBezTo>
                  <a:close/>
                </a:path>
              </a:pathLst>
            </a:custGeom>
            <a:ln w="9525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794370" cy="462350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9" name="Freeform 69"/>
          <p:cNvSpPr/>
          <p:nvPr/>
        </p:nvSpPr>
        <p:spPr>
          <a:xfrm>
            <a:off x="13000866" y="2142066"/>
            <a:ext cx="422297" cy="586523"/>
          </a:xfrm>
          <a:custGeom>
            <a:avLst/>
            <a:gdLst/>
            <a:ahLst/>
            <a:cxnLst/>
            <a:rect l="l" t="t" r="r" b="b"/>
            <a:pathLst>
              <a:path w="422297" h="586523">
                <a:moveTo>
                  <a:pt x="0" y="0"/>
                </a:moveTo>
                <a:lnTo>
                  <a:pt x="422296" y="0"/>
                </a:lnTo>
                <a:lnTo>
                  <a:pt x="422296" y="586523"/>
                </a:lnTo>
                <a:lnTo>
                  <a:pt x="0" y="5865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5722137" y="2152715"/>
            <a:ext cx="486609" cy="408751"/>
          </a:xfrm>
          <a:custGeom>
            <a:avLst/>
            <a:gdLst/>
            <a:ahLst/>
            <a:cxnLst/>
            <a:rect l="l" t="t" r="r" b="b"/>
            <a:pathLst>
              <a:path w="486609" h="408751">
                <a:moveTo>
                  <a:pt x="0" y="0"/>
                </a:moveTo>
                <a:lnTo>
                  <a:pt x="486609" y="0"/>
                </a:lnTo>
                <a:lnTo>
                  <a:pt x="486609" y="408751"/>
                </a:lnTo>
                <a:lnTo>
                  <a:pt x="0" y="40875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7677741" y="2195211"/>
            <a:ext cx="418476" cy="418476"/>
          </a:xfrm>
          <a:custGeom>
            <a:avLst/>
            <a:gdLst/>
            <a:ahLst/>
            <a:cxnLst/>
            <a:rect l="l" t="t" r="r" b="b"/>
            <a:pathLst>
              <a:path w="418476" h="418476">
                <a:moveTo>
                  <a:pt x="0" y="0"/>
                </a:moveTo>
                <a:lnTo>
                  <a:pt x="418475" y="0"/>
                </a:lnTo>
                <a:lnTo>
                  <a:pt x="418475" y="418476"/>
                </a:lnTo>
                <a:lnTo>
                  <a:pt x="0" y="4184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9756115" y="2142066"/>
            <a:ext cx="481348" cy="595121"/>
          </a:xfrm>
          <a:custGeom>
            <a:avLst/>
            <a:gdLst/>
            <a:ahLst/>
            <a:cxnLst/>
            <a:rect l="l" t="t" r="r" b="b"/>
            <a:pathLst>
              <a:path w="481348" h="595121">
                <a:moveTo>
                  <a:pt x="0" y="0"/>
                </a:moveTo>
                <a:lnTo>
                  <a:pt x="481348" y="0"/>
                </a:lnTo>
                <a:lnTo>
                  <a:pt x="481348" y="595120"/>
                </a:lnTo>
                <a:lnTo>
                  <a:pt x="0" y="59512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73" name="AutoShape 73"/>
          <p:cNvSpPr/>
          <p:nvPr/>
        </p:nvSpPr>
        <p:spPr>
          <a:xfrm flipH="1" flipV="1">
            <a:off x="8039975" y="3186498"/>
            <a:ext cx="0" cy="442982"/>
          </a:xfrm>
          <a:prstGeom prst="line">
            <a:avLst/>
          </a:prstGeom>
          <a:ln w="38100" cap="flat">
            <a:solidFill>
              <a:srgbClr val="043397"/>
            </a:solidFill>
            <a:prstDash val="solid"/>
            <a:headEnd type="arrow" w="med" len="sm"/>
            <a:tailEnd type="arrow" w="med" len="sm"/>
          </a:ln>
        </p:spPr>
      </p:sp>
      <p:grpSp>
        <p:nvGrpSpPr>
          <p:cNvPr id="74" name="Group 74"/>
          <p:cNvGrpSpPr/>
          <p:nvPr/>
        </p:nvGrpSpPr>
        <p:grpSpPr>
          <a:xfrm>
            <a:off x="5573735" y="3814761"/>
            <a:ext cx="3033395" cy="1142245"/>
            <a:chOff x="0" y="0"/>
            <a:chExt cx="1025505" cy="38616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25505" cy="386160"/>
            </a:xfrm>
            <a:custGeom>
              <a:avLst/>
              <a:gdLst/>
              <a:ahLst/>
              <a:cxnLst/>
              <a:rect l="l" t="t" r="r" b="b"/>
              <a:pathLst>
                <a:path w="1025505" h="386160">
                  <a:moveTo>
                    <a:pt x="38283" y="0"/>
                  </a:moveTo>
                  <a:lnTo>
                    <a:pt x="987221" y="0"/>
                  </a:lnTo>
                  <a:cubicBezTo>
                    <a:pt x="997374" y="0"/>
                    <a:pt x="1007112" y="4033"/>
                    <a:pt x="1014292" y="11213"/>
                  </a:cubicBezTo>
                  <a:cubicBezTo>
                    <a:pt x="1021471" y="18392"/>
                    <a:pt x="1025505" y="28130"/>
                    <a:pt x="1025505" y="38283"/>
                  </a:cubicBezTo>
                  <a:lnTo>
                    <a:pt x="1025505" y="347877"/>
                  </a:lnTo>
                  <a:cubicBezTo>
                    <a:pt x="1025505" y="369020"/>
                    <a:pt x="1008365" y="386160"/>
                    <a:pt x="987221" y="386160"/>
                  </a:cubicBezTo>
                  <a:lnTo>
                    <a:pt x="38283" y="386160"/>
                  </a:lnTo>
                  <a:cubicBezTo>
                    <a:pt x="17140" y="386160"/>
                    <a:pt x="0" y="369020"/>
                    <a:pt x="0" y="347877"/>
                  </a:cubicBezTo>
                  <a:lnTo>
                    <a:pt x="0" y="38283"/>
                  </a:lnTo>
                  <a:cubicBezTo>
                    <a:pt x="0" y="17140"/>
                    <a:pt x="17140" y="0"/>
                    <a:pt x="38283" y="0"/>
                  </a:cubicBezTo>
                  <a:close/>
                </a:path>
              </a:pathLst>
            </a:custGeom>
            <a:solidFill>
              <a:srgbClr val="FDF7EF"/>
            </a:solidFill>
            <a:ln w="9525" cap="sq">
              <a:solidFill>
                <a:srgbClr val="DA722E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1025505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755564" y="3814761"/>
            <a:ext cx="3033395" cy="1142245"/>
            <a:chOff x="0" y="0"/>
            <a:chExt cx="1025505" cy="38616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25505" cy="386160"/>
            </a:xfrm>
            <a:custGeom>
              <a:avLst/>
              <a:gdLst/>
              <a:ahLst/>
              <a:cxnLst/>
              <a:rect l="l" t="t" r="r" b="b"/>
              <a:pathLst>
                <a:path w="1025505" h="386160">
                  <a:moveTo>
                    <a:pt x="38283" y="0"/>
                  </a:moveTo>
                  <a:lnTo>
                    <a:pt x="987221" y="0"/>
                  </a:lnTo>
                  <a:cubicBezTo>
                    <a:pt x="997374" y="0"/>
                    <a:pt x="1007112" y="4033"/>
                    <a:pt x="1014292" y="11213"/>
                  </a:cubicBezTo>
                  <a:cubicBezTo>
                    <a:pt x="1021471" y="18392"/>
                    <a:pt x="1025505" y="28130"/>
                    <a:pt x="1025505" y="38283"/>
                  </a:cubicBezTo>
                  <a:lnTo>
                    <a:pt x="1025505" y="347877"/>
                  </a:lnTo>
                  <a:cubicBezTo>
                    <a:pt x="1025505" y="369020"/>
                    <a:pt x="1008365" y="386160"/>
                    <a:pt x="987221" y="386160"/>
                  </a:cubicBezTo>
                  <a:lnTo>
                    <a:pt x="38283" y="386160"/>
                  </a:lnTo>
                  <a:cubicBezTo>
                    <a:pt x="17140" y="386160"/>
                    <a:pt x="0" y="369020"/>
                    <a:pt x="0" y="347877"/>
                  </a:cubicBezTo>
                  <a:lnTo>
                    <a:pt x="0" y="38283"/>
                  </a:lnTo>
                  <a:cubicBezTo>
                    <a:pt x="0" y="17140"/>
                    <a:pt x="17140" y="0"/>
                    <a:pt x="38283" y="0"/>
                  </a:cubicBezTo>
                  <a:close/>
                </a:path>
              </a:pathLst>
            </a:custGeom>
            <a:solidFill>
              <a:srgbClr val="FEF7ED"/>
            </a:solidFill>
            <a:ln w="9525" cap="sq">
              <a:solidFill>
                <a:srgbClr val="DA722E"/>
              </a:solidFill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1025505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1979828" y="3814761"/>
            <a:ext cx="3033395" cy="1142245"/>
            <a:chOff x="0" y="0"/>
            <a:chExt cx="1025505" cy="38616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025505" cy="386160"/>
            </a:xfrm>
            <a:custGeom>
              <a:avLst/>
              <a:gdLst/>
              <a:ahLst/>
              <a:cxnLst/>
              <a:rect l="l" t="t" r="r" b="b"/>
              <a:pathLst>
                <a:path w="1025505" h="386160">
                  <a:moveTo>
                    <a:pt x="38283" y="0"/>
                  </a:moveTo>
                  <a:lnTo>
                    <a:pt x="987221" y="0"/>
                  </a:lnTo>
                  <a:cubicBezTo>
                    <a:pt x="997374" y="0"/>
                    <a:pt x="1007112" y="4033"/>
                    <a:pt x="1014292" y="11213"/>
                  </a:cubicBezTo>
                  <a:cubicBezTo>
                    <a:pt x="1021471" y="18392"/>
                    <a:pt x="1025505" y="28130"/>
                    <a:pt x="1025505" y="38283"/>
                  </a:cubicBezTo>
                  <a:lnTo>
                    <a:pt x="1025505" y="347877"/>
                  </a:lnTo>
                  <a:cubicBezTo>
                    <a:pt x="1025505" y="369020"/>
                    <a:pt x="1008365" y="386160"/>
                    <a:pt x="987221" y="386160"/>
                  </a:cubicBezTo>
                  <a:lnTo>
                    <a:pt x="38283" y="386160"/>
                  </a:lnTo>
                  <a:cubicBezTo>
                    <a:pt x="17140" y="386160"/>
                    <a:pt x="0" y="369020"/>
                    <a:pt x="0" y="347877"/>
                  </a:cubicBezTo>
                  <a:lnTo>
                    <a:pt x="0" y="38283"/>
                  </a:lnTo>
                  <a:cubicBezTo>
                    <a:pt x="0" y="17140"/>
                    <a:pt x="17140" y="0"/>
                    <a:pt x="38283" y="0"/>
                  </a:cubicBezTo>
                  <a:close/>
                </a:path>
              </a:pathLst>
            </a:custGeom>
            <a:solidFill>
              <a:srgbClr val="FDF6EE"/>
            </a:solidFill>
            <a:ln w="9525" cap="sq">
              <a:solidFill>
                <a:srgbClr val="DA722E"/>
              </a:solidFill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47625"/>
              <a:ext cx="1025505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3" name="Freeform 83"/>
          <p:cNvSpPr/>
          <p:nvPr/>
        </p:nvSpPr>
        <p:spPr>
          <a:xfrm>
            <a:off x="5757383" y="4142139"/>
            <a:ext cx="451363" cy="527909"/>
          </a:xfrm>
          <a:custGeom>
            <a:avLst/>
            <a:gdLst/>
            <a:ahLst/>
            <a:cxnLst/>
            <a:rect l="l" t="t" r="r" b="b"/>
            <a:pathLst>
              <a:path w="451363" h="527909">
                <a:moveTo>
                  <a:pt x="0" y="0"/>
                </a:moveTo>
                <a:lnTo>
                  <a:pt x="451363" y="0"/>
                </a:lnTo>
                <a:lnTo>
                  <a:pt x="451363" y="527909"/>
                </a:lnTo>
                <a:lnTo>
                  <a:pt x="0" y="52790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>
            <a:off x="8937504" y="4128624"/>
            <a:ext cx="512129" cy="486523"/>
          </a:xfrm>
          <a:custGeom>
            <a:avLst/>
            <a:gdLst/>
            <a:ahLst/>
            <a:cxnLst/>
            <a:rect l="l" t="t" r="r" b="b"/>
            <a:pathLst>
              <a:path w="512129" h="486523">
                <a:moveTo>
                  <a:pt x="0" y="0"/>
                </a:moveTo>
                <a:lnTo>
                  <a:pt x="512129" y="0"/>
                </a:lnTo>
                <a:lnTo>
                  <a:pt x="512129" y="486523"/>
                </a:lnTo>
                <a:lnTo>
                  <a:pt x="0" y="48652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85" name="Freeform 85"/>
          <p:cNvSpPr/>
          <p:nvPr/>
        </p:nvSpPr>
        <p:spPr>
          <a:xfrm>
            <a:off x="12176576" y="4128624"/>
            <a:ext cx="428255" cy="450795"/>
          </a:xfrm>
          <a:custGeom>
            <a:avLst/>
            <a:gdLst/>
            <a:ahLst/>
            <a:cxnLst/>
            <a:rect l="l" t="t" r="r" b="b"/>
            <a:pathLst>
              <a:path w="428255" h="450795">
                <a:moveTo>
                  <a:pt x="0" y="0"/>
                </a:moveTo>
                <a:lnTo>
                  <a:pt x="428255" y="0"/>
                </a:lnTo>
                <a:lnTo>
                  <a:pt x="428255" y="450795"/>
                </a:lnTo>
                <a:lnTo>
                  <a:pt x="0" y="45079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86" name="TextBox 86"/>
          <p:cNvSpPr txBox="1"/>
          <p:nvPr/>
        </p:nvSpPr>
        <p:spPr>
          <a:xfrm>
            <a:off x="6385876" y="2321743"/>
            <a:ext cx="856510" cy="364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lang="en-US" sz="1032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Forms, listas.</a:t>
            </a:r>
          </a:p>
          <a:p>
            <a:pPr algn="l">
              <a:lnSpc>
                <a:spcPts val="1445"/>
              </a:lnSpc>
            </a:pPr>
            <a:r>
              <a:rPr lang="en-US" sz="1032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Web y móvil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205684" y="4000258"/>
            <a:ext cx="1420010" cy="57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8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de Aplicación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205684" y="4656699"/>
            <a:ext cx="1254228" cy="190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0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Reglas de negocio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205684" y="2001799"/>
            <a:ext cx="1923030" cy="578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8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de Presentación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166999" y="2656263"/>
            <a:ext cx="1458696" cy="190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0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Interfaz de usuario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205684" y="7952021"/>
            <a:ext cx="1773023" cy="502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6"/>
              </a:lnSpc>
            </a:pPr>
            <a:r>
              <a:rPr lang="en-US" sz="145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de persistencia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205684" y="8560601"/>
            <a:ext cx="1150209" cy="16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03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Datos y seguridad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166999" y="5947526"/>
            <a:ext cx="1765412" cy="57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68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de acceso a Datos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166999" y="6593695"/>
            <a:ext cx="1553364" cy="19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1"/>
              </a:lnSpc>
            </a:pPr>
            <a:r>
              <a:rPr lang="en-US" sz="11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Leer y escribir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604010" y="7991108"/>
            <a:ext cx="1102049" cy="25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482" b="1">
                <a:solidFill>
                  <a:srgbClr val="312F8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7720902" y="8023369"/>
            <a:ext cx="319072" cy="19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179" b="1">
                <a:solidFill>
                  <a:srgbClr val="5E8D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15+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805894" y="8268700"/>
            <a:ext cx="1171140" cy="149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3"/>
              </a:lnSpc>
            </a:pPr>
            <a:r>
              <a:rPr lang="en-US" sz="809">
                <a:solidFill>
                  <a:srgbClr val="312F84"/>
                </a:solidFill>
                <a:latin typeface="Poppins"/>
                <a:ea typeface="Poppins"/>
                <a:cs typeface="Poppins"/>
                <a:sym typeface="Poppins"/>
              </a:rPr>
              <a:t>Base de datos remota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805894" y="8458249"/>
            <a:ext cx="1196141" cy="149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3"/>
              </a:lnSpc>
            </a:pPr>
            <a:r>
              <a:rPr lang="en-US" sz="809">
                <a:solidFill>
                  <a:srgbClr val="312F84"/>
                </a:solidFill>
                <a:latin typeface="Poppins"/>
                <a:ea typeface="Poppins"/>
                <a:cs typeface="Poppins"/>
                <a:sym typeface="Poppins"/>
              </a:rPr>
              <a:t>Row Level Security(RLS)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805894" y="8674170"/>
            <a:ext cx="1196141" cy="149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3"/>
              </a:lnSpc>
            </a:pPr>
            <a:r>
              <a:rPr lang="en-US" sz="809">
                <a:solidFill>
                  <a:srgbClr val="312F84"/>
                </a:solidFill>
                <a:latin typeface="Poppins"/>
                <a:ea typeface="Poppins"/>
                <a:cs typeface="Poppins"/>
                <a:sym typeface="Poppins"/>
              </a:rPr>
              <a:t>Integridad referencial 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558974" y="7974737"/>
            <a:ext cx="1102049" cy="25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482" b="1">
                <a:solidFill>
                  <a:srgbClr val="312F8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SQLite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1564193" y="8257048"/>
            <a:ext cx="1776299" cy="12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</a:pPr>
            <a:r>
              <a:rPr lang="en-US" sz="769" b="1">
                <a:solidFill>
                  <a:srgbClr val="312F8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 local (solo app móvil)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1761951" y="8420086"/>
            <a:ext cx="1149228" cy="13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726">
                <a:solidFill>
                  <a:srgbClr val="312F84"/>
                </a:solidFill>
                <a:latin typeface="Poppins"/>
                <a:ea typeface="Poppins"/>
                <a:cs typeface="Poppins"/>
                <a:sym typeface="Poppins"/>
              </a:rPr>
              <a:t>Persistencia Offline-First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1761951" y="8616983"/>
            <a:ext cx="1050117" cy="13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726">
                <a:solidFill>
                  <a:srgbClr val="312F84"/>
                </a:solidFill>
                <a:latin typeface="Poppins"/>
                <a:ea typeface="Poppins"/>
                <a:cs typeface="Poppins"/>
                <a:sym typeface="Poppins"/>
              </a:rPr>
              <a:t>Sincronización diferida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3566027" y="2183125"/>
            <a:ext cx="1405682" cy="20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3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Firebase Hosting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3566027" y="2416448"/>
            <a:ext cx="974140" cy="29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6"/>
              </a:lnSpc>
            </a:pPr>
            <a:r>
              <a:rPr lang="en-US" sz="861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CDN + SSL + SPA (Panel WEB )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288646" y="2089203"/>
            <a:ext cx="1451924" cy="21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Widgets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8283726" y="2351430"/>
            <a:ext cx="1228332" cy="364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lang="en-US" sz="1032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FormSectionCard, LabeledTextField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298398" y="2107723"/>
            <a:ext cx="1451924" cy="21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Admin Shell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0293479" y="2369951"/>
            <a:ext cx="1228332" cy="364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lang="en-US" sz="1032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AppSidebar</a:t>
            </a:r>
          </a:p>
          <a:p>
            <a:pPr algn="l">
              <a:lnSpc>
                <a:spcPts val="1445"/>
              </a:lnSpc>
            </a:pPr>
            <a:r>
              <a:rPr lang="en-US" sz="1032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Layout Admin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8288646" y="3296314"/>
            <a:ext cx="2233189" cy="20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3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Llama a la lógica de negocio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366384" y="4078489"/>
            <a:ext cx="1451924" cy="21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1">
                <a:solidFill>
                  <a:srgbClr val="DA72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Validaciones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361464" y="4340717"/>
            <a:ext cx="2073809" cy="364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lang="en-US" sz="1032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Campos obligatorios, formatos y consistencia de los datos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9656657" y="4068166"/>
            <a:ext cx="1451924" cy="21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1">
                <a:solidFill>
                  <a:srgbClr val="DA72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Reglas de negocio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9651737" y="4349444"/>
            <a:ext cx="1685484" cy="45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83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Asignación de viajes, evitar crucces de horarios, validar por rol...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2859830" y="4020154"/>
            <a:ext cx="1210572" cy="355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8"/>
              </a:lnSpc>
            </a:pPr>
            <a:r>
              <a:rPr lang="en-US" sz="1063" b="1">
                <a:solidFill>
                  <a:srgbClr val="D975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Sincronización Offline-First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2854682" y="4419174"/>
            <a:ext cx="1685484" cy="30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83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Cola de envíos, reintentos y sincronización de datos</a:t>
            </a:r>
          </a:p>
        </p:txBody>
      </p:sp>
      <p:sp>
        <p:nvSpPr>
          <p:cNvPr id="117" name="AutoShape 117"/>
          <p:cNvSpPr/>
          <p:nvPr/>
        </p:nvSpPr>
        <p:spPr>
          <a:xfrm flipV="1">
            <a:off x="8039975" y="5162379"/>
            <a:ext cx="0" cy="442982"/>
          </a:xfrm>
          <a:prstGeom prst="line">
            <a:avLst/>
          </a:prstGeom>
          <a:ln w="38100" cap="flat">
            <a:solidFill>
              <a:srgbClr val="043397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118" name="TextBox 118"/>
          <p:cNvSpPr txBox="1"/>
          <p:nvPr/>
        </p:nvSpPr>
        <p:spPr>
          <a:xfrm>
            <a:off x="8288646" y="5272195"/>
            <a:ext cx="2233189" cy="20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3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Usa repositorios y modelos</a:t>
            </a:r>
          </a:p>
        </p:txBody>
      </p:sp>
      <p:grpSp>
        <p:nvGrpSpPr>
          <p:cNvPr id="119" name="Group 119"/>
          <p:cNvGrpSpPr/>
          <p:nvPr/>
        </p:nvGrpSpPr>
        <p:grpSpPr>
          <a:xfrm>
            <a:off x="5613510" y="5819658"/>
            <a:ext cx="3033395" cy="1142245"/>
            <a:chOff x="0" y="0"/>
            <a:chExt cx="1025505" cy="38616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025505" cy="386160"/>
            </a:xfrm>
            <a:custGeom>
              <a:avLst/>
              <a:gdLst/>
              <a:ahLst/>
              <a:cxnLst/>
              <a:rect l="l" t="t" r="r" b="b"/>
              <a:pathLst>
                <a:path w="1025505" h="386160">
                  <a:moveTo>
                    <a:pt x="38283" y="0"/>
                  </a:moveTo>
                  <a:lnTo>
                    <a:pt x="987221" y="0"/>
                  </a:lnTo>
                  <a:cubicBezTo>
                    <a:pt x="997374" y="0"/>
                    <a:pt x="1007112" y="4033"/>
                    <a:pt x="1014292" y="11213"/>
                  </a:cubicBezTo>
                  <a:cubicBezTo>
                    <a:pt x="1021471" y="18392"/>
                    <a:pt x="1025505" y="28130"/>
                    <a:pt x="1025505" y="38283"/>
                  </a:cubicBezTo>
                  <a:lnTo>
                    <a:pt x="1025505" y="347877"/>
                  </a:lnTo>
                  <a:cubicBezTo>
                    <a:pt x="1025505" y="369020"/>
                    <a:pt x="1008365" y="386160"/>
                    <a:pt x="987221" y="386160"/>
                  </a:cubicBezTo>
                  <a:lnTo>
                    <a:pt x="38283" y="386160"/>
                  </a:lnTo>
                  <a:cubicBezTo>
                    <a:pt x="17140" y="386160"/>
                    <a:pt x="0" y="369020"/>
                    <a:pt x="0" y="347877"/>
                  </a:cubicBezTo>
                  <a:lnTo>
                    <a:pt x="0" y="38283"/>
                  </a:lnTo>
                  <a:cubicBezTo>
                    <a:pt x="0" y="17140"/>
                    <a:pt x="17140" y="0"/>
                    <a:pt x="38283" y="0"/>
                  </a:cubicBezTo>
                  <a:close/>
                </a:path>
              </a:pathLst>
            </a:custGeom>
            <a:solidFill>
              <a:srgbClr val="F3FCF9"/>
            </a:solidFill>
            <a:ln w="9525" cap="sq">
              <a:solidFill>
                <a:srgbClr val="0D7F5F"/>
              </a:solidFill>
              <a:prstDash val="solid"/>
              <a:miter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0" y="-47625"/>
              <a:ext cx="1025505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8795340" y="5819658"/>
            <a:ext cx="3033395" cy="1142245"/>
            <a:chOff x="0" y="0"/>
            <a:chExt cx="1025505" cy="38616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025505" cy="386160"/>
            </a:xfrm>
            <a:custGeom>
              <a:avLst/>
              <a:gdLst/>
              <a:ahLst/>
              <a:cxnLst/>
              <a:rect l="l" t="t" r="r" b="b"/>
              <a:pathLst>
                <a:path w="1025505" h="386160">
                  <a:moveTo>
                    <a:pt x="38283" y="0"/>
                  </a:moveTo>
                  <a:lnTo>
                    <a:pt x="987221" y="0"/>
                  </a:lnTo>
                  <a:cubicBezTo>
                    <a:pt x="997374" y="0"/>
                    <a:pt x="1007112" y="4033"/>
                    <a:pt x="1014292" y="11213"/>
                  </a:cubicBezTo>
                  <a:cubicBezTo>
                    <a:pt x="1021471" y="18392"/>
                    <a:pt x="1025505" y="28130"/>
                    <a:pt x="1025505" y="38283"/>
                  </a:cubicBezTo>
                  <a:lnTo>
                    <a:pt x="1025505" y="347877"/>
                  </a:lnTo>
                  <a:cubicBezTo>
                    <a:pt x="1025505" y="369020"/>
                    <a:pt x="1008365" y="386160"/>
                    <a:pt x="987221" y="386160"/>
                  </a:cubicBezTo>
                  <a:lnTo>
                    <a:pt x="38283" y="386160"/>
                  </a:lnTo>
                  <a:cubicBezTo>
                    <a:pt x="17140" y="386160"/>
                    <a:pt x="0" y="369020"/>
                    <a:pt x="0" y="347877"/>
                  </a:cubicBezTo>
                  <a:lnTo>
                    <a:pt x="0" y="38283"/>
                  </a:lnTo>
                  <a:cubicBezTo>
                    <a:pt x="0" y="17140"/>
                    <a:pt x="17140" y="0"/>
                    <a:pt x="38283" y="0"/>
                  </a:cubicBezTo>
                  <a:close/>
                </a:path>
              </a:pathLst>
            </a:custGeom>
            <a:solidFill>
              <a:srgbClr val="F1FAF7"/>
            </a:solidFill>
            <a:ln w="9525" cap="sq">
              <a:solidFill>
                <a:srgbClr val="0D7F5F"/>
              </a:solidFill>
              <a:prstDash val="solid"/>
              <a:miter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0" y="-47625"/>
              <a:ext cx="1025505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2019603" y="5819658"/>
            <a:ext cx="3033395" cy="1142245"/>
            <a:chOff x="0" y="0"/>
            <a:chExt cx="1025505" cy="38616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1025505" cy="386160"/>
            </a:xfrm>
            <a:custGeom>
              <a:avLst/>
              <a:gdLst/>
              <a:ahLst/>
              <a:cxnLst/>
              <a:rect l="l" t="t" r="r" b="b"/>
              <a:pathLst>
                <a:path w="1025505" h="386160">
                  <a:moveTo>
                    <a:pt x="38283" y="0"/>
                  </a:moveTo>
                  <a:lnTo>
                    <a:pt x="987221" y="0"/>
                  </a:lnTo>
                  <a:cubicBezTo>
                    <a:pt x="997374" y="0"/>
                    <a:pt x="1007112" y="4033"/>
                    <a:pt x="1014292" y="11213"/>
                  </a:cubicBezTo>
                  <a:cubicBezTo>
                    <a:pt x="1021471" y="18392"/>
                    <a:pt x="1025505" y="28130"/>
                    <a:pt x="1025505" y="38283"/>
                  </a:cubicBezTo>
                  <a:lnTo>
                    <a:pt x="1025505" y="347877"/>
                  </a:lnTo>
                  <a:cubicBezTo>
                    <a:pt x="1025505" y="369020"/>
                    <a:pt x="1008365" y="386160"/>
                    <a:pt x="987221" y="386160"/>
                  </a:cubicBezTo>
                  <a:lnTo>
                    <a:pt x="38283" y="386160"/>
                  </a:lnTo>
                  <a:cubicBezTo>
                    <a:pt x="17140" y="386160"/>
                    <a:pt x="0" y="369020"/>
                    <a:pt x="0" y="347877"/>
                  </a:cubicBezTo>
                  <a:lnTo>
                    <a:pt x="0" y="38283"/>
                  </a:lnTo>
                  <a:cubicBezTo>
                    <a:pt x="0" y="17140"/>
                    <a:pt x="17140" y="0"/>
                    <a:pt x="38283" y="0"/>
                  </a:cubicBezTo>
                  <a:close/>
                </a:path>
              </a:pathLst>
            </a:custGeom>
            <a:solidFill>
              <a:srgbClr val="F3FCF9"/>
            </a:solidFill>
            <a:ln w="9525" cap="sq">
              <a:solidFill>
                <a:srgbClr val="0D7F5F"/>
              </a:solidFill>
              <a:prstDash val="solid"/>
              <a:miter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0" y="-47625"/>
              <a:ext cx="1025505" cy="43378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8" name="Freeform 128"/>
          <p:cNvSpPr/>
          <p:nvPr/>
        </p:nvSpPr>
        <p:spPr>
          <a:xfrm>
            <a:off x="5797159" y="6147036"/>
            <a:ext cx="451363" cy="527909"/>
          </a:xfrm>
          <a:custGeom>
            <a:avLst/>
            <a:gdLst/>
            <a:ahLst/>
            <a:cxnLst/>
            <a:rect l="l" t="t" r="r" b="b"/>
            <a:pathLst>
              <a:path w="451363" h="527909">
                <a:moveTo>
                  <a:pt x="0" y="0"/>
                </a:moveTo>
                <a:lnTo>
                  <a:pt x="451362" y="0"/>
                </a:lnTo>
                <a:lnTo>
                  <a:pt x="451362" y="527909"/>
                </a:lnTo>
                <a:lnTo>
                  <a:pt x="0" y="527909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129"/>
          <p:cNvSpPr/>
          <p:nvPr/>
        </p:nvSpPr>
        <p:spPr>
          <a:xfrm>
            <a:off x="8977279" y="6133521"/>
            <a:ext cx="512129" cy="486523"/>
          </a:xfrm>
          <a:custGeom>
            <a:avLst/>
            <a:gdLst/>
            <a:ahLst/>
            <a:cxnLst/>
            <a:rect l="l" t="t" r="r" b="b"/>
            <a:pathLst>
              <a:path w="512129" h="486523">
                <a:moveTo>
                  <a:pt x="0" y="0"/>
                </a:moveTo>
                <a:lnTo>
                  <a:pt x="512130" y="0"/>
                </a:lnTo>
                <a:lnTo>
                  <a:pt x="512130" y="486523"/>
                </a:lnTo>
                <a:lnTo>
                  <a:pt x="0" y="486523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30" name="Freeform 130"/>
          <p:cNvSpPr/>
          <p:nvPr/>
        </p:nvSpPr>
        <p:spPr>
          <a:xfrm>
            <a:off x="12216352" y="6133521"/>
            <a:ext cx="428255" cy="450795"/>
          </a:xfrm>
          <a:custGeom>
            <a:avLst/>
            <a:gdLst/>
            <a:ahLst/>
            <a:cxnLst/>
            <a:rect l="l" t="t" r="r" b="b"/>
            <a:pathLst>
              <a:path w="428255" h="450795">
                <a:moveTo>
                  <a:pt x="0" y="0"/>
                </a:moveTo>
                <a:lnTo>
                  <a:pt x="428254" y="0"/>
                </a:lnTo>
                <a:lnTo>
                  <a:pt x="428254" y="450795"/>
                </a:lnTo>
                <a:lnTo>
                  <a:pt x="0" y="45079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31" name="TextBox 131"/>
          <p:cNvSpPr txBox="1"/>
          <p:nvPr/>
        </p:nvSpPr>
        <p:spPr>
          <a:xfrm>
            <a:off x="6406160" y="6083386"/>
            <a:ext cx="1451924" cy="21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1">
                <a:solidFill>
                  <a:srgbClr val="0D7F5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Repositorios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401240" y="6345614"/>
            <a:ext cx="2073809" cy="18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lang="en-US" sz="1032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CRUD por entidad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9696433" y="6073063"/>
            <a:ext cx="1451924" cy="21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1">
                <a:solidFill>
                  <a:srgbClr val="0D7F5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Modelos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691513" y="6354341"/>
            <a:ext cx="1685484" cy="30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83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Camion, Conductor, Viaje, Cliente, Consignatario, etc.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2894458" y="6424070"/>
            <a:ext cx="1685484" cy="30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83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Supabase(remoto)</a:t>
            </a:r>
          </a:p>
          <a:p>
            <a:pPr algn="l">
              <a:lnSpc>
                <a:spcPts val="1237"/>
              </a:lnSpc>
            </a:pPr>
            <a:r>
              <a:rPr lang="en-US" sz="883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SQLite (Móvil)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2911180" y="6126775"/>
            <a:ext cx="1451924" cy="21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1">
                <a:solidFill>
                  <a:srgbClr val="0D7F5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Fuentes de datos</a:t>
            </a:r>
          </a:p>
        </p:txBody>
      </p:sp>
      <p:sp>
        <p:nvSpPr>
          <p:cNvPr id="137" name="AutoShape 137"/>
          <p:cNvSpPr/>
          <p:nvPr/>
        </p:nvSpPr>
        <p:spPr>
          <a:xfrm flipV="1">
            <a:off x="8057833" y="7142415"/>
            <a:ext cx="0" cy="442982"/>
          </a:xfrm>
          <a:prstGeom prst="line">
            <a:avLst/>
          </a:prstGeom>
          <a:ln w="38100" cap="flat">
            <a:solidFill>
              <a:srgbClr val="043397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138" name="TextBox 138"/>
          <p:cNvSpPr txBox="1"/>
          <p:nvPr/>
        </p:nvSpPr>
        <p:spPr>
          <a:xfrm>
            <a:off x="8306504" y="7252231"/>
            <a:ext cx="2866667" cy="20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lang="en-US" sz="123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Consultas y persistencia de datos</a:t>
            </a:r>
          </a:p>
        </p:txBody>
      </p:sp>
      <p:sp>
        <p:nvSpPr>
          <p:cNvPr id="139" name="AutoShape 139"/>
          <p:cNvSpPr/>
          <p:nvPr/>
        </p:nvSpPr>
        <p:spPr>
          <a:xfrm>
            <a:off x="11862280" y="2501718"/>
            <a:ext cx="854686" cy="0"/>
          </a:xfrm>
          <a:prstGeom prst="line">
            <a:avLst/>
          </a:prstGeom>
          <a:ln w="38100" cap="flat">
            <a:solidFill>
              <a:srgbClr val="043397"/>
            </a:solidFill>
            <a:prstDash val="sysDash"/>
            <a:headEnd type="none" w="sm" len="sm"/>
            <a:tailEnd type="arrow" w="med" len="sm"/>
          </a:ln>
        </p:spPr>
      </p:sp>
      <p:sp>
        <p:nvSpPr>
          <p:cNvPr id="140" name="TextBox 140"/>
          <p:cNvSpPr txBox="1"/>
          <p:nvPr/>
        </p:nvSpPr>
        <p:spPr>
          <a:xfrm>
            <a:off x="11882548" y="2290119"/>
            <a:ext cx="762058" cy="12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"/>
              </a:lnSpc>
            </a:pPr>
            <a:r>
              <a:rPr lang="en-US" sz="723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Despliegue WEB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2474600" y="340721"/>
            <a:ext cx="7490410" cy="97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8"/>
              </a:lnSpc>
              <a:spcBef>
                <a:spcPct val="0"/>
              </a:spcBef>
            </a:pPr>
            <a:r>
              <a:rPr lang="en-US" sz="5384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 DE CAPAS</a:t>
            </a:r>
          </a:p>
        </p:txBody>
      </p:sp>
    </p:spTree>
  </p:cSld>
  <p:clrMapOvr>
    <a:masterClrMapping/>
  </p:clrMapOvr>
  <p:transition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83" t="-522387" r="-25606" b="-1146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0" y="4732907"/>
            <a:ext cx="1287452" cy="821186"/>
            <a:chOff x="0" y="0"/>
            <a:chExt cx="478119" cy="3049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0641" y="4732907"/>
            <a:ext cx="1287452" cy="821186"/>
            <a:chOff x="0" y="0"/>
            <a:chExt cx="478119" cy="3049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8119" cy="304963"/>
            </a:xfrm>
            <a:custGeom>
              <a:avLst/>
              <a:gdLst/>
              <a:ahLst/>
              <a:cxnLst/>
              <a:rect l="l" t="t" r="r" b="b"/>
              <a:pathLst>
                <a:path w="478119" h="304963">
                  <a:moveTo>
                    <a:pt x="0" y="0"/>
                  </a:moveTo>
                  <a:lnTo>
                    <a:pt x="478119" y="0"/>
                  </a:lnTo>
                  <a:lnTo>
                    <a:pt x="478119" y="304963"/>
                  </a:lnTo>
                  <a:lnTo>
                    <a:pt x="0" y="304963"/>
                  </a:lnTo>
                  <a:close/>
                </a:path>
              </a:pathLst>
            </a:custGeom>
            <a:solidFill>
              <a:srgbClr val="D9753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78119" cy="352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67593" y="3093059"/>
            <a:ext cx="2556416" cy="1406744"/>
            <a:chOff x="0" y="0"/>
            <a:chExt cx="929413" cy="5114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9413" cy="511437"/>
            </a:xfrm>
            <a:custGeom>
              <a:avLst/>
              <a:gdLst/>
              <a:ahLst/>
              <a:cxnLst/>
              <a:rect l="l" t="t" r="r" b="b"/>
              <a:pathLst>
                <a:path w="929413" h="511437">
                  <a:moveTo>
                    <a:pt x="45426" y="0"/>
                  </a:moveTo>
                  <a:lnTo>
                    <a:pt x="883987" y="0"/>
                  </a:lnTo>
                  <a:cubicBezTo>
                    <a:pt x="896035" y="0"/>
                    <a:pt x="907589" y="4786"/>
                    <a:pt x="916108" y="13305"/>
                  </a:cubicBezTo>
                  <a:cubicBezTo>
                    <a:pt x="924627" y="21824"/>
                    <a:pt x="929413" y="33379"/>
                    <a:pt x="929413" y="45426"/>
                  </a:cubicBezTo>
                  <a:lnTo>
                    <a:pt x="929413" y="466011"/>
                  </a:lnTo>
                  <a:cubicBezTo>
                    <a:pt x="929413" y="478059"/>
                    <a:pt x="924627" y="489613"/>
                    <a:pt x="916108" y="498132"/>
                  </a:cubicBezTo>
                  <a:cubicBezTo>
                    <a:pt x="907589" y="506651"/>
                    <a:pt x="896035" y="511437"/>
                    <a:pt x="883987" y="511437"/>
                  </a:cubicBezTo>
                  <a:lnTo>
                    <a:pt x="45426" y="511437"/>
                  </a:lnTo>
                  <a:cubicBezTo>
                    <a:pt x="33379" y="511437"/>
                    <a:pt x="21824" y="506651"/>
                    <a:pt x="13305" y="498132"/>
                  </a:cubicBezTo>
                  <a:cubicBezTo>
                    <a:pt x="4786" y="489613"/>
                    <a:pt x="0" y="478059"/>
                    <a:pt x="0" y="466011"/>
                  </a:cubicBezTo>
                  <a:lnTo>
                    <a:pt x="0" y="45426"/>
                  </a:lnTo>
                  <a:cubicBezTo>
                    <a:pt x="0" y="33379"/>
                    <a:pt x="4786" y="21824"/>
                    <a:pt x="13305" y="13305"/>
                  </a:cubicBezTo>
                  <a:cubicBezTo>
                    <a:pt x="21824" y="4786"/>
                    <a:pt x="33379" y="0"/>
                    <a:pt x="45426" y="0"/>
                  </a:cubicBezTo>
                  <a:close/>
                </a:path>
              </a:pathLst>
            </a:custGeom>
            <a:solidFill>
              <a:srgbClr val="E57F3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29413" cy="559062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58731" y="3093059"/>
            <a:ext cx="9324689" cy="1406744"/>
            <a:chOff x="0" y="0"/>
            <a:chExt cx="3390093" cy="5114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90093" cy="511437"/>
            </a:xfrm>
            <a:custGeom>
              <a:avLst/>
              <a:gdLst/>
              <a:ahLst/>
              <a:cxnLst/>
              <a:rect l="l" t="t" r="r" b="b"/>
              <a:pathLst>
                <a:path w="3390093" h="511437">
                  <a:moveTo>
                    <a:pt x="12454" y="0"/>
                  </a:moveTo>
                  <a:lnTo>
                    <a:pt x="3377639" y="0"/>
                  </a:lnTo>
                  <a:cubicBezTo>
                    <a:pt x="3380942" y="0"/>
                    <a:pt x="3384110" y="1312"/>
                    <a:pt x="3386445" y="3648"/>
                  </a:cubicBezTo>
                  <a:cubicBezTo>
                    <a:pt x="3388781" y="5983"/>
                    <a:pt x="3390093" y="9151"/>
                    <a:pt x="3390093" y="12454"/>
                  </a:cubicBezTo>
                  <a:lnTo>
                    <a:pt x="3390093" y="498983"/>
                  </a:lnTo>
                  <a:cubicBezTo>
                    <a:pt x="3390093" y="502286"/>
                    <a:pt x="3388781" y="505454"/>
                    <a:pt x="3386445" y="507789"/>
                  </a:cubicBezTo>
                  <a:cubicBezTo>
                    <a:pt x="3384110" y="510125"/>
                    <a:pt x="3380942" y="511437"/>
                    <a:pt x="3377639" y="511437"/>
                  </a:cubicBezTo>
                  <a:lnTo>
                    <a:pt x="12454" y="511437"/>
                  </a:lnTo>
                  <a:cubicBezTo>
                    <a:pt x="9151" y="511437"/>
                    <a:pt x="5983" y="510125"/>
                    <a:pt x="3648" y="507789"/>
                  </a:cubicBezTo>
                  <a:cubicBezTo>
                    <a:pt x="1312" y="505454"/>
                    <a:pt x="0" y="502286"/>
                    <a:pt x="0" y="498983"/>
                  </a:cubicBezTo>
                  <a:lnTo>
                    <a:pt x="0" y="12454"/>
                  </a:lnTo>
                  <a:cubicBezTo>
                    <a:pt x="0" y="9151"/>
                    <a:pt x="1312" y="5983"/>
                    <a:pt x="3648" y="3648"/>
                  </a:cubicBezTo>
                  <a:cubicBezTo>
                    <a:pt x="5983" y="1312"/>
                    <a:pt x="9151" y="0"/>
                    <a:pt x="12454" y="0"/>
                  </a:cubicBezTo>
                  <a:close/>
                </a:path>
              </a:pathLst>
            </a:custGeom>
            <a:solidFill>
              <a:srgbClr val="FEF4E9">
                <a:alpha val="27451"/>
              </a:srgbClr>
            </a:solidFill>
            <a:ln w="38100" cap="sq">
              <a:solidFill>
                <a:srgbClr val="F98526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390093" cy="559062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95718" y="1274390"/>
            <a:ext cx="9287702" cy="1406744"/>
            <a:chOff x="0" y="0"/>
            <a:chExt cx="3376646" cy="5114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76646" cy="511437"/>
            </a:xfrm>
            <a:custGeom>
              <a:avLst/>
              <a:gdLst/>
              <a:ahLst/>
              <a:cxnLst/>
              <a:rect l="l" t="t" r="r" b="b"/>
              <a:pathLst>
                <a:path w="3376646" h="511437">
                  <a:moveTo>
                    <a:pt x="12504" y="0"/>
                  </a:moveTo>
                  <a:lnTo>
                    <a:pt x="3364143" y="0"/>
                  </a:lnTo>
                  <a:cubicBezTo>
                    <a:pt x="3371048" y="0"/>
                    <a:pt x="3376646" y="5598"/>
                    <a:pt x="3376646" y="12504"/>
                  </a:cubicBezTo>
                  <a:lnTo>
                    <a:pt x="3376646" y="498934"/>
                  </a:lnTo>
                  <a:cubicBezTo>
                    <a:pt x="3376646" y="505839"/>
                    <a:pt x="3371048" y="511437"/>
                    <a:pt x="3364143" y="511437"/>
                  </a:cubicBezTo>
                  <a:lnTo>
                    <a:pt x="12504" y="511437"/>
                  </a:lnTo>
                  <a:cubicBezTo>
                    <a:pt x="5598" y="511437"/>
                    <a:pt x="0" y="505839"/>
                    <a:pt x="0" y="498934"/>
                  </a:cubicBezTo>
                  <a:lnTo>
                    <a:pt x="0" y="12504"/>
                  </a:lnTo>
                  <a:cubicBezTo>
                    <a:pt x="0" y="5598"/>
                    <a:pt x="5598" y="0"/>
                    <a:pt x="12504" y="0"/>
                  </a:cubicBezTo>
                  <a:close/>
                </a:path>
              </a:pathLst>
            </a:custGeom>
            <a:solidFill>
              <a:srgbClr val="D8EDFD"/>
            </a:solidFill>
            <a:ln w="3810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376646" cy="559062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167593" y="1234713"/>
            <a:ext cx="2556416" cy="1406744"/>
            <a:chOff x="0" y="0"/>
            <a:chExt cx="929413" cy="5114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9413" cy="511437"/>
            </a:xfrm>
            <a:custGeom>
              <a:avLst/>
              <a:gdLst/>
              <a:ahLst/>
              <a:cxnLst/>
              <a:rect l="l" t="t" r="r" b="b"/>
              <a:pathLst>
                <a:path w="929413" h="511437">
                  <a:moveTo>
                    <a:pt x="45426" y="0"/>
                  </a:moveTo>
                  <a:lnTo>
                    <a:pt x="883987" y="0"/>
                  </a:lnTo>
                  <a:cubicBezTo>
                    <a:pt x="896035" y="0"/>
                    <a:pt x="907589" y="4786"/>
                    <a:pt x="916108" y="13305"/>
                  </a:cubicBezTo>
                  <a:cubicBezTo>
                    <a:pt x="924627" y="21824"/>
                    <a:pt x="929413" y="33379"/>
                    <a:pt x="929413" y="45426"/>
                  </a:cubicBezTo>
                  <a:lnTo>
                    <a:pt x="929413" y="466011"/>
                  </a:lnTo>
                  <a:cubicBezTo>
                    <a:pt x="929413" y="478059"/>
                    <a:pt x="924627" y="489613"/>
                    <a:pt x="916108" y="498132"/>
                  </a:cubicBezTo>
                  <a:cubicBezTo>
                    <a:pt x="907589" y="506651"/>
                    <a:pt x="896035" y="511437"/>
                    <a:pt x="883987" y="511437"/>
                  </a:cubicBezTo>
                  <a:lnTo>
                    <a:pt x="45426" y="511437"/>
                  </a:lnTo>
                  <a:cubicBezTo>
                    <a:pt x="33379" y="511437"/>
                    <a:pt x="21824" y="506651"/>
                    <a:pt x="13305" y="498132"/>
                  </a:cubicBezTo>
                  <a:cubicBezTo>
                    <a:pt x="4786" y="489613"/>
                    <a:pt x="0" y="478059"/>
                    <a:pt x="0" y="466011"/>
                  </a:cubicBezTo>
                  <a:lnTo>
                    <a:pt x="0" y="45426"/>
                  </a:lnTo>
                  <a:cubicBezTo>
                    <a:pt x="0" y="33379"/>
                    <a:pt x="4786" y="21824"/>
                    <a:pt x="13305" y="13305"/>
                  </a:cubicBezTo>
                  <a:cubicBezTo>
                    <a:pt x="21824" y="4786"/>
                    <a:pt x="33379" y="0"/>
                    <a:pt x="45426" y="0"/>
                  </a:cubicBezTo>
                  <a:close/>
                </a:path>
              </a:pathLst>
            </a:custGeom>
            <a:solidFill>
              <a:srgbClr val="1D64A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29413" cy="559062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3274241" y="1348240"/>
            <a:ext cx="378667" cy="378667"/>
          </a:xfrm>
          <a:custGeom>
            <a:avLst/>
            <a:gdLst/>
            <a:ahLst/>
            <a:cxnLst/>
            <a:rect l="l" t="t" r="r" b="b"/>
            <a:pathLst>
              <a:path w="378667" h="378667">
                <a:moveTo>
                  <a:pt x="0" y="0"/>
                </a:moveTo>
                <a:lnTo>
                  <a:pt x="378667" y="0"/>
                </a:lnTo>
                <a:lnTo>
                  <a:pt x="378667" y="378668"/>
                </a:lnTo>
                <a:lnTo>
                  <a:pt x="0" y="378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3167593" y="6767762"/>
            <a:ext cx="2556416" cy="1406744"/>
            <a:chOff x="0" y="0"/>
            <a:chExt cx="929413" cy="5114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29413" cy="511437"/>
            </a:xfrm>
            <a:custGeom>
              <a:avLst/>
              <a:gdLst/>
              <a:ahLst/>
              <a:cxnLst/>
              <a:rect l="l" t="t" r="r" b="b"/>
              <a:pathLst>
                <a:path w="929413" h="511437">
                  <a:moveTo>
                    <a:pt x="45426" y="0"/>
                  </a:moveTo>
                  <a:lnTo>
                    <a:pt x="883987" y="0"/>
                  </a:lnTo>
                  <a:cubicBezTo>
                    <a:pt x="896035" y="0"/>
                    <a:pt x="907589" y="4786"/>
                    <a:pt x="916108" y="13305"/>
                  </a:cubicBezTo>
                  <a:cubicBezTo>
                    <a:pt x="924627" y="21824"/>
                    <a:pt x="929413" y="33379"/>
                    <a:pt x="929413" y="45426"/>
                  </a:cubicBezTo>
                  <a:lnTo>
                    <a:pt x="929413" y="466011"/>
                  </a:lnTo>
                  <a:cubicBezTo>
                    <a:pt x="929413" y="478059"/>
                    <a:pt x="924627" y="489613"/>
                    <a:pt x="916108" y="498132"/>
                  </a:cubicBezTo>
                  <a:cubicBezTo>
                    <a:pt x="907589" y="506651"/>
                    <a:pt x="896035" y="511437"/>
                    <a:pt x="883987" y="511437"/>
                  </a:cubicBezTo>
                  <a:lnTo>
                    <a:pt x="45426" y="511437"/>
                  </a:lnTo>
                  <a:cubicBezTo>
                    <a:pt x="33379" y="511437"/>
                    <a:pt x="21824" y="506651"/>
                    <a:pt x="13305" y="498132"/>
                  </a:cubicBezTo>
                  <a:cubicBezTo>
                    <a:pt x="4786" y="489613"/>
                    <a:pt x="0" y="478059"/>
                    <a:pt x="0" y="466011"/>
                  </a:cubicBezTo>
                  <a:lnTo>
                    <a:pt x="0" y="45426"/>
                  </a:lnTo>
                  <a:cubicBezTo>
                    <a:pt x="0" y="33379"/>
                    <a:pt x="4786" y="21824"/>
                    <a:pt x="13305" y="13305"/>
                  </a:cubicBezTo>
                  <a:cubicBezTo>
                    <a:pt x="21824" y="4786"/>
                    <a:pt x="33379" y="0"/>
                    <a:pt x="45426" y="0"/>
                  </a:cubicBezTo>
                  <a:close/>
                </a:path>
              </a:pathLst>
            </a:custGeom>
            <a:solidFill>
              <a:srgbClr val="504FA8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929413" cy="559062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95718" y="6767762"/>
            <a:ext cx="9324689" cy="1406744"/>
            <a:chOff x="0" y="0"/>
            <a:chExt cx="3390093" cy="5114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390093" cy="511437"/>
            </a:xfrm>
            <a:custGeom>
              <a:avLst/>
              <a:gdLst/>
              <a:ahLst/>
              <a:cxnLst/>
              <a:rect l="l" t="t" r="r" b="b"/>
              <a:pathLst>
                <a:path w="3390093" h="511437">
                  <a:moveTo>
                    <a:pt x="12454" y="0"/>
                  </a:moveTo>
                  <a:lnTo>
                    <a:pt x="3377639" y="0"/>
                  </a:lnTo>
                  <a:cubicBezTo>
                    <a:pt x="3380942" y="0"/>
                    <a:pt x="3384110" y="1312"/>
                    <a:pt x="3386445" y="3648"/>
                  </a:cubicBezTo>
                  <a:cubicBezTo>
                    <a:pt x="3388781" y="5983"/>
                    <a:pt x="3390093" y="9151"/>
                    <a:pt x="3390093" y="12454"/>
                  </a:cubicBezTo>
                  <a:lnTo>
                    <a:pt x="3390093" y="498983"/>
                  </a:lnTo>
                  <a:cubicBezTo>
                    <a:pt x="3390093" y="502286"/>
                    <a:pt x="3388781" y="505454"/>
                    <a:pt x="3386445" y="507789"/>
                  </a:cubicBezTo>
                  <a:cubicBezTo>
                    <a:pt x="3384110" y="510125"/>
                    <a:pt x="3380942" y="511437"/>
                    <a:pt x="3377639" y="511437"/>
                  </a:cubicBezTo>
                  <a:lnTo>
                    <a:pt x="12454" y="511437"/>
                  </a:lnTo>
                  <a:cubicBezTo>
                    <a:pt x="9151" y="511437"/>
                    <a:pt x="5983" y="510125"/>
                    <a:pt x="3648" y="507789"/>
                  </a:cubicBezTo>
                  <a:cubicBezTo>
                    <a:pt x="1312" y="505454"/>
                    <a:pt x="0" y="502286"/>
                    <a:pt x="0" y="498983"/>
                  </a:cubicBezTo>
                  <a:lnTo>
                    <a:pt x="0" y="12454"/>
                  </a:lnTo>
                  <a:cubicBezTo>
                    <a:pt x="0" y="9151"/>
                    <a:pt x="1312" y="5983"/>
                    <a:pt x="3648" y="3648"/>
                  </a:cubicBezTo>
                  <a:cubicBezTo>
                    <a:pt x="5983" y="1312"/>
                    <a:pt x="9151" y="0"/>
                    <a:pt x="12454" y="0"/>
                  </a:cubicBezTo>
                  <a:close/>
                </a:path>
              </a:pathLst>
            </a:custGeom>
            <a:solidFill>
              <a:srgbClr val="ECECFE">
                <a:alpha val="27451"/>
              </a:srgbClr>
            </a:solidFill>
            <a:ln w="38100" cap="sq">
              <a:solidFill>
                <a:srgbClr val="CDCCFB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3390093" cy="559062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167593" y="4909416"/>
            <a:ext cx="2556416" cy="1406744"/>
            <a:chOff x="0" y="0"/>
            <a:chExt cx="929413" cy="5114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29413" cy="511437"/>
            </a:xfrm>
            <a:custGeom>
              <a:avLst/>
              <a:gdLst/>
              <a:ahLst/>
              <a:cxnLst/>
              <a:rect l="l" t="t" r="r" b="b"/>
              <a:pathLst>
                <a:path w="929413" h="511437">
                  <a:moveTo>
                    <a:pt x="45426" y="0"/>
                  </a:moveTo>
                  <a:lnTo>
                    <a:pt x="883987" y="0"/>
                  </a:lnTo>
                  <a:cubicBezTo>
                    <a:pt x="896035" y="0"/>
                    <a:pt x="907589" y="4786"/>
                    <a:pt x="916108" y="13305"/>
                  </a:cubicBezTo>
                  <a:cubicBezTo>
                    <a:pt x="924627" y="21824"/>
                    <a:pt x="929413" y="33379"/>
                    <a:pt x="929413" y="45426"/>
                  </a:cubicBezTo>
                  <a:lnTo>
                    <a:pt x="929413" y="466011"/>
                  </a:lnTo>
                  <a:cubicBezTo>
                    <a:pt x="929413" y="478059"/>
                    <a:pt x="924627" y="489613"/>
                    <a:pt x="916108" y="498132"/>
                  </a:cubicBezTo>
                  <a:cubicBezTo>
                    <a:pt x="907589" y="506651"/>
                    <a:pt x="896035" y="511437"/>
                    <a:pt x="883987" y="511437"/>
                  </a:cubicBezTo>
                  <a:lnTo>
                    <a:pt x="45426" y="511437"/>
                  </a:lnTo>
                  <a:cubicBezTo>
                    <a:pt x="33379" y="511437"/>
                    <a:pt x="21824" y="506651"/>
                    <a:pt x="13305" y="498132"/>
                  </a:cubicBezTo>
                  <a:cubicBezTo>
                    <a:pt x="4786" y="489613"/>
                    <a:pt x="0" y="478059"/>
                    <a:pt x="0" y="466011"/>
                  </a:cubicBezTo>
                  <a:lnTo>
                    <a:pt x="0" y="45426"/>
                  </a:lnTo>
                  <a:cubicBezTo>
                    <a:pt x="0" y="33379"/>
                    <a:pt x="4786" y="21824"/>
                    <a:pt x="13305" y="13305"/>
                  </a:cubicBezTo>
                  <a:cubicBezTo>
                    <a:pt x="21824" y="4786"/>
                    <a:pt x="33379" y="0"/>
                    <a:pt x="45426" y="0"/>
                  </a:cubicBezTo>
                  <a:close/>
                </a:path>
              </a:pathLst>
            </a:custGeom>
            <a:solidFill>
              <a:srgbClr val="0D7F5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929413" cy="559062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95718" y="4949094"/>
            <a:ext cx="9324689" cy="1406744"/>
            <a:chOff x="0" y="0"/>
            <a:chExt cx="3390093" cy="51143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390093" cy="511437"/>
            </a:xfrm>
            <a:custGeom>
              <a:avLst/>
              <a:gdLst/>
              <a:ahLst/>
              <a:cxnLst/>
              <a:rect l="l" t="t" r="r" b="b"/>
              <a:pathLst>
                <a:path w="3390093" h="511437">
                  <a:moveTo>
                    <a:pt x="12454" y="0"/>
                  </a:moveTo>
                  <a:lnTo>
                    <a:pt x="3377639" y="0"/>
                  </a:lnTo>
                  <a:cubicBezTo>
                    <a:pt x="3380942" y="0"/>
                    <a:pt x="3384110" y="1312"/>
                    <a:pt x="3386445" y="3648"/>
                  </a:cubicBezTo>
                  <a:cubicBezTo>
                    <a:pt x="3388781" y="5983"/>
                    <a:pt x="3390093" y="9151"/>
                    <a:pt x="3390093" y="12454"/>
                  </a:cubicBezTo>
                  <a:lnTo>
                    <a:pt x="3390093" y="498983"/>
                  </a:lnTo>
                  <a:cubicBezTo>
                    <a:pt x="3390093" y="502286"/>
                    <a:pt x="3388781" y="505454"/>
                    <a:pt x="3386445" y="507789"/>
                  </a:cubicBezTo>
                  <a:cubicBezTo>
                    <a:pt x="3384110" y="510125"/>
                    <a:pt x="3380942" y="511437"/>
                    <a:pt x="3377639" y="511437"/>
                  </a:cubicBezTo>
                  <a:lnTo>
                    <a:pt x="12454" y="511437"/>
                  </a:lnTo>
                  <a:cubicBezTo>
                    <a:pt x="9151" y="511437"/>
                    <a:pt x="5983" y="510125"/>
                    <a:pt x="3648" y="507789"/>
                  </a:cubicBezTo>
                  <a:cubicBezTo>
                    <a:pt x="1312" y="505454"/>
                    <a:pt x="0" y="502286"/>
                    <a:pt x="0" y="498983"/>
                  </a:cubicBezTo>
                  <a:lnTo>
                    <a:pt x="0" y="12454"/>
                  </a:lnTo>
                  <a:cubicBezTo>
                    <a:pt x="0" y="9151"/>
                    <a:pt x="1312" y="5983"/>
                    <a:pt x="3648" y="3648"/>
                  </a:cubicBezTo>
                  <a:cubicBezTo>
                    <a:pt x="5983" y="1312"/>
                    <a:pt x="9151" y="0"/>
                    <a:pt x="12454" y="0"/>
                  </a:cubicBezTo>
                  <a:close/>
                </a:path>
              </a:pathLst>
            </a:custGeom>
            <a:solidFill>
              <a:srgbClr val="DDF6EC"/>
            </a:solidFill>
            <a:ln w="38100" cap="sq">
              <a:solidFill>
                <a:srgbClr val="81D7B8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3390093" cy="559062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3288383" y="3206361"/>
            <a:ext cx="384070" cy="384070"/>
          </a:xfrm>
          <a:custGeom>
            <a:avLst/>
            <a:gdLst/>
            <a:ahLst/>
            <a:cxnLst/>
            <a:rect l="l" t="t" r="r" b="b"/>
            <a:pathLst>
              <a:path w="384070" h="384070">
                <a:moveTo>
                  <a:pt x="0" y="0"/>
                </a:moveTo>
                <a:lnTo>
                  <a:pt x="384070" y="0"/>
                </a:lnTo>
                <a:lnTo>
                  <a:pt x="384070" y="384070"/>
                </a:lnTo>
                <a:lnTo>
                  <a:pt x="0" y="3840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3255987" y="5019522"/>
            <a:ext cx="385550" cy="385550"/>
          </a:xfrm>
          <a:custGeom>
            <a:avLst/>
            <a:gdLst/>
            <a:ahLst/>
            <a:cxnLst/>
            <a:rect l="l" t="t" r="r" b="b"/>
            <a:pathLst>
              <a:path w="385550" h="385550">
                <a:moveTo>
                  <a:pt x="0" y="0"/>
                </a:moveTo>
                <a:lnTo>
                  <a:pt x="385550" y="0"/>
                </a:lnTo>
                <a:lnTo>
                  <a:pt x="385550" y="385550"/>
                </a:lnTo>
                <a:lnTo>
                  <a:pt x="0" y="3855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3255987" y="6877032"/>
            <a:ext cx="381261" cy="381261"/>
          </a:xfrm>
          <a:custGeom>
            <a:avLst/>
            <a:gdLst/>
            <a:ahLst/>
            <a:cxnLst/>
            <a:rect l="l" t="t" r="r" b="b"/>
            <a:pathLst>
              <a:path w="381261" h="381261">
                <a:moveTo>
                  <a:pt x="0" y="0"/>
                </a:moveTo>
                <a:lnTo>
                  <a:pt x="381262" y="0"/>
                </a:lnTo>
                <a:lnTo>
                  <a:pt x="381262" y="381261"/>
                </a:lnTo>
                <a:lnTo>
                  <a:pt x="0" y="381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6170233" y="6939482"/>
            <a:ext cx="4003420" cy="1062161"/>
            <a:chOff x="0" y="0"/>
            <a:chExt cx="1455487" cy="3861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55487" cy="386160"/>
            </a:xfrm>
            <a:custGeom>
              <a:avLst/>
              <a:gdLst/>
              <a:ahLst/>
              <a:cxnLst/>
              <a:rect l="l" t="t" r="r" b="b"/>
              <a:pathLst>
                <a:path w="1455487" h="386160">
                  <a:moveTo>
                    <a:pt x="29007" y="0"/>
                  </a:moveTo>
                  <a:lnTo>
                    <a:pt x="1426480" y="0"/>
                  </a:lnTo>
                  <a:cubicBezTo>
                    <a:pt x="1442500" y="0"/>
                    <a:pt x="1455487" y="12987"/>
                    <a:pt x="1455487" y="29007"/>
                  </a:cubicBezTo>
                  <a:lnTo>
                    <a:pt x="1455487" y="357153"/>
                  </a:lnTo>
                  <a:cubicBezTo>
                    <a:pt x="1455487" y="373173"/>
                    <a:pt x="1442500" y="386160"/>
                    <a:pt x="1426480" y="386160"/>
                  </a:cubicBezTo>
                  <a:lnTo>
                    <a:pt x="29007" y="386160"/>
                  </a:lnTo>
                  <a:cubicBezTo>
                    <a:pt x="12987" y="386160"/>
                    <a:pt x="0" y="373173"/>
                    <a:pt x="0" y="357153"/>
                  </a:cubicBezTo>
                  <a:lnTo>
                    <a:pt x="0" y="29007"/>
                  </a:lnTo>
                  <a:cubicBezTo>
                    <a:pt x="0" y="12987"/>
                    <a:pt x="12987" y="0"/>
                    <a:pt x="29007" y="0"/>
                  </a:cubicBezTo>
                  <a:close/>
                </a:path>
              </a:pathLst>
            </a:custGeom>
            <a:solidFill>
              <a:srgbClr val="FDFDFF"/>
            </a:solidFill>
            <a:ln w="9525" cap="sq">
              <a:solidFill>
                <a:srgbClr val="CDCCFB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455487" cy="433785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6307398" y="7184722"/>
            <a:ext cx="581869" cy="689201"/>
          </a:xfrm>
          <a:custGeom>
            <a:avLst/>
            <a:gdLst/>
            <a:ahLst/>
            <a:cxnLst/>
            <a:rect l="l" t="t" r="r" b="b"/>
            <a:pathLst>
              <a:path w="581869" h="689201">
                <a:moveTo>
                  <a:pt x="0" y="0"/>
                </a:moveTo>
                <a:lnTo>
                  <a:pt x="581869" y="0"/>
                </a:lnTo>
                <a:lnTo>
                  <a:pt x="581869" y="689202"/>
                </a:lnTo>
                <a:lnTo>
                  <a:pt x="0" y="6892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5775" t="-53327" r="-261985" b="-49815"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0763902" y="6940053"/>
            <a:ext cx="4007411" cy="1062161"/>
            <a:chOff x="0" y="0"/>
            <a:chExt cx="1456938" cy="3861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56938" cy="386160"/>
            </a:xfrm>
            <a:custGeom>
              <a:avLst/>
              <a:gdLst/>
              <a:ahLst/>
              <a:cxnLst/>
              <a:rect l="l" t="t" r="r" b="b"/>
              <a:pathLst>
                <a:path w="1456938" h="386160">
                  <a:moveTo>
                    <a:pt x="28979" y="0"/>
                  </a:moveTo>
                  <a:lnTo>
                    <a:pt x="1427960" y="0"/>
                  </a:lnTo>
                  <a:cubicBezTo>
                    <a:pt x="1443964" y="0"/>
                    <a:pt x="1456938" y="12974"/>
                    <a:pt x="1456938" y="28979"/>
                  </a:cubicBezTo>
                  <a:lnTo>
                    <a:pt x="1456938" y="357182"/>
                  </a:lnTo>
                  <a:cubicBezTo>
                    <a:pt x="1456938" y="373186"/>
                    <a:pt x="1443964" y="386160"/>
                    <a:pt x="1427960" y="386160"/>
                  </a:cubicBezTo>
                  <a:lnTo>
                    <a:pt x="28979" y="386160"/>
                  </a:lnTo>
                  <a:cubicBezTo>
                    <a:pt x="12974" y="386160"/>
                    <a:pt x="0" y="373186"/>
                    <a:pt x="0" y="357182"/>
                  </a:cubicBezTo>
                  <a:lnTo>
                    <a:pt x="0" y="28979"/>
                  </a:lnTo>
                  <a:cubicBezTo>
                    <a:pt x="0" y="12974"/>
                    <a:pt x="12974" y="0"/>
                    <a:pt x="28979" y="0"/>
                  </a:cubicBezTo>
                  <a:close/>
                </a:path>
              </a:pathLst>
            </a:custGeom>
            <a:solidFill>
              <a:srgbClr val="FDFDFF"/>
            </a:solidFill>
            <a:ln w="9525" cap="sq">
              <a:solidFill>
                <a:srgbClr val="CDCCFB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1456938" cy="433785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>
            <a:off x="10961564" y="7210155"/>
            <a:ext cx="555056" cy="555056"/>
          </a:xfrm>
          <a:custGeom>
            <a:avLst/>
            <a:gdLst/>
            <a:ahLst/>
            <a:cxnLst/>
            <a:rect l="l" t="t" r="r" b="b"/>
            <a:pathLst>
              <a:path w="555056" h="555056">
                <a:moveTo>
                  <a:pt x="0" y="0"/>
                </a:moveTo>
                <a:lnTo>
                  <a:pt x="555056" y="0"/>
                </a:lnTo>
                <a:lnTo>
                  <a:pt x="555056" y="555056"/>
                </a:lnTo>
                <a:lnTo>
                  <a:pt x="0" y="5550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48" name="AutoShape 48"/>
          <p:cNvSpPr/>
          <p:nvPr/>
        </p:nvSpPr>
        <p:spPr>
          <a:xfrm flipV="1">
            <a:off x="8325566" y="4518486"/>
            <a:ext cx="0" cy="411925"/>
          </a:xfrm>
          <a:prstGeom prst="line">
            <a:avLst/>
          </a:prstGeom>
          <a:ln w="38100" cap="flat">
            <a:solidFill>
              <a:srgbClr val="043397"/>
            </a:solidFill>
            <a:prstDash val="solid"/>
            <a:headEnd type="arrow" w="med" len="sm"/>
            <a:tailEnd type="arrow" w="med" len="sm"/>
          </a:ln>
        </p:spPr>
      </p:sp>
      <p:grpSp>
        <p:nvGrpSpPr>
          <p:cNvPr id="49" name="Group 49"/>
          <p:cNvGrpSpPr/>
          <p:nvPr/>
        </p:nvGrpSpPr>
        <p:grpSpPr>
          <a:xfrm>
            <a:off x="6069222" y="5129252"/>
            <a:ext cx="3979586" cy="1062161"/>
            <a:chOff x="0" y="0"/>
            <a:chExt cx="1446822" cy="38616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46822" cy="386160"/>
            </a:xfrm>
            <a:custGeom>
              <a:avLst/>
              <a:gdLst/>
              <a:ahLst/>
              <a:cxnLst/>
              <a:rect l="l" t="t" r="r" b="b"/>
              <a:pathLst>
                <a:path w="1446822" h="386160">
                  <a:moveTo>
                    <a:pt x="29181" y="0"/>
                  </a:moveTo>
                  <a:lnTo>
                    <a:pt x="1417641" y="0"/>
                  </a:lnTo>
                  <a:cubicBezTo>
                    <a:pt x="1425380" y="0"/>
                    <a:pt x="1432803" y="3074"/>
                    <a:pt x="1438275" y="8547"/>
                  </a:cubicBezTo>
                  <a:cubicBezTo>
                    <a:pt x="1443748" y="14019"/>
                    <a:pt x="1446822" y="21442"/>
                    <a:pt x="1446822" y="29181"/>
                  </a:cubicBezTo>
                  <a:lnTo>
                    <a:pt x="1446822" y="356979"/>
                  </a:lnTo>
                  <a:cubicBezTo>
                    <a:pt x="1446822" y="364719"/>
                    <a:pt x="1443748" y="372141"/>
                    <a:pt x="1438275" y="377613"/>
                  </a:cubicBezTo>
                  <a:cubicBezTo>
                    <a:pt x="1432803" y="383086"/>
                    <a:pt x="1425380" y="386160"/>
                    <a:pt x="1417641" y="386160"/>
                  </a:cubicBezTo>
                  <a:lnTo>
                    <a:pt x="29181" y="386160"/>
                  </a:lnTo>
                  <a:cubicBezTo>
                    <a:pt x="21442" y="386160"/>
                    <a:pt x="14019" y="383086"/>
                    <a:pt x="8547" y="377613"/>
                  </a:cubicBezTo>
                  <a:cubicBezTo>
                    <a:pt x="3074" y="372141"/>
                    <a:pt x="0" y="364719"/>
                    <a:pt x="0" y="356979"/>
                  </a:cubicBezTo>
                  <a:lnTo>
                    <a:pt x="0" y="29181"/>
                  </a:lnTo>
                  <a:cubicBezTo>
                    <a:pt x="0" y="21442"/>
                    <a:pt x="3074" y="14019"/>
                    <a:pt x="8547" y="8547"/>
                  </a:cubicBezTo>
                  <a:cubicBezTo>
                    <a:pt x="14019" y="3074"/>
                    <a:pt x="21442" y="0"/>
                    <a:pt x="29181" y="0"/>
                  </a:cubicBezTo>
                  <a:close/>
                </a:path>
              </a:pathLst>
            </a:custGeom>
            <a:solidFill>
              <a:srgbClr val="F3FCF9"/>
            </a:solidFill>
            <a:ln w="9525" cap="sq">
              <a:solidFill>
                <a:srgbClr val="0D7F5F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446822" cy="433785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52" name="AutoShape 52"/>
          <p:cNvSpPr/>
          <p:nvPr/>
        </p:nvSpPr>
        <p:spPr>
          <a:xfrm flipV="1">
            <a:off x="8342172" y="6359700"/>
            <a:ext cx="0" cy="411925"/>
          </a:xfrm>
          <a:prstGeom prst="line">
            <a:avLst/>
          </a:prstGeom>
          <a:ln w="38100" cap="flat">
            <a:solidFill>
              <a:srgbClr val="043397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53" name="AutoShape 53"/>
          <p:cNvSpPr/>
          <p:nvPr/>
        </p:nvSpPr>
        <p:spPr>
          <a:xfrm flipV="1">
            <a:off x="8325566" y="2685138"/>
            <a:ext cx="0" cy="411925"/>
          </a:xfrm>
          <a:prstGeom prst="line">
            <a:avLst/>
          </a:prstGeom>
          <a:ln w="38100" cap="flat">
            <a:solidFill>
              <a:srgbClr val="043397"/>
            </a:solidFill>
            <a:prstDash val="solid"/>
            <a:headEnd type="arrow" w="med" len="sm"/>
            <a:tailEnd type="arrow" w="med" len="sm"/>
          </a:ln>
        </p:spPr>
      </p:sp>
      <p:grpSp>
        <p:nvGrpSpPr>
          <p:cNvPr id="54" name="Group 54"/>
          <p:cNvGrpSpPr/>
          <p:nvPr/>
        </p:nvGrpSpPr>
        <p:grpSpPr>
          <a:xfrm>
            <a:off x="6045388" y="1454690"/>
            <a:ext cx="4003420" cy="1062161"/>
            <a:chOff x="0" y="0"/>
            <a:chExt cx="1455487" cy="3861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455487" cy="386160"/>
            </a:xfrm>
            <a:custGeom>
              <a:avLst/>
              <a:gdLst/>
              <a:ahLst/>
              <a:cxnLst/>
              <a:rect l="l" t="t" r="r" b="b"/>
              <a:pathLst>
                <a:path w="1455487" h="386160">
                  <a:moveTo>
                    <a:pt x="29007" y="0"/>
                  </a:moveTo>
                  <a:lnTo>
                    <a:pt x="1426480" y="0"/>
                  </a:lnTo>
                  <a:cubicBezTo>
                    <a:pt x="1442500" y="0"/>
                    <a:pt x="1455487" y="12987"/>
                    <a:pt x="1455487" y="29007"/>
                  </a:cubicBezTo>
                  <a:lnTo>
                    <a:pt x="1455487" y="357153"/>
                  </a:lnTo>
                  <a:cubicBezTo>
                    <a:pt x="1455487" y="373173"/>
                    <a:pt x="1442500" y="386160"/>
                    <a:pt x="1426480" y="386160"/>
                  </a:cubicBezTo>
                  <a:lnTo>
                    <a:pt x="29007" y="386160"/>
                  </a:lnTo>
                  <a:cubicBezTo>
                    <a:pt x="12987" y="386160"/>
                    <a:pt x="0" y="373173"/>
                    <a:pt x="0" y="357153"/>
                  </a:cubicBezTo>
                  <a:lnTo>
                    <a:pt x="0" y="29007"/>
                  </a:lnTo>
                  <a:cubicBezTo>
                    <a:pt x="0" y="12987"/>
                    <a:pt x="12987" y="0"/>
                    <a:pt x="29007" y="0"/>
                  </a:cubicBezTo>
                  <a:close/>
                </a:path>
              </a:pathLst>
            </a:custGeom>
            <a:solidFill>
              <a:srgbClr val="F3F9FD"/>
            </a:solidFill>
            <a:ln w="9525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1455487" cy="433785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662891" y="1454690"/>
            <a:ext cx="4007411" cy="1062161"/>
            <a:chOff x="0" y="0"/>
            <a:chExt cx="1456938" cy="3861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456938" cy="386160"/>
            </a:xfrm>
            <a:custGeom>
              <a:avLst/>
              <a:gdLst/>
              <a:ahLst/>
              <a:cxnLst/>
              <a:rect l="l" t="t" r="r" b="b"/>
              <a:pathLst>
                <a:path w="1456938" h="386160">
                  <a:moveTo>
                    <a:pt x="28979" y="0"/>
                  </a:moveTo>
                  <a:lnTo>
                    <a:pt x="1427960" y="0"/>
                  </a:lnTo>
                  <a:cubicBezTo>
                    <a:pt x="1443964" y="0"/>
                    <a:pt x="1456938" y="12974"/>
                    <a:pt x="1456938" y="28979"/>
                  </a:cubicBezTo>
                  <a:lnTo>
                    <a:pt x="1456938" y="357182"/>
                  </a:lnTo>
                  <a:cubicBezTo>
                    <a:pt x="1456938" y="373186"/>
                    <a:pt x="1443964" y="386160"/>
                    <a:pt x="1427960" y="386160"/>
                  </a:cubicBezTo>
                  <a:lnTo>
                    <a:pt x="28979" y="386160"/>
                  </a:lnTo>
                  <a:cubicBezTo>
                    <a:pt x="12974" y="386160"/>
                    <a:pt x="0" y="373186"/>
                    <a:pt x="0" y="357182"/>
                  </a:cubicBezTo>
                  <a:lnTo>
                    <a:pt x="0" y="28979"/>
                  </a:lnTo>
                  <a:cubicBezTo>
                    <a:pt x="0" y="12974"/>
                    <a:pt x="12974" y="0"/>
                    <a:pt x="28979" y="0"/>
                  </a:cubicBezTo>
                  <a:close/>
                </a:path>
              </a:pathLst>
            </a:custGeom>
            <a:solidFill>
              <a:srgbClr val="F3F9FD"/>
            </a:solidFill>
            <a:ln w="9525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1456938" cy="433785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69222" y="3276408"/>
            <a:ext cx="4003420" cy="1062161"/>
            <a:chOff x="0" y="0"/>
            <a:chExt cx="1455487" cy="3861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55487" cy="386160"/>
            </a:xfrm>
            <a:custGeom>
              <a:avLst/>
              <a:gdLst/>
              <a:ahLst/>
              <a:cxnLst/>
              <a:rect l="l" t="t" r="r" b="b"/>
              <a:pathLst>
                <a:path w="1455487" h="386160">
                  <a:moveTo>
                    <a:pt x="29007" y="0"/>
                  </a:moveTo>
                  <a:lnTo>
                    <a:pt x="1426480" y="0"/>
                  </a:lnTo>
                  <a:cubicBezTo>
                    <a:pt x="1442500" y="0"/>
                    <a:pt x="1455487" y="12987"/>
                    <a:pt x="1455487" y="29007"/>
                  </a:cubicBezTo>
                  <a:lnTo>
                    <a:pt x="1455487" y="357153"/>
                  </a:lnTo>
                  <a:cubicBezTo>
                    <a:pt x="1455487" y="373173"/>
                    <a:pt x="1442500" y="386160"/>
                    <a:pt x="1426480" y="386160"/>
                  </a:cubicBezTo>
                  <a:lnTo>
                    <a:pt x="29007" y="386160"/>
                  </a:lnTo>
                  <a:cubicBezTo>
                    <a:pt x="12987" y="386160"/>
                    <a:pt x="0" y="373173"/>
                    <a:pt x="0" y="357153"/>
                  </a:cubicBezTo>
                  <a:lnTo>
                    <a:pt x="0" y="29007"/>
                  </a:lnTo>
                  <a:cubicBezTo>
                    <a:pt x="0" y="12987"/>
                    <a:pt x="12987" y="0"/>
                    <a:pt x="2900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98526"/>
              </a:solidFill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1455487" cy="433785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662891" y="3276979"/>
            <a:ext cx="4007411" cy="1062161"/>
            <a:chOff x="0" y="0"/>
            <a:chExt cx="1456938" cy="3861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456938" cy="386160"/>
            </a:xfrm>
            <a:custGeom>
              <a:avLst/>
              <a:gdLst/>
              <a:ahLst/>
              <a:cxnLst/>
              <a:rect l="l" t="t" r="r" b="b"/>
              <a:pathLst>
                <a:path w="1456938" h="386160">
                  <a:moveTo>
                    <a:pt x="28979" y="0"/>
                  </a:moveTo>
                  <a:lnTo>
                    <a:pt x="1427960" y="0"/>
                  </a:lnTo>
                  <a:cubicBezTo>
                    <a:pt x="1443964" y="0"/>
                    <a:pt x="1456938" y="12974"/>
                    <a:pt x="1456938" y="28979"/>
                  </a:cubicBezTo>
                  <a:lnTo>
                    <a:pt x="1456938" y="357182"/>
                  </a:lnTo>
                  <a:cubicBezTo>
                    <a:pt x="1456938" y="373186"/>
                    <a:pt x="1443964" y="386160"/>
                    <a:pt x="1427960" y="386160"/>
                  </a:cubicBezTo>
                  <a:lnTo>
                    <a:pt x="28979" y="386160"/>
                  </a:lnTo>
                  <a:cubicBezTo>
                    <a:pt x="12974" y="386160"/>
                    <a:pt x="0" y="373186"/>
                    <a:pt x="0" y="357182"/>
                  </a:cubicBezTo>
                  <a:lnTo>
                    <a:pt x="0" y="28979"/>
                  </a:lnTo>
                  <a:cubicBezTo>
                    <a:pt x="0" y="12974"/>
                    <a:pt x="12974" y="0"/>
                    <a:pt x="28979" y="0"/>
                  </a:cubicBezTo>
                  <a:close/>
                </a:path>
              </a:pathLst>
            </a:custGeom>
            <a:solidFill>
              <a:srgbClr val="FDFDFF"/>
            </a:solidFill>
            <a:ln w="9525" cap="sq">
              <a:solidFill>
                <a:srgbClr val="F98526"/>
              </a:solidFill>
              <a:prstDash val="solid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1456938" cy="433785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679698" y="5143500"/>
            <a:ext cx="3990604" cy="1062161"/>
            <a:chOff x="0" y="0"/>
            <a:chExt cx="1450828" cy="38616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450828" cy="386160"/>
            </a:xfrm>
            <a:custGeom>
              <a:avLst/>
              <a:gdLst/>
              <a:ahLst/>
              <a:cxnLst/>
              <a:rect l="l" t="t" r="r" b="b"/>
              <a:pathLst>
                <a:path w="1450828" h="386160">
                  <a:moveTo>
                    <a:pt x="29101" y="0"/>
                  </a:moveTo>
                  <a:lnTo>
                    <a:pt x="1421727" y="0"/>
                  </a:lnTo>
                  <a:cubicBezTo>
                    <a:pt x="1437799" y="0"/>
                    <a:pt x="1450828" y="13029"/>
                    <a:pt x="1450828" y="29101"/>
                  </a:cubicBezTo>
                  <a:lnTo>
                    <a:pt x="1450828" y="357060"/>
                  </a:lnTo>
                  <a:cubicBezTo>
                    <a:pt x="1450828" y="373132"/>
                    <a:pt x="1437799" y="386160"/>
                    <a:pt x="1421727" y="386160"/>
                  </a:cubicBezTo>
                  <a:lnTo>
                    <a:pt x="29101" y="386160"/>
                  </a:lnTo>
                  <a:cubicBezTo>
                    <a:pt x="13029" y="386160"/>
                    <a:pt x="0" y="373132"/>
                    <a:pt x="0" y="357060"/>
                  </a:cubicBezTo>
                  <a:lnTo>
                    <a:pt x="0" y="29101"/>
                  </a:lnTo>
                  <a:cubicBezTo>
                    <a:pt x="0" y="13029"/>
                    <a:pt x="13029" y="0"/>
                    <a:pt x="29101" y="0"/>
                  </a:cubicBezTo>
                  <a:close/>
                </a:path>
              </a:pathLst>
            </a:custGeom>
            <a:solidFill>
              <a:srgbClr val="F3FCF9"/>
            </a:solidFill>
            <a:ln w="9525" cap="sq">
              <a:solidFill>
                <a:srgbClr val="0D7F5F"/>
              </a:solidFill>
              <a:prstDash val="solid"/>
              <a:miter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1450828" cy="433785"/>
            </a:xfrm>
            <a:prstGeom prst="rect">
              <a:avLst/>
            </a:prstGeom>
          </p:spPr>
          <p:txBody>
            <a:bodyPr lIns="42371" tIns="42371" rIns="42371" bIns="42371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69" name="Freeform 69"/>
          <p:cNvSpPr/>
          <p:nvPr/>
        </p:nvSpPr>
        <p:spPr>
          <a:xfrm>
            <a:off x="6170233" y="1613742"/>
            <a:ext cx="648685" cy="648685"/>
          </a:xfrm>
          <a:custGeom>
            <a:avLst/>
            <a:gdLst/>
            <a:ahLst/>
            <a:cxnLst/>
            <a:rect l="l" t="t" r="r" b="b"/>
            <a:pathLst>
              <a:path w="648685" h="648685">
                <a:moveTo>
                  <a:pt x="0" y="0"/>
                </a:moveTo>
                <a:lnTo>
                  <a:pt x="648685" y="0"/>
                </a:lnTo>
                <a:lnTo>
                  <a:pt x="648685" y="648685"/>
                </a:lnTo>
                <a:lnTo>
                  <a:pt x="0" y="64868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10916553" y="1684466"/>
            <a:ext cx="392689" cy="545402"/>
          </a:xfrm>
          <a:custGeom>
            <a:avLst/>
            <a:gdLst/>
            <a:ahLst/>
            <a:cxnLst/>
            <a:rect l="l" t="t" r="r" b="b"/>
            <a:pathLst>
              <a:path w="392689" h="545402">
                <a:moveTo>
                  <a:pt x="0" y="0"/>
                </a:moveTo>
                <a:lnTo>
                  <a:pt x="392689" y="0"/>
                </a:lnTo>
                <a:lnTo>
                  <a:pt x="392689" y="545402"/>
                </a:lnTo>
                <a:lnTo>
                  <a:pt x="0" y="54540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6201885" y="3590431"/>
            <a:ext cx="551603" cy="399912"/>
          </a:xfrm>
          <a:custGeom>
            <a:avLst/>
            <a:gdLst/>
            <a:ahLst/>
            <a:cxnLst/>
            <a:rect l="l" t="t" r="r" b="b"/>
            <a:pathLst>
              <a:path w="551603" h="399912">
                <a:moveTo>
                  <a:pt x="0" y="0"/>
                </a:moveTo>
                <a:lnTo>
                  <a:pt x="551603" y="0"/>
                </a:lnTo>
                <a:lnTo>
                  <a:pt x="551603" y="399912"/>
                </a:lnTo>
                <a:lnTo>
                  <a:pt x="0" y="39991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10717653" y="3372395"/>
            <a:ext cx="817517" cy="835985"/>
          </a:xfrm>
          <a:custGeom>
            <a:avLst/>
            <a:gdLst/>
            <a:ahLst/>
            <a:cxnLst/>
            <a:rect l="l" t="t" r="r" b="b"/>
            <a:pathLst>
              <a:path w="817517" h="835985">
                <a:moveTo>
                  <a:pt x="0" y="0"/>
                </a:moveTo>
                <a:lnTo>
                  <a:pt x="817517" y="0"/>
                </a:lnTo>
                <a:lnTo>
                  <a:pt x="817517" y="835985"/>
                </a:lnTo>
                <a:lnTo>
                  <a:pt x="0" y="83598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46154" r="-35753"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6246364" y="5404254"/>
            <a:ext cx="471769" cy="471769"/>
          </a:xfrm>
          <a:custGeom>
            <a:avLst/>
            <a:gdLst/>
            <a:ahLst/>
            <a:cxnLst/>
            <a:rect l="l" t="t" r="r" b="b"/>
            <a:pathLst>
              <a:path w="471769" h="471769">
                <a:moveTo>
                  <a:pt x="0" y="0"/>
                </a:moveTo>
                <a:lnTo>
                  <a:pt x="471769" y="0"/>
                </a:lnTo>
                <a:lnTo>
                  <a:pt x="471769" y="471769"/>
                </a:lnTo>
                <a:lnTo>
                  <a:pt x="0" y="47176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74" name="Freeform 74"/>
          <p:cNvSpPr/>
          <p:nvPr/>
        </p:nvSpPr>
        <p:spPr>
          <a:xfrm>
            <a:off x="10922883" y="5418236"/>
            <a:ext cx="407056" cy="515261"/>
          </a:xfrm>
          <a:custGeom>
            <a:avLst/>
            <a:gdLst/>
            <a:ahLst/>
            <a:cxnLst/>
            <a:rect l="l" t="t" r="r" b="b"/>
            <a:pathLst>
              <a:path w="407056" h="515261">
                <a:moveTo>
                  <a:pt x="0" y="0"/>
                </a:moveTo>
                <a:lnTo>
                  <a:pt x="407057" y="0"/>
                </a:lnTo>
                <a:lnTo>
                  <a:pt x="407057" y="515261"/>
                </a:lnTo>
                <a:lnTo>
                  <a:pt x="0" y="51526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75" name="Group 75"/>
          <p:cNvGrpSpPr/>
          <p:nvPr/>
        </p:nvGrpSpPr>
        <p:grpSpPr>
          <a:xfrm>
            <a:off x="3167593" y="8279026"/>
            <a:ext cx="11952815" cy="773261"/>
            <a:chOff x="0" y="0"/>
            <a:chExt cx="3850919" cy="249127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850919" cy="249127"/>
            </a:xfrm>
            <a:custGeom>
              <a:avLst/>
              <a:gdLst/>
              <a:ahLst/>
              <a:cxnLst/>
              <a:rect l="l" t="t" r="r" b="b"/>
              <a:pathLst>
                <a:path w="3850919" h="249127">
                  <a:moveTo>
                    <a:pt x="9716" y="0"/>
                  </a:moveTo>
                  <a:lnTo>
                    <a:pt x="3841204" y="0"/>
                  </a:lnTo>
                  <a:cubicBezTo>
                    <a:pt x="3846569" y="0"/>
                    <a:pt x="3850919" y="4350"/>
                    <a:pt x="3850919" y="9716"/>
                  </a:cubicBezTo>
                  <a:lnTo>
                    <a:pt x="3850919" y="239411"/>
                  </a:lnTo>
                  <a:cubicBezTo>
                    <a:pt x="3850919" y="241988"/>
                    <a:pt x="3849896" y="244459"/>
                    <a:pt x="3848074" y="246281"/>
                  </a:cubicBezTo>
                  <a:cubicBezTo>
                    <a:pt x="3846252" y="248103"/>
                    <a:pt x="3843780" y="249127"/>
                    <a:pt x="3841204" y="249127"/>
                  </a:cubicBezTo>
                  <a:lnTo>
                    <a:pt x="9716" y="249127"/>
                  </a:lnTo>
                  <a:cubicBezTo>
                    <a:pt x="7139" y="249127"/>
                    <a:pt x="4668" y="248103"/>
                    <a:pt x="2846" y="246281"/>
                  </a:cubicBezTo>
                  <a:cubicBezTo>
                    <a:pt x="1024" y="244459"/>
                    <a:pt x="0" y="241988"/>
                    <a:pt x="0" y="239411"/>
                  </a:cubicBezTo>
                  <a:lnTo>
                    <a:pt x="0" y="9716"/>
                  </a:lnTo>
                  <a:cubicBezTo>
                    <a:pt x="0" y="7139"/>
                    <a:pt x="1024" y="4668"/>
                    <a:pt x="2846" y="2846"/>
                  </a:cubicBezTo>
                  <a:cubicBezTo>
                    <a:pt x="4668" y="1024"/>
                    <a:pt x="7139" y="0"/>
                    <a:pt x="9716" y="0"/>
                  </a:cubicBezTo>
                  <a:close/>
                </a:path>
              </a:pathLst>
            </a:custGeom>
            <a:solidFill>
              <a:srgbClr val="F3F6FB"/>
            </a:solidFill>
            <a:ln w="28575" cap="sq">
              <a:solidFill>
                <a:srgbClr val="BFC8D6"/>
              </a:solidFill>
              <a:prstDash val="dash"/>
              <a:miter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0" y="-47625"/>
              <a:ext cx="3850919" cy="29675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8" name="Freeform 78"/>
          <p:cNvSpPr/>
          <p:nvPr/>
        </p:nvSpPr>
        <p:spPr>
          <a:xfrm>
            <a:off x="5010907" y="8469552"/>
            <a:ext cx="431450" cy="431450"/>
          </a:xfrm>
          <a:custGeom>
            <a:avLst/>
            <a:gdLst/>
            <a:ahLst/>
            <a:cxnLst/>
            <a:rect l="l" t="t" r="r" b="b"/>
            <a:pathLst>
              <a:path w="431450" h="431450">
                <a:moveTo>
                  <a:pt x="0" y="0"/>
                </a:moveTo>
                <a:lnTo>
                  <a:pt x="431450" y="0"/>
                </a:lnTo>
                <a:lnTo>
                  <a:pt x="431450" y="431450"/>
                </a:lnTo>
                <a:lnTo>
                  <a:pt x="0" y="43145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79" name="Freeform 79"/>
          <p:cNvSpPr/>
          <p:nvPr/>
        </p:nvSpPr>
        <p:spPr>
          <a:xfrm>
            <a:off x="5552280" y="8485659"/>
            <a:ext cx="399235" cy="399235"/>
          </a:xfrm>
          <a:custGeom>
            <a:avLst/>
            <a:gdLst/>
            <a:ahLst/>
            <a:cxnLst/>
            <a:rect l="l" t="t" r="r" b="b"/>
            <a:pathLst>
              <a:path w="399235" h="399235">
                <a:moveTo>
                  <a:pt x="0" y="0"/>
                </a:moveTo>
                <a:lnTo>
                  <a:pt x="399234" y="0"/>
                </a:lnTo>
                <a:lnTo>
                  <a:pt x="399234" y="399235"/>
                </a:lnTo>
                <a:lnTo>
                  <a:pt x="0" y="39923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80" name="Freeform 80"/>
          <p:cNvSpPr/>
          <p:nvPr/>
        </p:nvSpPr>
        <p:spPr>
          <a:xfrm>
            <a:off x="8329693" y="8495706"/>
            <a:ext cx="394621" cy="394621"/>
          </a:xfrm>
          <a:custGeom>
            <a:avLst/>
            <a:gdLst/>
            <a:ahLst/>
            <a:cxnLst/>
            <a:rect l="l" t="t" r="r" b="b"/>
            <a:pathLst>
              <a:path w="394621" h="394621">
                <a:moveTo>
                  <a:pt x="0" y="0"/>
                </a:moveTo>
                <a:lnTo>
                  <a:pt x="394621" y="0"/>
                </a:lnTo>
                <a:lnTo>
                  <a:pt x="394621" y="394621"/>
                </a:lnTo>
                <a:lnTo>
                  <a:pt x="0" y="39462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>
            <a:off x="10535464" y="8450731"/>
            <a:ext cx="337074" cy="411065"/>
          </a:xfrm>
          <a:custGeom>
            <a:avLst/>
            <a:gdLst/>
            <a:ahLst/>
            <a:cxnLst/>
            <a:rect l="l" t="t" r="r" b="b"/>
            <a:pathLst>
              <a:path w="337074" h="411065">
                <a:moveTo>
                  <a:pt x="0" y="0"/>
                </a:moveTo>
                <a:lnTo>
                  <a:pt x="337074" y="0"/>
                </a:lnTo>
                <a:lnTo>
                  <a:pt x="337074" y="411065"/>
                </a:lnTo>
                <a:lnTo>
                  <a:pt x="0" y="41106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82" name="TextBox 82"/>
          <p:cNvSpPr txBox="1"/>
          <p:nvPr/>
        </p:nvSpPr>
        <p:spPr>
          <a:xfrm>
            <a:off x="6801724" y="5635142"/>
            <a:ext cx="1725280" cy="29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883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Auth, API y Storage</a:t>
            </a:r>
          </a:p>
          <a:p>
            <a:pPr algn="l">
              <a:lnSpc>
                <a:spcPts val="1236"/>
              </a:lnSpc>
            </a:pPr>
            <a:r>
              <a:rPr lang="en-US" sz="883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Cliente: supabase_flutter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830210" y="3435837"/>
            <a:ext cx="1320452" cy="53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5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de Aplicación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830210" y="4064638"/>
            <a:ext cx="1166293" cy="16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"/>
              </a:lnSpc>
            </a:pPr>
            <a:r>
              <a:rPr lang="en-US" sz="9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Reglas de negocio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830210" y="1577492"/>
            <a:ext cx="1788206" cy="53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5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de Presentación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794237" y="2204453"/>
            <a:ext cx="1356426" cy="16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"/>
              </a:lnSpc>
            </a:pPr>
            <a:r>
              <a:rPr lang="en-US" sz="9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Interfaz de usuario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830210" y="7110541"/>
            <a:ext cx="1648715" cy="4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de persistencia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830210" y="7668264"/>
            <a:ext cx="1069567" cy="164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"/>
              </a:lnSpc>
            </a:pPr>
            <a:r>
              <a:rPr lang="en-US" sz="9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Datos y seguridad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794237" y="5246582"/>
            <a:ext cx="1641638" cy="53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5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de acceso a Datos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794237" y="5847448"/>
            <a:ext cx="1444457" cy="18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9"/>
              </a:lnSpc>
            </a:pPr>
            <a:r>
              <a:rPr lang="en-US" sz="10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Leer y escribir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990278" y="7212481"/>
            <a:ext cx="1024784" cy="23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378" b="1">
                <a:solidFill>
                  <a:srgbClr val="312F8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028864" y="7243148"/>
            <a:ext cx="296702" cy="18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5"/>
              </a:lnSpc>
            </a:pPr>
            <a:r>
              <a:rPr lang="en-US" sz="1096" b="1">
                <a:solidFill>
                  <a:srgbClr val="5E8D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15+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004477" y="7486289"/>
            <a:ext cx="1407312" cy="14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1"/>
              </a:lnSpc>
            </a:pPr>
            <a:r>
              <a:rPr lang="en-US" sz="793">
                <a:solidFill>
                  <a:srgbClr val="312F84"/>
                </a:solidFill>
                <a:latin typeface="Poppins"/>
                <a:ea typeface="Poppins"/>
                <a:cs typeface="Poppins"/>
                <a:sym typeface="Poppins"/>
              </a:rPr>
              <a:t>BD en la nube - RLS - ACID</a:t>
            </a:r>
          </a:p>
          <a:p>
            <a:pPr algn="l">
              <a:lnSpc>
                <a:spcPts val="1111"/>
              </a:lnSpc>
            </a:pPr>
            <a:r>
              <a:rPr lang="en-US" sz="793">
                <a:solidFill>
                  <a:srgbClr val="312F84"/>
                </a:solidFill>
                <a:latin typeface="Poppins"/>
                <a:ea typeface="Poppins"/>
                <a:cs typeface="Poppins"/>
                <a:sym typeface="Poppins"/>
              </a:rPr>
              <a:t>Intefridad referencial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614050" y="7209541"/>
            <a:ext cx="1024784" cy="23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378" b="1">
                <a:solidFill>
                  <a:srgbClr val="312F8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SQLite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556803" y="2781915"/>
            <a:ext cx="2076619" cy="19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7"/>
              </a:lnSpc>
            </a:pPr>
            <a:r>
              <a:rPr lang="en-US" sz="1148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Llama a la lógica de negocio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556803" y="4619267"/>
            <a:ext cx="2076619" cy="19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7"/>
              </a:lnSpc>
            </a:pPr>
            <a:r>
              <a:rPr lang="en-US" sz="1148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Usa repositorios y modelos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806299" y="5382442"/>
            <a:ext cx="1350129" cy="19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0"/>
              </a:lnSpc>
            </a:pPr>
            <a:r>
              <a:rPr lang="en-US" sz="1185" b="1">
                <a:solidFill>
                  <a:srgbClr val="0D7F5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Supabase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573409" y="6460482"/>
            <a:ext cx="2665684" cy="19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7"/>
              </a:lnSpc>
            </a:pPr>
            <a:r>
              <a:rPr lang="en-US" sz="1148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Consultas y persistencia de datos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889267" y="1661525"/>
            <a:ext cx="1555082" cy="23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378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Flutter (Dart)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889267" y="1928592"/>
            <a:ext cx="1579756" cy="294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8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Web admin+ App Android con una sola base de código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1496836" y="1646301"/>
            <a:ext cx="1543012" cy="23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378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Firebase Hosting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889267" y="3483814"/>
            <a:ext cx="1452905" cy="23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378" b="1">
                <a:solidFill>
                  <a:srgbClr val="312F8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Conectivity_plus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1496836" y="3468590"/>
            <a:ext cx="1024784" cy="23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378" b="1">
                <a:solidFill>
                  <a:srgbClr val="312F8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Lógica Dart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1535170" y="5406240"/>
            <a:ext cx="1350129" cy="23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385" b="1">
                <a:solidFill>
                  <a:srgbClr val="0D7F5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sqflite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1516620" y="5694962"/>
            <a:ext cx="2023199" cy="322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"/>
              </a:lnSpc>
            </a:pPr>
            <a:r>
              <a:rPr lang="en-US" sz="959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Conector SQL local en Android</a:t>
            </a:r>
          </a:p>
          <a:p>
            <a:pPr algn="l">
              <a:lnSpc>
                <a:spcPts val="1343"/>
              </a:lnSpc>
            </a:pPr>
            <a:r>
              <a:rPr lang="en-US" sz="959">
                <a:solidFill>
                  <a:srgbClr val="484747"/>
                </a:solidFill>
                <a:latin typeface="Poppins"/>
                <a:ea typeface="Poppins"/>
                <a:cs typeface="Poppins"/>
                <a:sym typeface="Poppins"/>
              </a:rPr>
              <a:t>Opera sobre SQLite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1500323" y="1929841"/>
            <a:ext cx="1572347" cy="2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lang="en-US" sz="814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Despliegue y alojamiento web</a:t>
            </a:r>
          </a:p>
          <a:p>
            <a:pPr algn="l">
              <a:lnSpc>
                <a:spcPts val="1140"/>
              </a:lnSpc>
            </a:pPr>
            <a:r>
              <a:rPr lang="en-US" sz="814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CDN - SSL/TLSS - SPA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918255" y="3752659"/>
            <a:ext cx="1806060" cy="294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8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Detecta cambios de conexión;</a:t>
            </a:r>
          </a:p>
          <a:p>
            <a:pPr algn="l">
              <a:lnSpc>
                <a:spcPts val="1146"/>
              </a:lnSpc>
            </a:pPr>
            <a:r>
              <a:rPr lang="en-US" sz="818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la app decide cuando sincronizar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1500323" y="3749128"/>
            <a:ext cx="1579756" cy="294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8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Valida RUT, patentes y fletes sin solapamiento, entre otros.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1632536" y="7478474"/>
            <a:ext cx="1407312" cy="28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1"/>
              </a:lnSpc>
            </a:pPr>
            <a:r>
              <a:rPr lang="en-US" sz="793">
                <a:solidFill>
                  <a:srgbClr val="312F84"/>
                </a:solidFill>
                <a:latin typeface="Poppins"/>
                <a:ea typeface="Poppins"/>
                <a:cs typeface="Poppins"/>
                <a:sym typeface="Poppins"/>
              </a:rPr>
              <a:t>BD local movil: cola de despacho y caché offline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495939" y="8520374"/>
            <a:ext cx="1156420" cy="26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7"/>
              </a:lnSpc>
            </a:pPr>
            <a:r>
              <a:rPr lang="en-US" sz="15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Transversal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313464" y="8440977"/>
            <a:ext cx="1071267" cy="21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 &amp; GitHub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313355" y="8680701"/>
            <a:ext cx="1570406" cy="12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8"/>
              </a:lnSpc>
            </a:pPr>
            <a:r>
              <a:rPr lang="en-US" sz="7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Control de versiones - Git Flow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3167593" y="227368"/>
            <a:ext cx="6234025" cy="801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4"/>
              </a:lnSpc>
              <a:spcBef>
                <a:spcPct val="0"/>
              </a:spcBef>
            </a:pPr>
            <a:r>
              <a:rPr lang="en-US" sz="4481" b="1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MAPA TECNOLÓGICO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834984" y="8481427"/>
            <a:ext cx="1071267" cy="21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834984" y="8708379"/>
            <a:ext cx="1570406" cy="12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8"/>
              </a:lnSpc>
            </a:pPr>
            <a:r>
              <a:rPr lang="en-US" sz="7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Fechas y montos en CLP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1002613" y="8488161"/>
            <a:ext cx="1071267" cy="21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csv_exporter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1002613" y="8715113"/>
            <a:ext cx="1570406" cy="12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8"/>
              </a:lnSpc>
            </a:pPr>
            <a:r>
              <a:rPr lang="en-US" sz="7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Reportes CSV en el navegador</a:t>
            </a:r>
          </a:p>
        </p:txBody>
      </p:sp>
    </p:spTree>
  </p:cSld>
  <p:clrMapOvr>
    <a:masterClrMapping/>
  </p:clrMapOvr>
  <p:transition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83" t="-522387" r="-25606" b="-1146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4197176" y="3818111"/>
            <a:ext cx="6911121" cy="1512807"/>
            <a:chOff x="0" y="0"/>
            <a:chExt cx="2336453" cy="5114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6454" cy="511437"/>
            </a:xfrm>
            <a:custGeom>
              <a:avLst/>
              <a:gdLst/>
              <a:ahLst/>
              <a:cxnLst/>
              <a:rect l="l" t="t" r="r" b="b"/>
              <a:pathLst>
                <a:path w="2336454" h="511437">
                  <a:moveTo>
                    <a:pt x="16803" y="0"/>
                  </a:moveTo>
                  <a:lnTo>
                    <a:pt x="2319650" y="0"/>
                  </a:lnTo>
                  <a:cubicBezTo>
                    <a:pt x="2324107" y="0"/>
                    <a:pt x="2328381" y="1770"/>
                    <a:pt x="2331532" y="4922"/>
                  </a:cubicBezTo>
                  <a:cubicBezTo>
                    <a:pt x="2334683" y="8073"/>
                    <a:pt x="2336454" y="12347"/>
                    <a:pt x="2336454" y="16803"/>
                  </a:cubicBezTo>
                  <a:lnTo>
                    <a:pt x="2336454" y="494634"/>
                  </a:lnTo>
                  <a:cubicBezTo>
                    <a:pt x="2336454" y="503914"/>
                    <a:pt x="2328931" y="511437"/>
                    <a:pt x="2319650" y="511437"/>
                  </a:cubicBezTo>
                  <a:lnTo>
                    <a:pt x="16803" y="511437"/>
                  </a:lnTo>
                  <a:cubicBezTo>
                    <a:pt x="7523" y="511437"/>
                    <a:pt x="0" y="503914"/>
                    <a:pt x="0" y="494634"/>
                  </a:cubicBezTo>
                  <a:lnTo>
                    <a:pt x="0" y="16803"/>
                  </a:lnTo>
                  <a:cubicBezTo>
                    <a:pt x="0" y="7523"/>
                    <a:pt x="7523" y="0"/>
                    <a:pt x="16803" y="0"/>
                  </a:cubicBezTo>
                  <a:close/>
                </a:path>
              </a:pathLst>
            </a:custGeom>
            <a:solidFill>
              <a:srgbClr val="DDF6EC"/>
            </a:solidFill>
            <a:ln w="38100" cap="sq">
              <a:solidFill>
                <a:srgbClr val="81D7B8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36453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97176" y="4574515"/>
            <a:ext cx="10107009" cy="4457260"/>
            <a:chOff x="0" y="0"/>
            <a:chExt cx="3416892" cy="15068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16892" cy="1506873"/>
            </a:xfrm>
            <a:custGeom>
              <a:avLst/>
              <a:gdLst/>
              <a:ahLst/>
              <a:cxnLst/>
              <a:rect l="l" t="t" r="r" b="b"/>
              <a:pathLst>
                <a:path w="3416892" h="1506873">
                  <a:moveTo>
                    <a:pt x="11490" y="0"/>
                  </a:moveTo>
                  <a:lnTo>
                    <a:pt x="3405402" y="0"/>
                  </a:lnTo>
                  <a:cubicBezTo>
                    <a:pt x="3408450" y="0"/>
                    <a:pt x="3411372" y="1211"/>
                    <a:pt x="3413527" y="3365"/>
                  </a:cubicBezTo>
                  <a:cubicBezTo>
                    <a:pt x="3415682" y="5520"/>
                    <a:pt x="3416892" y="8443"/>
                    <a:pt x="3416892" y="11490"/>
                  </a:cubicBezTo>
                  <a:lnTo>
                    <a:pt x="3416892" y="1495383"/>
                  </a:lnTo>
                  <a:cubicBezTo>
                    <a:pt x="3416892" y="1498430"/>
                    <a:pt x="3415682" y="1501353"/>
                    <a:pt x="3413527" y="1503507"/>
                  </a:cubicBezTo>
                  <a:cubicBezTo>
                    <a:pt x="3411372" y="1505662"/>
                    <a:pt x="3408450" y="1506873"/>
                    <a:pt x="3405402" y="1506873"/>
                  </a:cubicBezTo>
                  <a:lnTo>
                    <a:pt x="11490" y="1506873"/>
                  </a:lnTo>
                  <a:cubicBezTo>
                    <a:pt x="8443" y="1506873"/>
                    <a:pt x="5520" y="1505662"/>
                    <a:pt x="3365" y="1503507"/>
                  </a:cubicBezTo>
                  <a:cubicBezTo>
                    <a:pt x="1211" y="1501353"/>
                    <a:pt x="0" y="1498430"/>
                    <a:pt x="0" y="1495383"/>
                  </a:cubicBezTo>
                  <a:lnTo>
                    <a:pt x="0" y="11490"/>
                  </a:lnTo>
                  <a:cubicBezTo>
                    <a:pt x="0" y="8443"/>
                    <a:pt x="1211" y="5520"/>
                    <a:pt x="3365" y="3365"/>
                  </a:cubicBezTo>
                  <a:cubicBezTo>
                    <a:pt x="5520" y="1211"/>
                    <a:pt x="8443" y="0"/>
                    <a:pt x="11490" y="0"/>
                  </a:cubicBezTo>
                  <a:close/>
                </a:path>
              </a:pathLst>
            </a:custGeom>
            <a:solidFill>
              <a:srgbClr val="DDF6EC"/>
            </a:solidFill>
            <a:ln w="38100" cap="sq">
              <a:solidFill>
                <a:srgbClr val="81D7B8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416892" cy="1554498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197176" y="3818111"/>
            <a:ext cx="735134" cy="735134"/>
          </a:xfrm>
          <a:custGeom>
            <a:avLst/>
            <a:gdLst/>
            <a:ahLst/>
            <a:cxnLst/>
            <a:rect l="l" t="t" r="r" b="b"/>
            <a:pathLst>
              <a:path w="735134" h="735134">
                <a:moveTo>
                  <a:pt x="0" y="0"/>
                </a:moveTo>
                <a:lnTo>
                  <a:pt x="735134" y="0"/>
                </a:lnTo>
                <a:lnTo>
                  <a:pt x="735134" y="735134"/>
                </a:lnTo>
                <a:lnTo>
                  <a:pt x="0" y="735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364161" y="4924720"/>
            <a:ext cx="2356903" cy="1818403"/>
            <a:chOff x="0" y="0"/>
            <a:chExt cx="796802" cy="6147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96802" cy="614750"/>
            </a:xfrm>
            <a:custGeom>
              <a:avLst/>
              <a:gdLst/>
              <a:ahLst/>
              <a:cxnLst/>
              <a:rect l="l" t="t" r="r" b="b"/>
              <a:pathLst>
                <a:path w="796802" h="614750">
                  <a:moveTo>
                    <a:pt x="49272" y="0"/>
                  </a:moveTo>
                  <a:lnTo>
                    <a:pt x="747530" y="0"/>
                  </a:lnTo>
                  <a:cubicBezTo>
                    <a:pt x="774742" y="0"/>
                    <a:pt x="796802" y="22060"/>
                    <a:pt x="796802" y="49272"/>
                  </a:cubicBezTo>
                  <a:lnTo>
                    <a:pt x="796802" y="565479"/>
                  </a:lnTo>
                  <a:cubicBezTo>
                    <a:pt x="796802" y="592691"/>
                    <a:pt x="774742" y="614750"/>
                    <a:pt x="747530" y="614750"/>
                  </a:cubicBezTo>
                  <a:lnTo>
                    <a:pt x="49272" y="614750"/>
                  </a:lnTo>
                  <a:cubicBezTo>
                    <a:pt x="22060" y="614750"/>
                    <a:pt x="0" y="592691"/>
                    <a:pt x="0" y="565479"/>
                  </a:cubicBezTo>
                  <a:lnTo>
                    <a:pt x="0" y="49272"/>
                  </a:lnTo>
                  <a:cubicBezTo>
                    <a:pt x="0" y="22060"/>
                    <a:pt x="22060" y="0"/>
                    <a:pt x="49272" y="0"/>
                  </a:cubicBezTo>
                  <a:close/>
                </a:path>
              </a:pathLst>
            </a:custGeom>
            <a:solidFill>
              <a:srgbClr val="F3FCF9"/>
            </a:solidFill>
            <a:ln w="9525" cap="sq">
              <a:solidFill>
                <a:srgbClr val="0D7F5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796802" cy="66237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4141" y="4924720"/>
            <a:ext cx="2356903" cy="1818403"/>
            <a:chOff x="0" y="0"/>
            <a:chExt cx="796802" cy="614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96802" cy="614750"/>
            </a:xfrm>
            <a:custGeom>
              <a:avLst/>
              <a:gdLst/>
              <a:ahLst/>
              <a:cxnLst/>
              <a:rect l="l" t="t" r="r" b="b"/>
              <a:pathLst>
                <a:path w="796802" h="614750">
                  <a:moveTo>
                    <a:pt x="49272" y="0"/>
                  </a:moveTo>
                  <a:lnTo>
                    <a:pt x="747530" y="0"/>
                  </a:lnTo>
                  <a:cubicBezTo>
                    <a:pt x="774742" y="0"/>
                    <a:pt x="796802" y="22060"/>
                    <a:pt x="796802" y="49272"/>
                  </a:cubicBezTo>
                  <a:lnTo>
                    <a:pt x="796802" y="565479"/>
                  </a:lnTo>
                  <a:cubicBezTo>
                    <a:pt x="796802" y="592691"/>
                    <a:pt x="774742" y="614750"/>
                    <a:pt x="747530" y="614750"/>
                  </a:cubicBezTo>
                  <a:lnTo>
                    <a:pt x="49272" y="614750"/>
                  </a:lnTo>
                  <a:cubicBezTo>
                    <a:pt x="22060" y="614750"/>
                    <a:pt x="0" y="592691"/>
                    <a:pt x="0" y="565479"/>
                  </a:cubicBezTo>
                  <a:lnTo>
                    <a:pt x="0" y="49272"/>
                  </a:lnTo>
                  <a:cubicBezTo>
                    <a:pt x="0" y="22060"/>
                    <a:pt x="22060" y="0"/>
                    <a:pt x="49272" y="0"/>
                  </a:cubicBezTo>
                  <a:close/>
                </a:path>
              </a:pathLst>
            </a:custGeom>
            <a:solidFill>
              <a:srgbClr val="F3FCF9"/>
            </a:solidFill>
            <a:ln w="9525" cap="sq">
              <a:solidFill>
                <a:srgbClr val="0D7F5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796802" cy="66237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44122" y="4924720"/>
            <a:ext cx="2356903" cy="1818403"/>
            <a:chOff x="0" y="0"/>
            <a:chExt cx="796802" cy="6147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96802" cy="614750"/>
            </a:xfrm>
            <a:custGeom>
              <a:avLst/>
              <a:gdLst/>
              <a:ahLst/>
              <a:cxnLst/>
              <a:rect l="l" t="t" r="r" b="b"/>
              <a:pathLst>
                <a:path w="796802" h="614750">
                  <a:moveTo>
                    <a:pt x="49272" y="0"/>
                  </a:moveTo>
                  <a:lnTo>
                    <a:pt x="747530" y="0"/>
                  </a:lnTo>
                  <a:cubicBezTo>
                    <a:pt x="774742" y="0"/>
                    <a:pt x="796802" y="22060"/>
                    <a:pt x="796802" y="49272"/>
                  </a:cubicBezTo>
                  <a:lnTo>
                    <a:pt x="796802" y="565479"/>
                  </a:lnTo>
                  <a:cubicBezTo>
                    <a:pt x="796802" y="592691"/>
                    <a:pt x="774742" y="614750"/>
                    <a:pt x="747530" y="614750"/>
                  </a:cubicBezTo>
                  <a:lnTo>
                    <a:pt x="49272" y="614750"/>
                  </a:lnTo>
                  <a:cubicBezTo>
                    <a:pt x="22060" y="614750"/>
                    <a:pt x="0" y="592691"/>
                    <a:pt x="0" y="565479"/>
                  </a:cubicBezTo>
                  <a:lnTo>
                    <a:pt x="0" y="49272"/>
                  </a:lnTo>
                  <a:cubicBezTo>
                    <a:pt x="0" y="22060"/>
                    <a:pt x="22060" y="0"/>
                    <a:pt x="49272" y="0"/>
                  </a:cubicBezTo>
                  <a:close/>
                </a:path>
              </a:pathLst>
            </a:custGeom>
            <a:solidFill>
              <a:srgbClr val="F3FCF9"/>
            </a:solidFill>
            <a:ln w="9525" cap="sq">
              <a:solidFill>
                <a:srgbClr val="0D7F5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96802" cy="66237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34102" y="4924720"/>
            <a:ext cx="2356903" cy="1818403"/>
            <a:chOff x="0" y="0"/>
            <a:chExt cx="796802" cy="6147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96802" cy="614750"/>
            </a:xfrm>
            <a:custGeom>
              <a:avLst/>
              <a:gdLst/>
              <a:ahLst/>
              <a:cxnLst/>
              <a:rect l="l" t="t" r="r" b="b"/>
              <a:pathLst>
                <a:path w="796802" h="614750">
                  <a:moveTo>
                    <a:pt x="49272" y="0"/>
                  </a:moveTo>
                  <a:lnTo>
                    <a:pt x="747530" y="0"/>
                  </a:lnTo>
                  <a:cubicBezTo>
                    <a:pt x="774742" y="0"/>
                    <a:pt x="796802" y="22060"/>
                    <a:pt x="796802" y="49272"/>
                  </a:cubicBezTo>
                  <a:lnTo>
                    <a:pt x="796802" y="565479"/>
                  </a:lnTo>
                  <a:cubicBezTo>
                    <a:pt x="796802" y="592691"/>
                    <a:pt x="774742" y="614750"/>
                    <a:pt x="747530" y="614750"/>
                  </a:cubicBezTo>
                  <a:lnTo>
                    <a:pt x="49272" y="614750"/>
                  </a:lnTo>
                  <a:cubicBezTo>
                    <a:pt x="22060" y="614750"/>
                    <a:pt x="0" y="592691"/>
                    <a:pt x="0" y="565479"/>
                  </a:cubicBezTo>
                  <a:lnTo>
                    <a:pt x="0" y="49272"/>
                  </a:lnTo>
                  <a:cubicBezTo>
                    <a:pt x="0" y="22060"/>
                    <a:pt x="22060" y="0"/>
                    <a:pt x="49272" y="0"/>
                  </a:cubicBezTo>
                  <a:close/>
                </a:path>
              </a:pathLst>
            </a:custGeom>
            <a:solidFill>
              <a:srgbClr val="F3FCF9"/>
            </a:solidFill>
            <a:ln w="9525" cap="sq">
              <a:solidFill>
                <a:srgbClr val="0D7F5F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96802" cy="66237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4511740" y="5149804"/>
            <a:ext cx="584921" cy="684118"/>
          </a:xfrm>
          <a:custGeom>
            <a:avLst/>
            <a:gdLst/>
            <a:ahLst/>
            <a:cxnLst/>
            <a:rect l="l" t="t" r="r" b="b"/>
            <a:pathLst>
              <a:path w="584921" h="684118">
                <a:moveTo>
                  <a:pt x="0" y="0"/>
                </a:moveTo>
                <a:lnTo>
                  <a:pt x="584921" y="0"/>
                </a:lnTo>
                <a:lnTo>
                  <a:pt x="584921" y="684118"/>
                </a:lnTo>
                <a:lnTo>
                  <a:pt x="0" y="6841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033679" y="5228980"/>
            <a:ext cx="619057" cy="728302"/>
          </a:xfrm>
          <a:custGeom>
            <a:avLst/>
            <a:gdLst/>
            <a:ahLst/>
            <a:cxnLst/>
            <a:rect l="l" t="t" r="r" b="b"/>
            <a:pathLst>
              <a:path w="619057" h="728302">
                <a:moveTo>
                  <a:pt x="0" y="0"/>
                </a:moveTo>
                <a:lnTo>
                  <a:pt x="619057" y="0"/>
                </a:lnTo>
                <a:lnTo>
                  <a:pt x="619057" y="728302"/>
                </a:lnTo>
                <a:lnTo>
                  <a:pt x="0" y="7283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527841" y="5175369"/>
            <a:ext cx="481528" cy="575097"/>
          </a:xfrm>
          <a:custGeom>
            <a:avLst/>
            <a:gdLst/>
            <a:ahLst/>
            <a:cxnLst/>
            <a:rect l="l" t="t" r="r" b="b"/>
            <a:pathLst>
              <a:path w="481528" h="575097">
                <a:moveTo>
                  <a:pt x="0" y="0"/>
                </a:moveTo>
                <a:lnTo>
                  <a:pt x="481528" y="0"/>
                </a:lnTo>
                <a:lnTo>
                  <a:pt x="481528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89" r="-1510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986775" y="5191172"/>
            <a:ext cx="586916" cy="586916"/>
          </a:xfrm>
          <a:custGeom>
            <a:avLst/>
            <a:gdLst/>
            <a:ahLst/>
            <a:cxnLst/>
            <a:rect l="l" t="t" r="r" b="b"/>
            <a:pathLst>
              <a:path w="586916" h="586916">
                <a:moveTo>
                  <a:pt x="0" y="0"/>
                </a:moveTo>
                <a:lnTo>
                  <a:pt x="586916" y="0"/>
                </a:lnTo>
                <a:lnTo>
                  <a:pt x="586916" y="586916"/>
                </a:lnTo>
                <a:lnTo>
                  <a:pt x="0" y="586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4492309" y="7343198"/>
            <a:ext cx="9516742" cy="1512807"/>
            <a:chOff x="0" y="0"/>
            <a:chExt cx="3217340" cy="51143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17339" cy="511437"/>
            </a:xfrm>
            <a:custGeom>
              <a:avLst/>
              <a:gdLst/>
              <a:ahLst/>
              <a:cxnLst/>
              <a:rect l="l" t="t" r="r" b="b"/>
              <a:pathLst>
                <a:path w="3217339" h="511437">
                  <a:moveTo>
                    <a:pt x="12203" y="0"/>
                  </a:moveTo>
                  <a:lnTo>
                    <a:pt x="3205137" y="0"/>
                  </a:lnTo>
                  <a:cubicBezTo>
                    <a:pt x="3208373" y="0"/>
                    <a:pt x="3211477" y="1286"/>
                    <a:pt x="3213765" y="3574"/>
                  </a:cubicBezTo>
                  <a:cubicBezTo>
                    <a:pt x="3216054" y="5862"/>
                    <a:pt x="3217339" y="8966"/>
                    <a:pt x="3217339" y="12203"/>
                  </a:cubicBezTo>
                  <a:lnTo>
                    <a:pt x="3217339" y="499234"/>
                  </a:lnTo>
                  <a:cubicBezTo>
                    <a:pt x="3217339" y="502471"/>
                    <a:pt x="3216054" y="505575"/>
                    <a:pt x="3213765" y="507863"/>
                  </a:cubicBezTo>
                  <a:cubicBezTo>
                    <a:pt x="3211477" y="510151"/>
                    <a:pt x="3208373" y="511437"/>
                    <a:pt x="3205137" y="511437"/>
                  </a:cubicBezTo>
                  <a:lnTo>
                    <a:pt x="12203" y="511437"/>
                  </a:lnTo>
                  <a:cubicBezTo>
                    <a:pt x="8966" y="511437"/>
                    <a:pt x="5862" y="510151"/>
                    <a:pt x="3574" y="507863"/>
                  </a:cubicBezTo>
                  <a:cubicBezTo>
                    <a:pt x="1286" y="505575"/>
                    <a:pt x="0" y="502471"/>
                    <a:pt x="0" y="499234"/>
                  </a:cubicBezTo>
                  <a:lnTo>
                    <a:pt x="0" y="12203"/>
                  </a:lnTo>
                  <a:cubicBezTo>
                    <a:pt x="0" y="8966"/>
                    <a:pt x="1286" y="5862"/>
                    <a:pt x="3574" y="3574"/>
                  </a:cubicBezTo>
                  <a:cubicBezTo>
                    <a:pt x="5862" y="1286"/>
                    <a:pt x="8966" y="0"/>
                    <a:pt x="12203" y="0"/>
                  </a:cubicBezTo>
                  <a:close/>
                </a:path>
              </a:pathLst>
            </a:custGeom>
            <a:solidFill>
              <a:srgbClr val="E9E1F6"/>
            </a:solidFill>
            <a:ln w="38100" cap="sq">
              <a:solidFill>
                <a:srgbClr val="AAA0BA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3217340" cy="55906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932310" y="3950415"/>
            <a:ext cx="2489967" cy="42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Supabase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94376" y="4036238"/>
            <a:ext cx="1244984" cy="25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1"/>
              </a:lnSpc>
            </a:pPr>
            <a:r>
              <a:rPr lang="en-US" sz="1358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(BaaS)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16042" y="5236316"/>
            <a:ext cx="1378334" cy="33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1975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GoTrue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116042" y="5529042"/>
            <a:ext cx="1531233" cy="24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(Autenticación)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11740" y="6008302"/>
            <a:ext cx="1982636" cy="43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8805" lvl="1" indent="-134403" algn="l">
              <a:lnSpc>
                <a:spcPts val="1743"/>
              </a:lnSpc>
              <a:buFont typeface="Arial"/>
              <a:buChar char="•"/>
            </a:pPr>
            <a:r>
              <a:rPr lang="en-US" sz="12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Gestión de usuarios</a:t>
            </a:r>
          </a:p>
          <a:p>
            <a:pPr marL="268805" lvl="1" indent="-134403" algn="l">
              <a:lnSpc>
                <a:spcPts val="1743"/>
              </a:lnSpc>
              <a:buFont typeface="Arial"/>
              <a:buChar char="•"/>
            </a:pPr>
            <a:r>
              <a:rPr lang="en-US" sz="12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Tokens JWT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39359" y="5236316"/>
            <a:ext cx="1321440" cy="33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1975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39359" y="5529042"/>
            <a:ext cx="1321440" cy="24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(API REST)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004387" y="6008302"/>
            <a:ext cx="2056412" cy="65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8805" lvl="1" indent="-134403" algn="l">
              <a:lnSpc>
                <a:spcPts val="1743"/>
              </a:lnSpc>
              <a:buFont typeface="Arial"/>
              <a:buChar char="•"/>
            </a:pPr>
            <a:r>
              <a:rPr lang="en-US" sz="12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Endpoints RESTful.</a:t>
            </a:r>
          </a:p>
          <a:p>
            <a:pPr marL="268805" lvl="1" indent="-134403" algn="l">
              <a:lnSpc>
                <a:spcPts val="1743"/>
              </a:lnSpc>
              <a:buFont typeface="Arial"/>
              <a:buChar char="•"/>
            </a:pPr>
            <a:r>
              <a:rPr lang="en-US" sz="12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Joins y consultas relacionales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12596" y="5208693"/>
            <a:ext cx="1321440" cy="33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1975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Storage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212596" y="5501420"/>
            <a:ext cx="1321440" cy="24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(Archivos)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30640" y="6008302"/>
            <a:ext cx="2056412" cy="65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8805" lvl="1" indent="-134403" algn="l">
              <a:lnSpc>
                <a:spcPts val="1743"/>
              </a:lnSpc>
              <a:buFont typeface="Arial"/>
              <a:buChar char="•"/>
            </a:pPr>
            <a:r>
              <a:rPr lang="en-US" sz="12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Firmas digitales.</a:t>
            </a:r>
          </a:p>
          <a:p>
            <a:pPr marL="268805" lvl="1" indent="-134403" algn="l">
              <a:lnSpc>
                <a:spcPts val="1743"/>
              </a:lnSpc>
              <a:buFont typeface="Arial"/>
              <a:buChar char="•"/>
            </a:pPr>
            <a:r>
              <a:rPr lang="en-US" sz="12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Comprobantes y evidencias.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707041" y="5208693"/>
            <a:ext cx="1321440" cy="33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1975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Realtime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707041" y="5501420"/>
            <a:ext cx="1321440" cy="24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4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(TIempo real)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986775" y="6008302"/>
            <a:ext cx="2056412" cy="43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8805" lvl="1" indent="-134403" algn="l">
              <a:lnSpc>
                <a:spcPts val="1743"/>
              </a:lnSpc>
              <a:buFont typeface="Arial"/>
              <a:buChar char="•"/>
            </a:pPr>
            <a:r>
              <a:rPr lang="en-US" sz="1245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Notificaciones y actualizaciones.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846845" y="7764847"/>
            <a:ext cx="1728128" cy="28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172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PostgreSQL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46690" y="8122110"/>
            <a:ext cx="3151175" cy="197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1"/>
              </a:lnSpc>
            </a:pPr>
            <a:r>
              <a:rPr lang="en-US" sz="1143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(Base de datos de Supabase)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085417" y="7676341"/>
            <a:ext cx="3024169" cy="84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770" lvl="1" indent="-134885" algn="l">
              <a:lnSpc>
                <a:spcPts val="1749"/>
              </a:lnSpc>
              <a:buFont typeface="Arial"/>
              <a:buChar char="•"/>
            </a:pPr>
            <a:r>
              <a:rPr lang="en-US" sz="1249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Datos del sistema.</a:t>
            </a:r>
          </a:p>
          <a:p>
            <a:pPr marL="269770" lvl="1" indent="-134885" algn="l">
              <a:lnSpc>
                <a:spcPts val="1749"/>
              </a:lnSpc>
              <a:buFont typeface="Arial"/>
              <a:buChar char="•"/>
            </a:pPr>
            <a:r>
              <a:rPr lang="en-US" sz="1249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Claves foráneas.</a:t>
            </a:r>
          </a:p>
          <a:p>
            <a:pPr marL="269770" lvl="1" indent="-134885" algn="l">
              <a:lnSpc>
                <a:spcPts val="1749"/>
              </a:lnSpc>
              <a:buFont typeface="Arial"/>
              <a:buChar char="•"/>
            </a:pPr>
            <a:r>
              <a:rPr lang="en-US" sz="1249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RLS (seguridad a nivel de fila).</a:t>
            </a:r>
          </a:p>
          <a:p>
            <a:pPr marL="269770" lvl="1" indent="-134885" algn="l">
              <a:lnSpc>
                <a:spcPts val="1749"/>
              </a:lnSpc>
              <a:buFont typeface="Arial"/>
              <a:buChar char="•"/>
            </a:pPr>
            <a:r>
              <a:rPr lang="en-US" sz="1249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Integridad referencial.</a:t>
            </a:r>
          </a:p>
        </p:txBody>
      </p:sp>
      <p:sp>
        <p:nvSpPr>
          <p:cNvPr id="49" name="Freeform 49"/>
          <p:cNvSpPr/>
          <p:nvPr/>
        </p:nvSpPr>
        <p:spPr>
          <a:xfrm>
            <a:off x="4564743" y="7647998"/>
            <a:ext cx="1316916" cy="877944"/>
          </a:xfrm>
          <a:custGeom>
            <a:avLst/>
            <a:gdLst/>
            <a:ahLst/>
            <a:cxnLst/>
            <a:rect l="l" t="t" r="r" b="b"/>
            <a:pathLst>
              <a:path w="1316916" h="877944">
                <a:moveTo>
                  <a:pt x="0" y="0"/>
                </a:moveTo>
                <a:lnTo>
                  <a:pt x="1316915" y="0"/>
                </a:lnTo>
                <a:lnTo>
                  <a:pt x="1316915" y="877944"/>
                </a:lnTo>
                <a:lnTo>
                  <a:pt x="0" y="8779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50" name="Group 50"/>
          <p:cNvGrpSpPr/>
          <p:nvPr/>
        </p:nvGrpSpPr>
        <p:grpSpPr>
          <a:xfrm>
            <a:off x="495260" y="3818111"/>
            <a:ext cx="3032455" cy="1775020"/>
            <a:chOff x="0" y="0"/>
            <a:chExt cx="4043273" cy="2366693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4043273" cy="2366693"/>
              <a:chOff x="0" y="0"/>
              <a:chExt cx="1191869" cy="6976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91869" cy="697650"/>
              </a:xfrm>
              <a:custGeom>
                <a:avLst/>
                <a:gdLst/>
                <a:ahLst/>
                <a:cxnLst/>
                <a:rect l="l" t="t" r="r" b="b"/>
                <a:pathLst>
                  <a:path w="1191869" h="697650">
                    <a:moveTo>
                      <a:pt x="32940" y="0"/>
                    </a:moveTo>
                    <a:lnTo>
                      <a:pt x="1158929" y="0"/>
                    </a:lnTo>
                    <a:cubicBezTo>
                      <a:pt x="1177121" y="0"/>
                      <a:pt x="1191869" y="14748"/>
                      <a:pt x="1191869" y="32940"/>
                    </a:cubicBezTo>
                    <a:lnTo>
                      <a:pt x="1191869" y="664710"/>
                    </a:lnTo>
                    <a:cubicBezTo>
                      <a:pt x="1191869" y="682902"/>
                      <a:pt x="1177121" y="697650"/>
                      <a:pt x="1158929" y="697650"/>
                    </a:cubicBezTo>
                    <a:lnTo>
                      <a:pt x="32940" y="697650"/>
                    </a:lnTo>
                    <a:cubicBezTo>
                      <a:pt x="14748" y="697650"/>
                      <a:pt x="0" y="682902"/>
                      <a:pt x="0" y="664710"/>
                    </a:cubicBezTo>
                    <a:lnTo>
                      <a:pt x="0" y="32940"/>
                    </a:lnTo>
                    <a:cubicBezTo>
                      <a:pt x="0" y="14748"/>
                      <a:pt x="14748" y="0"/>
                      <a:pt x="32940" y="0"/>
                    </a:cubicBezTo>
                    <a:close/>
                  </a:path>
                </a:pathLst>
              </a:custGeom>
              <a:solidFill>
                <a:srgbClr val="F2F2FE"/>
              </a:solidFill>
              <a:ln w="38100" cap="sq">
                <a:solidFill>
                  <a:srgbClr val="D6D5FB"/>
                </a:solidFill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1191869" cy="745275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1036716" y="197733"/>
              <a:ext cx="2608444" cy="36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8"/>
                </a:lnSpc>
              </a:pPr>
              <a:r>
                <a:rPr lang="en-US" sz="1699" b="1">
                  <a:solidFill>
                    <a:srgbClr val="1D468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Firebase Hosting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6716" y="619284"/>
              <a:ext cx="2608444" cy="262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en-US" sz="1168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(google cloud Platform)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2797" y="1020914"/>
              <a:ext cx="3038495" cy="9973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31213" lvl="1" indent="-115606" algn="l">
                <a:lnSpc>
                  <a:spcPts val="1499"/>
                </a:lnSpc>
                <a:buFont typeface="Arial"/>
                <a:buChar char="•"/>
              </a:pPr>
              <a:r>
                <a:rPr lang="en-US" sz="1070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Alojamiento del panel web.</a:t>
              </a:r>
            </a:p>
            <a:p>
              <a:pPr marL="231213" lvl="1" indent="-115606" algn="l">
                <a:lnSpc>
                  <a:spcPts val="1499"/>
                </a:lnSpc>
                <a:buFont typeface="Arial"/>
                <a:buChar char="•"/>
              </a:pPr>
              <a:r>
                <a:rPr lang="en-US" sz="1070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CDN global.</a:t>
              </a:r>
            </a:p>
            <a:p>
              <a:pPr marL="231213" lvl="1" indent="-115606" algn="l">
                <a:lnSpc>
                  <a:spcPts val="1499"/>
                </a:lnSpc>
                <a:buFont typeface="Arial"/>
                <a:buChar char="•"/>
              </a:pPr>
              <a:r>
                <a:rPr lang="en-US" sz="1070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Certificados SSL.</a:t>
              </a:r>
            </a:p>
            <a:p>
              <a:pPr marL="231213" lvl="1" indent="-115606" algn="l">
                <a:lnSpc>
                  <a:spcPts val="1499"/>
                </a:lnSpc>
                <a:buFont typeface="Arial"/>
                <a:buChar char="•"/>
              </a:pPr>
              <a:r>
                <a:rPr lang="en-US" sz="1070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Entrega de la aplicación web.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277034" y="155893"/>
              <a:ext cx="537089" cy="745957"/>
            </a:xfrm>
            <a:custGeom>
              <a:avLst/>
              <a:gdLst/>
              <a:ahLst/>
              <a:cxnLst/>
              <a:rect l="l" t="t" r="r" b="b"/>
              <a:pathLst>
                <a:path w="537089" h="745957">
                  <a:moveTo>
                    <a:pt x="0" y="0"/>
                  </a:moveTo>
                  <a:lnTo>
                    <a:pt x="537089" y="0"/>
                  </a:lnTo>
                  <a:lnTo>
                    <a:pt x="537089" y="745957"/>
                  </a:lnTo>
                  <a:lnTo>
                    <a:pt x="0" y="745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14970934" y="4557321"/>
            <a:ext cx="3078333" cy="1838308"/>
            <a:chOff x="0" y="0"/>
            <a:chExt cx="4104445" cy="2451078"/>
          </a:xfrm>
        </p:grpSpPr>
        <p:grpSp>
          <p:nvGrpSpPr>
            <p:cNvPr id="59" name="Group 59"/>
            <p:cNvGrpSpPr/>
            <p:nvPr/>
          </p:nvGrpSpPr>
          <p:grpSpPr>
            <a:xfrm>
              <a:off x="0" y="0"/>
              <a:ext cx="4104445" cy="2451078"/>
              <a:chOff x="0" y="0"/>
              <a:chExt cx="936077" cy="55900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936077" cy="559003"/>
              </a:xfrm>
              <a:custGeom>
                <a:avLst/>
                <a:gdLst/>
                <a:ahLst/>
                <a:cxnLst/>
                <a:rect l="l" t="t" r="r" b="b"/>
                <a:pathLst>
                  <a:path w="936077" h="559003">
                    <a:moveTo>
                      <a:pt x="37725" y="0"/>
                    </a:moveTo>
                    <a:lnTo>
                      <a:pt x="898352" y="0"/>
                    </a:lnTo>
                    <a:cubicBezTo>
                      <a:pt x="908357" y="0"/>
                      <a:pt x="917953" y="3975"/>
                      <a:pt x="925028" y="11049"/>
                    </a:cubicBezTo>
                    <a:cubicBezTo>
                      <a:pt x="932102" y="18124"/>
                      <a:pt x="936077" y="27719"/>
                      <a:pt x="936077" y="37725"/>
                    </a:cubicBezTo>
                    <a:lnTo>
                      <a:pt x="936077" y="521279"/>
                    </a:lnTo>
                    <a:cubicBezTo>
                      <a:pt x="936077" y="531284"/>
                      <a:pt x="932102" y="540879"/>
                      <a:pt x="925028" y="547954"/>
                    </a:cubicBezTo>
                    <a:cubicBezTo>
                      <a:pt x="917953" y="555029"/>
                      <a:pt x="908357" y="559003"/>
                      <a:pt x="898352" y="559003"/>
                    </a:cubicBezTo>
                    <a:lnTo>
                      <a:pt x="37725" y="559003"/>
                    </a:lnTo>
                    <a:cubicBezTo>
                      <a:pt x="27719" y="559003"/>
                      <a:pt x="18124" y="555029"/>
                      <a:pt x="11049" y="547954"/>
                    </a:cubicBezTo>
                    <a:cubicBezTo>
                      <a:pt x="3975" y="540879"/>
                      <a:pt x="0" y="531284"/>
                      <a:pt x="0" y="521279"/>
                    </a:cubicBezTo>
                    <a:lnTo>
                      <a:pt x="0" y="37725"/>
                    </a:lnTo>
                    <a:cubicBezTo>
                      <a:pt x="0" y="27719"/>
                      <a:pt x="3975" y="18124"/>
                      <a:pt x="11049" y="11049"/>
                    </a:cubicBezTo>
                    <a:cubicBezTo>
                      <a:pt x="18124" y="3975"/>
                      <a:pt x="27719" y="0"/>
                      <a:pt x="37725" y="0"/>
                    </a:cubicBezTo>
                    <a:close/>
                  </a:path>
                </a:pathLst>
              </a:custGeom>
              <a:solidFill>
                <a:srgbClr val="FFD699"/>
              </a:solidFill>
              <a:ln w="38100" cap="sq">
                <a:solidFill>
                  <a:srgbClr val="FFBD59"/>
                </a:solidFill>
                <a:prstDash val="solid"/>
                <a:miter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0" y="-47625"/>
                <a:ext cx="936077" cy="606628"/>
              </a:xfrm>
              <a:prstGeom prst="rect">
                <a:avLst/>
              </a:prstGeom>
            </p:spPr>
            <p:txBody>
              <a:bodyPr lIns="50659" tIns="50659" rIns="50659" bIns="50659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1205558" y="263514"/>
              <a:ext cx="1825896" cy="437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3"/>
                </a:lnSpc>
              </a:pPr>
              <a:r>
                <a:rPr lang="en-US" sz="1973" b="1">
                  <a:solidFill>
                    <a:srgbClr val="1D468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SQLite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9478" y="672135"/>
              <a:ext cx="3054967" cy="25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26"/>
                </a:lnSpc>
              </a:pPr>
              <a:r>
                <a:rPr lang="en-US" sz="1161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(base de datos local - móvil)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6000" y="1207921"/>
              <a:ext cx="3130205" cy="794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50843" lvl="1" indent="-125422" algn="l">
                <a:lnSpc>
                  <a:spcPts val="1626"/>
                </a:lnSpc>
                <a:buFont typeface="Arial"/>
                <a:buChar char="•"/>
              </a:pPr>
              <a:r>
                <a:rPr lang="en-US" sz="1161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Datos offline.</a:t>
              </a:r>
            </a:p>
            <a:p>
              <a:pPr marL="250843" lvl="1" indent="-125422" algn="l">
                <a:lnSpc>
                  <a:spcPts val="1626"/>
                </a:lnSpc>
                <a:buFont typeface="Arial"/>
                <a:buChar char="•"/>
              </a:pPr>
              <a:r>
                <a:rPr lang="en-US" sz="1161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Cola de cambios.</a:t>
              </a:r>
            </a:p>
            <a:p>
              <a:pPr marL="250843" lvl="1" indent="-125422" algn="l">
                <a:lnSpc>
                  <a:spcPts val="1626"/>
                </a:lnSpc>
                <a:buFont typeface="Arial"/>
                <a:buChar char="•"/>
              </a:pPr>
              <a:r>
                <a:rPr lang="en-US" sz="1161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Sincronización pendiente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326357" y="268854"/>
              <a:ext cx="723121" cy="863711"/>
            </a:xfrm>
            <a:custGeom>
              <a:avLst/>
              <a:gdLst/>
              <a:ahLst/>
              <a:cxnLst/>
              <a:rect l="l" t="t" r="r" b="b"/>
              <a:pathLst>
                <a:path w="723121" h="863711">
                  <a:moveTo>
                    <a:pt x="0" y="0"/>
                  </a:moveTo>
                  <a:lnTo>
                    <a:pt x="723121" y="0"/>
                  </a:lnTo>
                  <a:lnTo>
                    <a:pt x="723121" y="863711"/>
                  </a:lnTo>
                  <a:lnTo>
                    <a:pt x="0" y="86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58200" r="-51756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10180081" y="1610104"/>
            <a:ext cx="4790854" cy="1646032"/>
            <a:chOff x="0" y="0"/>
            <a:chExt cx="1619651" cy="556477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619651" cy="556477"/>
            </a:xfrm>
            <a:custGeom>
              <a:avLst/>
              <a:gdLst/>
              <a:ahLst/>
              <a:cxnLst/>
              <a:rect l="l" t="t" r="r" b="b"/>
              <a:pathLst>
                <a:path w="1619651" h="556477">
                  <a:moveTo>
                    <a:pt x="24240" y="0"/>
                  </a:moveTo>
                  <a:lnTo>
                    <a:pt x="1595412" y="0"/>
                  </a:lnTo>
                  <a:cubicBezTo>
                    <a:pt x="1608799" y="0"/>
                    <a:pt x="1619651" y="10852"/>
                    <a:pt x="1619651" y="24240"/>
                  </a:cubicBezTo>
                  <a:lnTo>
                    <a:pt x="1619651" y="532237"/>
                  </a:lnTo>
                  <a:cubicBezTo>
                    <a:pt x="1619651" y="545624"/>
                    <a:pt x="1608799" y="556477"/>
                    <a:pt x="1595412" y="556477"/>
                  </a:cubicBezTo>
                  <a:lnTo>
                    <a:pt x="24240" y="556477"/>
                  </a:lnTo>
                  <a:cubicBezTo>
                    <a:pt x="10852" y="556477"/>
                    <a:pt x="0" y="545624"/>
                    <a:pt x="0" y="532237"/>
                  </a:cubicBezTo>
                  <a:lnTo>
                    <a:pt x="0" y="24240"/>
                  </a:lnTo>
                  <a:cubicBezTo>
                    <a:pt x="0" y="10852"/>
                    <a:pt x="10852" y="0"/>
                    <a:pt x="24240" y="0"/>
                  </a:cubicBezTo>
                  <a:close/>
                </a:path>
              </a:pathLst>
            </a:custGeom>
            <a:solidFill>
              <a:srgbClr val="DDF6EC"/>
            </a:solidFill>
            <a:ln w="38100" cap="sq">
              <a:solidFill>
                <a:srgbClr val="81D7B8"/>
              </a:solidFill>
              <a:prstDash val="solid"/>
              <a:miter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1619651" cy="604102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9" name="Freeform 69"/>
          <p:cNvSpPr/>
          <p:nvPr/>
        </p:nvSpPr>
        <p:spPr>
          <a:xfrm>
            <a:off x="10399534" y="1917708"/>
            <a:ext cx="634760" cy="1094415"/>
          </a:xfrm>
          <a:custGeom>
            <a:avLst/>
            <a:gdLst/>
            <a:ahLst/>
            <a:cxnLst/>
            <a:rect l="l" t="t" r="r" b="b"/>
            <a:pathLst>
              <a:path w="634760" h="1094415">
                <a:moveTo>
                  <a:pt x="0" y="0"/>
                </a:moveTo>
                <a:lnTo>
                  <a:pt x="634761" y="0"/>
                </a:lnTo>
                <a:lnTo>
                  <a:pt x="634761" y="1094415"/>
                </a:lnTo>
                <a:lnTo>
                  <a:pt x="0" y="10944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70" name="Group 70"/>
          <p:cNvGrpSpPr/>
          <p:nvPr/>
        </p:nvGrpSpPr>
        <p:grpSpPr>
          <a:xfrm>
            <a:off x="2279194" y="1619629"/>
            <a:ext cx="4941682" cy="1646032"/>
            <a:chOff x="0" y="0"/>
            <a:chExt cx="6588910" cy="2194710"/>
          </a:xfrm>
        </p:grpSpPr>
        <p:grpSp>
          <p:nvGrpSpPr>
            <p:cNvPr id="71" name="Group 71"/>
            <p:cNvGrpSpPr/>
            <p:nvPr/>
          </p:nvGrpSpPr>
          <p:grpSpPr>
            <a:xfrm>
              <a:off x="0" y="0"/>
              <a:ext cx="6588910" cy="2194710"/>
              <a:chOff x="0" y="0"/>
              <a:chExt cx="1535298" cy="51139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1535298" cy="511395"/>
              </a:xfrm>
              <a:custGeom>
                <a:avLst/>
                <a:gdLst/>
                <a:ahLst/>
                <a:cxnLst/>
                <a:rect l="l" t="t" r="r" b="b"/>
                <a:pathLst>
                  <a:path w="1535298" h="511395">
                    <a:moveTo>
                      <a:pt x="23500" y="0"/>
                    </a:moveTo>
                    <a:lnTo>
                      <a:pt x="1511799" y="0"/>
                    </a:lnTo>
                    <a:cubicBezTo>
                      <a:pt x="1518031" y="0"/>
                      <a:pt x="1524008" y="2476"/>
                      <a:pt x="1528416" y="6883"/>
                    </a:cubicBezTo>
                    <a:cubicBezTo>
                      <a:pt x="1532823" y="11290"/>
                      <a:pt x="1535298" y="17267"/>
                      <a:pt x="1535298" y="23500"/>
                    </a:cubicBezTo>
                    <a:lnTo>
                      <a:pt x="1535298" y="487895"/>
                    </a:lnTo>
                    <a:cubicBezTo>
                      <a:pt x="1535298" y="500874"/>
                      <a:pt x="1524777" y="511395"/>
                      <a:pt x="1511799" y="511395"/>
                    </a:cubicBezTo>
                    <a:lnTo>
                      <a:pt x="23500" y="511395"/>
                    </a:lnTo>
                    <a:cubicBezTo>
                      <a:pt x="17267" y="511395"/>
                      <a:pt x="11290" y="508919"/>
                      <a:pt x="6883" y="504512"/>
                    </a:cubicBezTo>
                    <a:cubicBezTo>
                      <a:pt x="2476" y="500105"/>
                      <a:pt x="0" y="494127"/>
                      <a:pt x="0" y="487895"/>
                    </a:cubicBezTo>
                    <a:lnTo>
                      <a:pt x="0" y="23500"/>
                    </a:lnTo>
                    <a:cubicBezTo>
                      <a:pt x="0" y="17267"/>
                      <a:pt x="2476" y="11290"/>
                      <a:pt x="6883" y="6883"/>
                    </a:cubicBezTo>
                    <a:cubicBezTo>
                      <a:pt x="11290" y="2476"/>
                      <a:pt x="17267" y="0"/>
                      <a:pt x="23500" y="0"/>
                    </a:cubicBezTo>
                    <a:close/>
                  </a:path>
                </a:pathLst>
              </a:custGeom>
              <a:solidFill>
                <a:srgbClr val="D8EDFD"/>
              </a:solidFill>
              <a:ln w="38100" cap="sq">
                <a:solidFill>
                  <a:srgbClr val="90CDFC"/>
                </a:solidFill>
                <a:prstDash val="solid"/>
                <a:miter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0" y="-47625"/>
                <a:ext cx="1535298" cy="559020"/>
              </a:xfrm>
              <a:prstGeom prst="rect">
                <a:avLst/>
              </a:prstGeom>
            </p:spPr>
            <p:txBody>
              <a:bodyPr lIns="49583" tIns="49583" rIns="49583" bIns="49583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74" name="Freeform 74"/>
            <p:cNvSpPr/>
            <p:nvPr/>
          </p:nvSpPr>
          <p:spPr>
            <a:xfrm>
              <a:off x="572562" y="507024"/>
              <a:ext cx="1103645" cy="1240051"/>
            </a:xfrm>
            <a:custGeom>
              <a:avLst/>
              <a:gdLst/>
              <a:ahLst/>
              <a:cxnLst/>
              <a:rect l="l" t="t" r="r" b="b"/>
              <a:pathLst>
                <a:path w="1103645" h="1240051">
                  <a:moveTo>
                    <a:pt x="0" y="0"/>
                  </a:moveTo>
                  <a:lnTo>
                    <a:pt x="1103645" y="0"/>
                  </a:lnTo>
                  <a:lnTo>
                    <a:pt x="1103645" y="1240050"/>
                  </a:lnTo>
                  <a:lnTo>
                    <a:pt x="0" y="124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1917507" y="428654"/>
              <a:ext cx="3612626" cy="3473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47"/>
                </a:lnSpc>
              </a:pPr>
              <a:r>
                <a:rPr lang="en-US" sz="1605" b="1">
                  <a:solidFill>
                    <a:srgbClr val="1D468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Panel Web Administrativo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917507" y="834704"/>
              <a:ext cx="1597052" cy="298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lang="en-US" sz="1323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(Flutter WEB)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917507" y="1232621"/>
              <a:ext cx="4004729" cy="6240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5"/>
                </a:lnSpc>
              </a:pPr>
              <a:r>
                <a:rPr lang="en-US" sz="1368">
                  <a:solidFill>
                    <a:srgbClr val="1D4686"/>
                  </a:solidFill>
                  <a:latin typeface="Poppins"/>
                  <a:ea typeface="Poppins"/>
                  <a:cs typeface="Poppins"/>
                  <a:sym typeface="Poppins"/>
                </a:rPr>
                <a:t>Gestión de clientes, conductores, consignatarios, viajes y reportes.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3612537" y="257900"/>
            <a:ext cx="11883921" cy="96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34"/>
              </a:lnSpc>
              <a:spcBef>
                <a:spcPct val="0"/>
              </a:spcBef>
            </a:pPr>
            <a:r>
              <a:rPr lang="en-US" sz="5642" b="1" u="none" strike="noStrike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 DE CONTENEDORES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213663" y="1933976"/>
            <a:ext cx="2709470" cy="26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7"/>
              </a:lnSpc>
            </a:pPr>
            <a:r>
              <a:rPr lang="en-US" sz="1605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 móvil </a:t>
            </a:r>
            <a:r>
              <a:rPr lang="en-US" sz="1605">
                <a:solidFill>
                  <a:srgbClr val="1D4686"/>
                </a:solidFill>
                <a:latin typeface="Open Sans"/>
                <a:ea typeface="Open Sans"/>
                <a:cs typeface="Open Sans"/>
                <a:sym typeface="Open Sans"/>
              </a:rPr>
              <a:t>(Android APK)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213663" y="2209553"/>
            <a:ext cx="1691052" cy="233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323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(Flutter Android)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213663" y="2459078"/>
            <a:ext cx="3090521" cy="635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4082" lvl="1" indent="-132041" algn="l">
              <a:lnSpc>
                <a:spcPts val="1712"/>
              </a:lnSpc>
              <a:buFont typeface="Arial"/>
              <a:buChar char="•"/>
            </a:pPr>
            <a:r>
              <a:rPr lang="en-US" sz="1223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Registra viajes, combustible, asistencia e incidentes.</a:t>
            </a:r>
          </a:p>
          <a:p>
            <a:pPr marL="264082" lvl="1" indent="-132041" algn="l">
              <a:lnSpc>
                <a:spcPts val="1712"/>
              </a:lnSpc>
              <a:buFont typeface="Arial"/>
              <a:buChar char="•"/>
            </a:pPr>
            <a:r>
              <a:rPr lang="en-US" sz="1223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Funciona offline y sincroniza luego.</a:t>
            </a:r>
          </a:p>
        </p:txBody>
      </p:sp>
      <p:sp>
        <p:nvSpPr>
          <p:cNvPr id="82" name="AutoShape 82"/>
          <p:cNvSpPr/>
          <p:nvPr/>
        </p:nvSpPr>
        <p:spPr>
          <a:xfrm flipV="1">
            <a:off x="3527715" y="4972245"/>
            <a:ext cx="669461" cy="0"/>
          </a:xfrm>
          <a:prstGeom prst="line">
            <a:avLst/>
          </a:prstGeom>
          <a:ln w="38100" cap="flat">
            <a:solidFill>
              <a:srgbClr val="020201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3" name="TextBox 83"/>
          <p:cNvSpPr txBox="1"/>
          <p:nvPr/>
        </p:nvSpPr>
        <p:spPr>
          <a:xfrm>
            <a:off x="3612537" y="4596888"/>
            <a:ext cx="669461" cy="19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20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533401" y="4785779"/>
            <a:ext cx="839106" cy="99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"/>
              </a:lnSpc>
            </a:pPr>
            <a:r>
              <a:rPr lang="en-US" sz="623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(assets / web)</a:t>
            </a:r>
          </a:p>
        </p:txBody>
      </p:sp>
      <p:sp>
        <p:nvSpPr>
          <p:cNvPr id="85" name="AutoShape 85"/>
          <p:cNvSpPr/>
          <p:nvPr/>
        </p:nvSpPr>
        <p:spPr>
          <a:xfrm>
            <a:off x="2962107" y="3265661"/>
            <a:ext cx="0" cy="552450"/>
          </a:xfrm>
          <a:prstGeom prst="line">
            <a:avLst/>
          </a:prstGeom>
          <a:ln w="38100" cap="flat">
            <a:solidFill>
              <a:srgbClr val="020201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6" name="TextBox 86"/>
          <p:cNvSpPr txBox="1"/>
          <p:nvPr/>
        </p:nvSpPr>
        <p:spPr>
          <a:xfrm>
            <a:off x="1211848" y="3329223"/>
            <a:ext cx="669461" cy="19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20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201448" y="3508590"/>
            <a:ext cx="1620080" cy="15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4"/>
              </a:lnSpc>
            </a:pPr>
            <a:r>
              <a:rPr lang="en-US" sz="924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(descarga del bundle web)</a:t>
            </a:r>
          </a:p>
        </p:txBody>
      </p:sp>
      <p:sp>
        <p:nvSpPr>
          <p:cNvPr id="88" name="AutoShape 88"/>
          <p:cNvSpPr/>
          <p:nvPr/>
        </p:nvSpPr>
        <p:spPr>
          <a:xfrm flipH="1">
            <a:off x="5199647" y="3265661"/>
            <a:ext cx="0" cy="552450"/>
          </a:xfrm>
          <a:prstGeom prst="line">
            <a:avLst/>
          </a:prstGeom>
          <a:ln w="38100" cap="flat">
            <a:solidFill>
              <a:srgbClr val="020201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9" name="TextBox 89"/>
          <p:cNvSpPr txBox="1"/>
          <p:nvPr/>
        </p:nvSpPr>
        <p:spPr>
          <a:xfrm>
            <a:off x="5525676" y="3329223"/>
            <a:ext cx="1005774" cy="19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20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 + JWT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5525676" y="3499065"/>
            <a:ext cx="1394979" cy="172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003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(datos y consultas)</a:t>
            </a:r>
          </a:p>
        </p:txBody>
      </p:sp>
      <p:sp>
        <p:nvSpPr>
          <p:cNvPr id="91" name="AutoShape 91"/>
          <p:cNvSpPr/>
          <p:nvPr/>
        </p:nvSpPr>
        <p:spPr>
          <a:xfrm flipH="1">
            <a:off x="10716914" y="3260899"/>
            <a:ext cx="0" cy="552450"/>
          </a:xfrm>
          <a:prstGeom prst="line">
            <a:avLst/>
          </a:prstGeom>
          <a:ln w="38100" cap="flat">
            <a:solidFill>
              <a:srgbClr val="020201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2" name="TextBox 92"/>
          <p:cNvSpPr txBox="1"/>
          <p:nvPr/>
        </p:nvSpPr>
        <p:spPr>
          <a:xfrm>
            <a:off x="11040764" y="3359262"/>
            <a:ext cx="1527633" cy="19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20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HTTPS/ WSS + JWT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040764" y="3519579"/>
            <a:ext cx="1527633" cy="19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(API + tiempo real)</a:t>
            </a:r>
          </a:p>
        </p:txBody>
      </p:sp>
      <p:sp>
        <p:nvSpPr>
          <p:cNvPr id="94" name="AutoShape 94"/>
          <p:cNvSpPr/>
          <p:nvPr/>
        </p:nvSpPr>
        <p:spPr>
          <a:xfrm flipH="1">
            <a:off x="13281295" y="3281582"/>
            <a:ext cx="19050" cy="1275740"/>
          </a:xfrm>
          <a:prstGeom prst="line">
            <a:avLst/>
          </a:prstGeom>
          <a:ln w="38100" cap="flat">
            <a:solidFill>
              <a:srgbClr val="81D7B8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95" name="Freeform 95"/>
          <p:cNvSpPr/>
          <p:nvPr/>
        </p:nvSpPr>
        <p:spPr>
          <a:xfrm>
            <a:off x="14970934" y="2433120"/>
            <a:ext cx="760112" cy="2124201"/>
          </a:xfrm>
          <a:custGeom>
            <a:avLst/>
            <a:gdLst/>
            <a:ahLst/>
            <a:cxnLst/>
            <a:rect l="l" t="t" r="r" b="b"/>
            <a:pathLst>
              <a:path w="760112" h="2124201">
                <a:moveTo>
                  <a:pt x="0" y="0"/>
                </a:moveTo>
                <a:lnTo>
                  <a:pt x="531512" y="0"/>
                </a:lnTo>
                <a:cubicBezTo>
                  <a:pt x="657765" y="0"/>
                  <a:pt x="760112" y="102348"/>
                  <a:pt x="760112" y="228600"/>
                </a:cubicBezTo>
                <a:lnTo>
                  <a:pt x="760112" y="2124201"/>
                </a:lnTo>
              </a:path>
            </a:pathLst>
          </a:custGeom>
          <a:ln w="38100" cap="flat">
            <a:solidFill>
              <a:srgbClr val="81D7B8"/>
            </a:solidFill>
            <a:prstDash val="sysDot"/>
            <a:headEnd type="triangle" w="lg" len="med"/>
            <a:tailEnd type="triangle" w="lg" len="med"/>
          </a:ln>
        </p:spPr>
      </p:sp>
      <p:sp>
        <p:nvSpPr>
          <p:cNvPr id="96" name="TextBox 96"/>
          <p:cNvSpPr txBox="1"/>
          <p:nvPr/>
        </p:nvSpPr>
        <p:spPr>
          <a:xfrm>
            <a:off x="15931071" y="2356182"/>
            <a:ext cx="1908130" cy="19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20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Lectura / Escritura local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5931071" y="2599771"/>
            <a:ext cx="1527633" cy="19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(SQFLite)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3388288" y="3761332"/>
            <a:ext cx="1511168" cy="233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29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Sincronización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3371823" y="3968928"/>
            <a:ext cx="1844714" cy="19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(cuando hay conexión)</a:t>
            </a:r>
          </a:p>
        </p:txBody>
      </p:sp>
      <p:sp>
        <p:nvSpPr>
          <p:cNvPr id="100" name="AutoShape 100"/>
          <p:cNvSpPr/>
          <p:nvPr/>
        </p:nvSpPr>
        <p:spPr>
          <a:xfrm>
            <a:off x="8850377" y="6808163"/>
            <a:ext cx="0" cy="507378"/>
          </a:xfrm>
          <a:prstGeom prst="line">
            <a:avLst/>
          </a:prstGeom>
          <a:ln w="38100" cap="flat">
            <a:solidFill>
              <a:srgbClr val="020201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101" name="TextBox 101"/>
          <p:cNvSpPr txBox="1"/>
          <p:nvPr/>
        </p:nvSpPr>
        <p:spPr>
          <a:xfrm>
            <a:off x="9040609" y="6770063"/>
            <a:ext cx="2000156" cy="233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294" b="1">
                <a:solidFill>
                  <a:srgbClr val="1D46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Consultas y operaciones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057614" y="6965793"/>
            <a:ext cx="1527633" cy="19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1D4686"/>
                </a:solidFill>
                <a:latin typeface="Poppins"/>
                <a:ea typeface="Poppins"/>
                <a:cs typeface="Poppins"/>
                <a:sym typeface="Poppins"/>
              </a:rPr>
              <a:t>(SQL interno)</a:t>
            </a:r>
          </a:p>
        </p:txBody>
      </p:sp>
    </p:spTree>
  </p:cSld>
  <p:clrMapOvr>
    <a:masterClrMapping/>
  </p:clrMapOvr>
  <p:transition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2771" y="9384390"/>
            <a:ext cx="3661980" cy="629028"/>
          </a:xfrm>
          <a:custGeom>
            <a:avLst/>
            <a:gdLst/>
            <a:ahLst/>
            <a:cxnLst/>
            <a:rect l="l" t="t" r="r" b="b"/>
            <a:pathLst>
              <a:path w="3661980" h="629028">
                <a:moveTo>
                  <a:pt x="0" y="0"/>
                </a:moveTo>
                <a:lnTo>
                  <a:pt x="3661980" y="0"/>
                </a:lnTo>
                <a:lnTo>
                  <a:pt x="3661980" y="629027"/>
                </a:lnTo>
                <a:lnTo>
                  <a:pt x="0" y="629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83" t="-522387" r="-25606" b="-1146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78737" y="9258300"/>
            <a:ext cx="2256491" cy="561302"/>
          </a:xfrm>
          <a:custGeom>
            <a:avLst/>
            <a:gdLst/>
            <a:ahLst/>
            <a:cxnLst/>
            <a:rect l="l" t="t" r="r" b="b"/>
            <a:pathLst>
              <a:path w="2256491" h="561302">
                <a:moveTo>
                  <a:pt x="0" y="0"/>
                </a:moveTo>
                <a:lnTo>
                  <a:pt x="2256492" y="0"/>
                </a:lnTo>
                <a:lnTo>
                  <a:pt x="2256492" y="561302"/>
                </a:lnTo>
                <a:lnTo>
                  <a:pt x="0" y="56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0" y="9675091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235322" y="9627466"/>
            <a:ext cx="6052771" cy="23812"/>
          </a:xfrm>
          <a:prstGeom prst="line">
            <a:avLst/>
          </a:prstGeom>
          <a:ln w="28575" cap="flat">
            <a:solidFill>
              <a:srgbClr val="D9753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467359" y="1257765"/>
            <a:ext cx="17353282" cy="614692"/>
            <a:chOff x="0" y="0"/>
            <a:chExt cx="23137709" cy="819589"/>
          </a:xfrm>
        </p:grpSpPr>
        <p:sp>
          <p:nvSpPr>
            <p:cNvPr id="7" name="Freeform 7"/>
            <p:cNvSpPr/>
            <p:nvPr/>
          </p:nvSpPr>
          <p:spPr>
            <a:xfrm>
              <a:off x="187153" y="122451"/>
              <a:ext cx="589280" cy="589280"/>
            </a:xfrm>
            <a:custGeom>
              <a:avLst/>
              <a:gdLst/>
              <a:ahLst/>
              <a:cxnLst/>
              <a:rect l="l" t="t" r="r" b="b"/>
              <a:pathLst>
                <a:path w="589280" h="589280">
                  <a:moveTo>
                    <a:pt x="0" y="0"/>
                  </a:moveTo>
                  <a:lnTo>
                    <a:pt x="589280" y="0"/>
                  </a:lnTo>
                  <a:lnTo>
                    <a:pt x="589280" y="589280"/>
                  </a:lnTo>
                  <a:lnTo>
                    <a:pt x="0" y="589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0" y="14592"/>
              <a:ext cx="2587745" cy="804997"/>
              <a:chOff x="0" y="0"/>
              <a:chExt cx="656132" cy="20411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56132" cy="204110"/>
              </a:xfrm>
              <a:custGeom>
                <a:avLst/>
                <a:gdLst/>
                <a:ahLst/>
                <a:cxnLst/>
                <a:rect l="l" t="t" r="r" b="b"/>
                <a:pathLst>
                  <a:path w="656132" h="204110">
                    <a:moveTo>
                      <a:pt x="59835" y="0"/>
                    </a:moveTo>
                    <a:lnTo>
                      <a:pt x="596297" y="0"/>
                    </a:lnTo>
                    <a:cubicBezTo>
                      <a:pt x="612166" y="0"/>
                      <a:pt x="627386" y="6304"/>
                      <a:pt x="638607" y="17525"/>
                    </a:cubicBezTo>
                    <a:cubicBezTo>
                      <a:pt x="649828" y="28747"/>
                      <a:pt x="656132" y="43966"/>
                      <a:pt x="656132" y="59835"/>
                    </a:cubicBezTo>
                    <a:lnTo>
                      <a:pt x="656132" y="144275"/>
                    </a:lnTo>
                    <a:cubicBezTo>
                      <a:pt x="656132" y="160144"/>
                      <a:pt x="649828" y="175363"/>
                      <a:pt x="638607" y="186585"/>
                    </a:cubicBezTo>
                    <a:cubicBezTo>
                      <a:pt x="627386" y="197806"/>
                      <a:pt x="612166" y="204110"/>
                      <a:pt x="596297" y="204110"/>
                    </a:cubicBezTo>
                    <a:lnTo>
                      <a:pt x="59835" y="204110"/>
                    </a:lnTo>
                    <a:cubicBezTo>
                      <a:pt x="43966" y="204110"/>
                      <a:pt x="28747" y="197806"/>
                      <a:pt x="17525" y="186585"/>
                    </a:cubicBezTo>
                    <a:cubicBezTo>
                      <a:pt x="6304" y="175363"/>
                      <a:pt x="0" y="160144"/>
                      <a:pt x="0" y="144275"/>
                    </a:cubicBezTo>
                    <a:lnTo>
                      <a:pt x="0" y="59835"/>
                    </a:lnTo>
                    <a:cubicBezTo>
                      <a:pt x="0" y="43966"/>
                      <a:pt x="6304" y="28747"/>
                      <a:pt x="17525" y="17525"/>
                    </a:cubicBezTo>
                    <a:cubicBezTo>
                      <a:pt x="28747" y="6304"/>
                      <a:pt x="43966" y="0"/>
                      <a:pt x="59835" y="0"/>
                    </a:cubicBezTo>
                    <a:close/>
                  </a:path>
                </a:pathLst>
              </a:custGeom>
              <a:solidFill>
                <a:srgbClr val="DBEDFF"/>
              </a:solidFill>
              <a:ln w="19050" cap="sq">
                <a:solidFill>
                  <a:srgbClr val="90CDFC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656132" cy="251735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6846184" y="847"/>
              <a:ext cx="2587745" cy="803303"/>
              <a:chOff x="0" y="0"/>
              <a:chExt cx="656132" cy="20368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56132" cy="203680"/>
              </a:xfrm>
              <a:custGeom>
                <a:avLst/>
                <a:gdLst/>
                <a:ahLst/>
                <a:cxnLst/>
                <a:rect l="l" t="t" r="r" b="b"/>
                <a:pathLst>
                  <a:path w="656132" h="203680">
                    <a:moveTo>
                      <a:pt x="59835" y="0"/>
                    </a:moveTo>
                    <a:lnTo>
                      <a:pt x="596297" y="0"/>
                    </a:lnTo>
                    <a:cubicBezTo>
                      <a:pt x="612166" y="0"/>
                      <a:pt x="627386" y="6304"/>
                      <a:pt x="638607" y="17525"/>
                    </a:cubicBezTo>
                    <a:cubicBezTo>
                      <a:pt x="649828" y="28747"/>
                      <a:pt x="656132" y="43966"/>
                      <a:pt x="656132" y="59835"/>
                    </a:cubicBezTo>
                    <a:lnTo>
                      <a:pt x="656132" y="143845"/>
                    </a:lnTo>
                    <a:cubicBezTo>
                      <a:pt x="656132" y="159715"/>
                      <a:pt x="649828" y="174934"/>
                      <a:pt x="638607" y="186155"/>
                    </a:cubicBezTo>
                    <a:cubicBezTo>
                      <a:pt x="627386" y="197376"/>
                      <a:pt x="612166" y="203680"/>
                      <a:pt x="596297" y="203680"/>
                    </a:cubicBezTo>
                    <a:lnTo>
                      <a:pt x="59835" y="203680"/>
                    </a:lnTo>
                    <a:cubicBezTo>
                      <a:pt x="43966" y="203680"/>
                      <a:pt x="28747" y="197376"/>
                      <a:pt x="17525" y="186155"/>
                    </a:cubicBezTo>
                    <a:cubicBezTo>
                      <a:pt x="6304" y="174934"/>
                      <a:pt x="0" y="159715"/>
                      <a:pt x="0" y="143845"/>
                    </a:cubicBezTo>
                    <a:lnTo>
                      <a:pt x="0" y="59835"/>
                    </a:lnTo>
                    <a:cubicBezTo>
                      <a:pt x="0" y="43966"/>
                      <a:pt x="6304" y="28747"/>
                      <a:pt x="17525" y="17525"/>
                    </a:cubicBezTo>
                    <a:cubicBezTo>
                      <a:pt x="28747" y="6304"/>
                      <a:pt x="43966" y="0"/>
                      <a:pt x="59835" y="0"/>
                    </a:cubicBezTo>
                    <a:close/>
                  </a:path>
                </a:pathLst>
              </a:custGeom>
              <a:solidFill>
                <a:srgbClr val="F7DBFF"/>
              </a:solidFill>
              <a:ln w="19050" cap="sq">
                <a:solidFill>
                  <a:srgbClr val="8C52FF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656132" cy="251305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7596986" y="129025"/>
              <a:ext cx="1739494" cy="508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b="1">
                  <a:solidFill>
                    <a:srgbClr val="5E17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Capa de Aplicación (Validaciones)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998498" y="128179"/>
              <a:ext cx="553720" cy="553720"/>
            </a:xfrm>
            <a:custGeom>
              <a:avLst/>
              <a:gdLst/>
              <a:ahLst/>
              <a:cxnLst/>
              <a:rect l="l" t="t" r="r" b="b"/>
              <a:pathLst>
                <a:path w="553720" h="553720">
                  <a:moveTo>
                    <a:pt x="0" y="0"/>
                  </a:moveTo>
                  <a:lnTo>
                    <a:pt x="553719" y="0"/>
                  </a:lnTo>
                  <a:lnTo>
                    <a:pt x="553719" y="553720"/>
                  </a:lnTo>
                  <a:lnTo>
                    <a:pt x="0" y="553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>
              <a:off x="10272129" y="847"/>
              <a:ext cx="2587745" cy="803303"/>
              <a:chOff x="0" y="0"/>
              <a:chExt cx="656132" cy="20368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56132" cy="203680"/>
              </a:xfrm>
              <a:custGeom>
                <a:avLst/>
                <a:gdLst/>
                <a:ahLst/>
                <a:cxnLst/>
                <a:rect l="l" t="t" r="r" b="b"/>
                <a:pathLst>
                  <a:path w="656132" h="203680">
                    <a:moveTo>
                      <a:pt x="59835" y="0"/>
                    </a:moveTo>
                    <a:lnTo>
                      <a:pt x="596297" y="0"/>
                    </a:lnTo>
                    <a:cubicBezTo>
                      <a:pt x="612166" y="0"/>
                      <a:pt x="627386" y="6304"/>
                      <a:pt x="638607" y="17525"/>
                    </a:cubicBezTo>
                    <a:cubicBezTo>
                      <a:pt x="649828" y="28747"/>
                      <a:pt x="656132" y="43966"/>
                      <a:pt x="656132" y="59835"/>
                    </a:cubicBezTo>
                    <a:lnTo>
                      <a:pt x="656132" y="143845"/>
                    </a:lnTo>
                    <a:cubicBezTo>
                      <a:pt x="656132" y="159715"/>
                      <a:pt x="649828" y="174934"/>
                      <a:pt x="638607" y="186155"/>
                    </a:cubicBezTo>
                    <a:cubicBezTo>
                      <a:pt x="627386" y="197376"/>
                      <a:pt x="612166" y="203680"/>
                      <a:pt x="596297" y="203680"/>
                    </a:cubicBezTo>
                    <a:lnTo>
                      <a:pt x="59835" y="203680"/>
                    </a:lnTo>
                    <a:cubicBezTo>
                      <a:pt x="43966" y="203680"/>
                      <a:pt x="28747" y="197376"/>
                      <a:pt x="17525" y="186155"/>
                    </a:cubicBezTo>
                    <a:cubicBezTo>
                      <a:pt x="6304" y="174934"/>
                      <a:pt x="0" y="159715"/>
                      <a:pt x="0" y="143845"/>
                    </a:cubicBezTo>
                    <a:lnTo>
                      <a:pt x="0" y="59835"/>
                    </a:lnTo>
                    <a:cubicBezTo>
                      <a:pt x="0" y="43966"/>
                      <a:pt x="6304" y="28747"/>
                      <a:pt x="17525" y="17525"/>
                    </a:cubicBezTo>
                    <a:cubicBezTo>
                      <a:pt x="28747" y="6304"/>
                      <a:pt x="43966" y="0"/>
                      <a:pt x="59835" y="0"/>
                    </a:cubicBezTo>
                    <a:close/>
                  </a:path>
                </a:pathLst>
              </a:custGeom>
              <a:solidFill>
                <a:srgbClr val="DDF6EC"/>
              </a:solidFill>
              <a:ln w="19050" cap="sq">
                <a:solidFill>
                  <a:srgbClr val="81D7B8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656132" cy="251305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1005844" y="129025"/>
              <a:ext cx="1748038" cy="508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b="1">
                  <a:solidFill>
                    <a:srgbClr val="0D7F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Capa de Acceso a Datos (Repositorio)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475329" y="108705"/>
              <a:ext cx="438461" cy="555014"/>
            </a:xfrm>
            <a:custGeom>
              <a:avLst/>
              <a:gdLst/>
              <a:ahLst/>
              <a:cxnLst/>
              <a:rect l="l" t="t" r="r" b="b"/>
              <a:pathLst>
                <a:path w="438461" h="555014">
                  <a:moveTo>
                    <a:pt x="0" y="0"/>
                  </a:moveTo>
                  <a:lnTo>
                    <a:pt x="438461" y="0"/>
                  </a:lnTo>
                  <a:lnTo>
                    <a:pt x="438461" y="555015"/>
                  </a:lnTo>
                  <a:lnTo>
                    <a:pt x="0" y="55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17124019" y="0"/>
              <a:ext cx="2587745" cy="803303"/>
              <a:chOff x="0" y="0"/>
              <a:chExt cx="656132" cy="20368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56132" cy="203680"/>
              </a:xfrm>
              <a:custGeom>
                <a:avLst/>
                <a:gdLst/>
                <a:ahLst/>
                <a:cxnLst/>
                <a:rect l="l" t="t" r="r" b="b"/>
                <a:pathLst>
                  <a:path w="656132" h="203680">
                    <a:moveTo>
                      <a:pt x="59835" y="0"/>
                    </a:moveTo>
                    <a:lnTo>
                      <a:pt x="596297" y="0"/>
                    </a:lnTo>
                    <a:cubicBezTo>
                      <a:pt x="612166" y="0"/>
                      <a:pt x="627386" y="6304"/>
                      <a:pt x="638607" y="17525"/>
                    </a:cubicBezTo>
                    <a:cubicBezTo>
                      <a:pt x="649828" y="28747"/>
                      <a:pt x="656132" y="43966"/>
                      <a:pt x="656132" y="59835"/>
                    </a:cubicBezTo>
                    <a:lnTo>
                      <a:pt x="656132" y="143845"/>
                    </a:lnTo>
                    <a:cubicBezTo>
                      <a:pt x="656132" y="159715"/>
                      <a:pt x="649828" y="174934"/>
                      <a:pt x="638607" y="186155"/>
                    </a:cubicBezTo>
                    <a:cubicBezTo>
                      <a:pt x="627386" y="197376"/>
                      <a:pt x="612166" y="203680"/>
                      <a:pt x="596297" y="203680"/>
                    </a:cubicBezTo>
                    <a:lnTo>
                      <a:pt x="59835" y="203680"/>
                    </a:lnTo>
                    <a:cubicBezTo>
                      <a:pt x="43966" y="203680"/>
                      <a:pt x="28747" y="197376"/>
                      <a:pt x="17525" y="186155"/>
                    </a:cubicBezTo>
                    <a:cubicBezTo>
                      <a:pt x="6304" y="174934"/>
                      <a:pt x="0" y="159715"/>
                      <a:pt x="0" y="143845"/>
                    </a:cubicBezTo>
                    <a:lnTo>
                      <a:pt x="0" y="59835"/>
                    </a:lnTo>
                    <a:cubicBezTo>
                      <a:pt x="0" y="43966"/>
                      <a:pt x="6304" y="28747"/>
                      <a:pt x="17525" y="17525"/>
                    </a:cubicBezTo>
                    <a:cubicBezTo>
                      <a:pt x="28747" y="6304"/>
                      <a:pt x="43966" y="0"/>
                      <a:pt x="59835" y="0"/>
                    </a:cubicBezTo>
                    <a:close/>
                  </a:path>
                </a:pathLst>
              </a:custGeom>
              <a:solidFill>
                <a:srgbClr val="DBEDFF"/>
              </a:solidFill>
              <a:ln w="19050" cap="sq">
                <a:solidFill>
                  <a:srgbClr val="90CDFC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656132" cy="251305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7849191" y="128179"/>
              <a:ext cx="1739494" cy="508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b="1">
                  <a:solidFill>
                    <a:srgbClr val="1578D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Supabase Storage (Archivos)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7352619" y="143419"/>
              <a:ext cx="441554" cy="555413"/>
            </a:xfrm>
            <a:custGeom>
              <a:avLst/>
              <a:gdLst/>
              <a:ahLst/>
              <a:cxnLst/>
              <a:rect l="l" t="t" r="r" b="b"/>
              <a:pathLst>
                <a:path w="441554" h="555413">
                  <a:moveTo>
                    <a:pt x="0" y="0"/>
                  </a:moveTo>
                  <a:lnTo>
                    <a:pt x="441554" y="0"/>
                  </a:lnTo>
                  <a:lnTo>
                    <a:pt x="441554" y="555413"/>
                  </a:lnTo>
                  <a:lnTo>
                    <a:pt x="0" y="555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6" name="Group 26"/>
            <p:cNvGrpSpPr/>
            <p:nvPr/>
          </p:nvGrpSpPr>
          <p:grpSpPr>
            <a:xfrm>
              <a:off x="20549964" y="0"/>
              <a:ext cx="2587745" cy="803303"/>
              <a:chOff x="0" y="0"/>
              <a:chExt cx="656132" cy="20368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56132" cy="203680"/>
              </a:xfrm>
              <a:custGeom>
                <a:avLst/>
                <a:gdLst/>
                <a:ahLst/>
                <a:cxnLst/>
                <a:rect l="l" t="t" r="r" b="b"/>
                <a:pathLst>
                  <a:path w="656132" h="203680">
                    <a:moveTo>
                      <a:pt x="59835" y="0"/>
                    </a:moveTo>
                    <a:lnTo>
                      <a:pt x="596297" y="0"/>
                    </a:lnTo>
                    <a:cubicBezTo>
                      <a:pt x="612166" y="0"/>
                      <a:pt x="627386" y="6304"/>
                      <a:pt x="638607" y="17525"/>
                    </a:cubicBezTo>
                    <a:cubicBezTo>
                      <a:pt x="649828" y="28747"/>
                      <a:pt x="656132" y="43966"/>
                      <a:pt x="656132" y="59835"/>
                    </a:cubicBezTo>
                    <a:lnTo>
                      <a:pt x="656132" y="143845"/>
                    </a:lnTo>
                    <a:cubicBezTo>
                      <a:pt x="656132" y="159715"/>
                      <a:pt x="649828" y="174934"/>
                      <a:pt x="638607" y="186155"/>
                    </a:cubicBezTo>
                    <a:cubicBezTo>
                      <a:pt x="627386" y="197376"/>
                      <a:pt x="612166" y="203680"/>
                      <a:pt x="596297" y="203680"/>
                    </a:cubicBezTo>
                    <a:lnTo>
                      <a:pt x="59835" y="203680"/>
                    </a:lnTo>
                    <a:cubicBezTo>
                      <a:pt x="43966" y="203680"/>
                      <a:pt x="28747" y="197376"/>
                      <a:pt x="17525" y="186155"/>
                    </a:cubicBezTo>
                    <a:cubicBezTo>
                      <a:pt x="6304" y="174934"/>
                      <a:pt x="0" y="159715"/>
                      <a:pt x="0" y="143845"/>
                    </a:cubicBezTo>
                    <a:lnTo>
                      <a:pt x="0" y="59835"/>
                    </a:lnTo>
                    <a:cubicBezTo>
                      <a:pt x="0" y="43966"/>
                      <a:pt x="6304" y="28747"/>
                      <a:pt x="17525" y="17525"/>
                    </a:cubicBezTo>
                    <a:cubicBezTo>
                      <a:pt x="28747" y="6304"/>
                      <a:pt x="43966" y="0"/>
                      <a:pt x="59835" y="0"/>
                    </a:cubicBezTo>
                    <a:close/>
                  </a:path>
                </a:pathLst>
              </a:custGeom>
              <a:solidFill>
                <a:srgbClr val="F7DBFF"/>
              </a:solidFill>
              <a:ln w="19050" cap="sq">
                <a:solidFill>
                  <a:srgbClr val="8C52FF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656132" cy="251305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1292223" y="128179"/>
              <a:ext cx="1730951" cy="508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b="1">
                  <a:solidFill>
                    <a:srgbClr val="5E17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PostgreSQL (Base de datos + RLS)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20778564" y="143419"/>
              <a:ext cx="441554" cy="555413"/>
            </a:xfrm>
            <a:custGeom>
              <a:avLst/>
              <a:gdLst/>
              <a:ahLst/>
              <a:cxnLst/>
              <a:rect l="l" t="t" r="r" b="b"/>
              <a:pathLst>
                <a:path w="441554" h="555413">
                  <a:moveTo>
                    <a:pt x="0" y="0"/>
                  </a:moveTo>
                  <a:lnTo>
                    <a:pt x="441554" y="0"/>
                  </a:lnTo>
                  <a:lnTo>
                    <a:pt x="441554" y="555413"/>
                  </a:lnTo>
                  <a:lnTo>
                    <a:pt x="0" y="555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1" name="Group 31"/>
            <p:cNvGrpSpPr/>
            <p:nvPr/>
          </p:nvGrpSpPr>
          <p:grpSpPr>
            <a:xfrm>
              <a:off x="3420238" y="0"/>
              <a:ext cx="2587745" cy="804997"/>
              <a:chOff x="0" y="0"/>
              <a:chExt cx="656132" cy="20411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56132" cy="204110"/>
              </a:xfrm>
              <a:custGeom>
                <a:avLst/>
                <a:gdLst/>
                <a:ahLst/>
                <a:cxnLst/>
                <a:rect l="l" t="t" r="r" b="b"/>
                <a:pathLst>
                  <a:path w="656132" h="204110">
                    <a:moveTo>
                      <a:pt x="59835" y="0"/>
                    </a:moveTo>
                    <a:lnTo>
                      <a:pt x="596297" y="0"/>
                    </a:lnTo>
                    <a:cubicBezTo>
                      <a:pt x="612166" y="0"/>
                      <a:pt x="627386" y="6304"/>
                      <a:pt x="638607" y="17525"/>
                    </a:cubicBezTo>
                    <a:cubicBezTo>
                      <a:pt x="649828" y="28747"/>
                      <a:pt x="656132" y="43966"/>
                      <a:pt x="656132" y="59835"/>
                    </a:cubicBezTo>
                    <a:lnTo>
                      <a:pt x="656132" y="144275"/>
                    </a:lnTo>
                    <a:cubicBezTo>
                      <a:pt x="656132" y="160144"/>
                      <a:pt x="649828" y="175363"/>
                      <a:pt x="638607" y="186585"/>
                    </a:cubicBezTo>
                    <a:cubicBezTo>
                      <a:pt x="627386" y="197806"/>
                      <a:pt x="612166" y="204110"/>
                      <a:pt x="596297" y="204110"/>
                    </a:cubicBezTo>
                    <a:lnTo>
                      <a:pt x="59835" y="204110"/>
                    </a:lnTo>
                    <a:cubicBezTo>
                      <a:pt x="43966" y="204110"/>
                      <a:pt x="28747" y="197806"/>
                      <a:pt x="17525" y="186585"/>
                    </a:cubicBezTo>
                    <a:cubicBezTo>
                      <a:pt x="6304" y="175363"/>
                      <a:pt x="0" y="160144"/>
                      <a:pt x="0" y="144275"/>
                    </a:cubicBezTo>
                    <a:lnTo>
                      <a:pt x="0" y="59835"/>
                    </a:lnTo>
                    <a:cubicBezTo>
                      <a:pt x="0" y="43966"/>
                      <a:pt x="6304" y="28747"/>
                      <a:pt x="17525" y="17525"/>
                    </a:cubicBezTo>
                    <a:cubicBezTo>
                      <a:pt x="28747" y="6304"/>
                      <a:pt x="43966" y="0"/>
                      <a:pt x="59835" y="0"/>
                    </a:cubicBezTo>
                    <a:close/>
                  </a:path>
                </a:pathLst>
              </a:custGeom>
              <a:solidFill>
                <a:srgbClr val="DBEDFF"/>
              </a:solidFill>
              <a:ln w="19050" cap="sq">
                <a:solidFill>
                  <a:srgbClr val="90CDFC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656132" cy="251735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3687376" y="109552"/>
              <a:ext cx="474370" cy="589280"/>
            </a:xfrm>
            <a:custGeom>
              <a:avLst/>
              <a:gdLst/>
              <a:ahLst/>
              <a:cxnLst/>
              <a:rect l="l" t="t" r="r" b="b"/>
              <a:pathLst>
                <a:path w="474370" h="589280">
                  <a:moveTo>
                    <a:pt x="0" y="0"/>
                  </a:moveTo>
                  <a:lnTo>
                    <a:pt x="474371" y="0"/>
                  </a:lnTo>
                  <a:lnTo>
                    <a:pt x="474371" y="589280"/>
                  </a:lnTo>
                  <a:lnTo>
                    <a:pt x="0" y="589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4263347" y="105319"/>
              <a:ext cx="1543050" cy="556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1578D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Flutter Web (Presentación)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3698074" y="0"/>
              <a:ext cx="2587745" cy="803303"/>
              <a:chOff x="0" y="0"/>
              <a:chExt cx="656132" cy="20368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56132" cy="203680"/>
              </a:xfrm>
              <a:custGeom>
                <a:avLst/>
                <a:gdLst/>
                <a:ahLst/>
                <a:cxnLst/>
                <a:rect l="l" t="t" r="r" b="b"/>
                <a:pathLst>
                  <a:path w="656132" h="203680">
                    <a:moveTo>
                      <a:pt x="59835" y="0"/>
                    </a:moveTo>
                    <a:lnTo>
                      <a:pt x="596297" y="0"/>
                    </a:lnTo>
                    <a:cubicBezTo>
                      <a:pt x="612166" y="0"/>
                      <a:pt x="627386" y="6304"/>
                      <a:pt x="638607" y="17525"/>
                    </a:cubicBezTo>
                    <a:cubicBezTo>
                      <a:pt x="649828" y="28747"/>
                      <a:pt x="656132" y="43966"/>
                      <a:pt x="656132" y="59835"/>
                    </a:cubicBezTo>
                    <a:lnTo>
                      <a:pt x="656132" y="143845"/>
                    </a:lnTo>
                    <a:cubicBezTo>
                      <a:pt x="656132" y="159715"/>
                      <a:pt x="649828" y="174934"/>
                      <a:pt x="638607" y="186155"/>
                    </a:cubicBezTo>
                    <a:cubicBezTo>
                      <a:pt x="627386" y="197376"/>
                      <a:pt x="612166" y="203680"/>
                      <a:pt x="596297" y="203680"/>
                    </a:cubicBezTo>
                    <a:lnTo>
                      <a:pt x="59835" y="203680"/>
                    </a:lnTo>
                    <a:cubicBezTo>
                      <a:pt x="43966" y="203680"/>
                      <a:pt x="28747" y="197376"/>
                      <a:pt x="17525" y="186155"/>
                    </a:cubicBezTo>
                    <a:cubicBezTo>
                      <a:pt x="6304" y="174934"/>
                      <a:pt x="0" y="159715"/>
                      <a:pt x="0" y="143845"/>
                    </a:cubicBezTo>
                    <a:lnTo>
                      <a:pt x="0" y="59835"/>
                    </a:lnTo>
                    <a:cubicBezTo>
                      <a:pt x="0" y="43966"/>
                      <a:pt x="6304" y="28747"/>
                      <a:pt x="17525" y="17525"/>
                    </a:cubicBezTo>
                    <a:cubicBezTo>
                      <a:pt x="28747" y="6304"/>
                      <a:pt x="43966" y="0"/>
                      <a:pt x="59835" y="0"/>
                    </a:cubicBezTo>
                    <a:close/>
                  </a:path>
                </a:pathLst>
              </a:custGeom>
              <a:solidFill>
                <a:srgbClr val="FFEFD7"/>
              </a:solidFill>
              <a:ln w="19050" cap="sq">
                <a:solidFill>
                  <a:srgbClr val="F7AC32"/>
                </a:solidFill>
                <a:prstDash val="solid"/>
                <a:miter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656132" cy="251305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13920350" y="141725"/>
              <a:ext cx="474878" cy="555413"/>
            </a:xfrm>
            <a:custGeom>
              <a:avLst/>
              <a:gdLst/>
              <a:ahLst/>
              <a:cxnLst/>
              <a:rect l="l" t="t" r="r" b="b"/>
              <a:pathLst>
                <a:path w="474878" h="555413">
                  <a:moveTo>
                    <a:pt x="0" y="0"/>
                  </a:moveTo>
                  <a:lnTo>
                    <a:pt x="474879" y="0"/>
                  </a:lnTo>
                  <a:lnTo>
                    <a:pt x="474879" y="555413"/>
                  </a:lnTo>
                  <a:lnTo>
                    <a:pt x="0" y="555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14524329" y="129025"/>
              <a:ext cx="1532890" cy="508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b="1">
                  <a:solidFill>
                    <a:srgbClr val="F57F1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Supabase Auth (Go True)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87153" y="122451"/>
              <a:ext cx="589280" cy="589280"/>
            </a:xfrm>
            <a:custGeom>
              <a:avLst/>
              <a:gdLst/>
              <a:ahLst/>
              <a:cxnLst/>
              <a:rect l="l" t="t" r="r" b="b"/>
              <a:pathLst>
                <a:path w="589280" h="589280">
                  <a:moveTo>
                    <a:pt x="0" y="0"/>
                  </a:moveTo>
                  <a:lnTo>
                    <a:pt x="589280" y="0"/>
                  </a:lnTo>
                  <a:lnTo>
                    <a:pt x="589280" y="589280"/>
                  </a:lnTo>
                  <a:lnTo>
                    <a:pt x="0" y="589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843108" y="119911"/>
              <a:ext cx="1543050" cy="556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1578D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Administrador (Web)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72122" y="4931829"/>
            <a:ext cx="17353282" cy="4234976"/>
            <a:chOff x="0" y="0"/>
            <a:chExt cx="23137709" cy="5646634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23137709" cy="5646634"/>
              <a:chOff x="0" y="0"/>
              <a:chExt cx="5866651" cy="14317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5866651" cy="1431725"/>
              </a:xfrm>
              <a:custGeom>
                <a:avLst/>
                <a:gdLst/>
                <a:ahLst/>
                <a:cxnLst/>
                <a:rect l="l" t="t" r="r" b="b"/>
                <a:pathLst>
                  <a:path w="5866651" h="1431725">
                    <a:moveTo>
                      <a:pt x="6692" y="0"/>
                    </a:moveTo>
                    <a:lnTo>
                      <a:pt x="5859959" y="0"/>
                    </a:lnTo>
                    <a:cubicBezTo>
                      <a:pt x="5863655" y="0"/>
                      <a:pt x="5866651" y="2996"/>
                      <a:pt x="5866651" y="6692"/>
                    </a:cubicBezTo>
                    <a:lnTo>
                      <a:pt x="5866651" y="1425033"/>
                    </a:lnTo>
                    <a:cubicBezTo>
                      <a:pt x="5866651" y="1428729"/>
                      <a:pt x="5863655" y="1431725"/>
                      <a:pt x="5859959" y="1431725"/>
                    </a:cubicBezTo>
                    <a:lnTo>
                      <a:pt x="6692" y="1431725"/>
                    </a:lnTo>
                    <a:cubicBezTo>
                      <a:pt x="4917" y="1431725"/>
                      <a:pt x="3215" y="1431020"/>
                      <a:pt x="1960" y="1429765"/>
                    </a:cubicBezTo>
                    <a:cubicBezTo>
                      <a:pt x="705" y="1428510"/>
                      <a:pt x="0" y="1426808"/>
                      <a:pt x="0" y="1425033"/>
                    </a:cubicBezTo>
                    <a:lnTo>
                      <a:pt x="0" y="6692"/>
                    </a:lnTo>
                    <a:cubicBezTo>
                      <a:pt x="0" y="2996"/>
                      <a:pt x="2996" y="0"/>
                      <a:pt x="6692" y="0"/>
                    </a:cubicBezTo>
                    <a:close/>
                  </a:path>
                </a:pathLst>
              </a:custGeom>
              <a:solidFill>
                <a:srgbClr val="DDF6EC"/>
              </a:solidFill>
              <a:ln w="19050" cap="sq">
                <a:solidFill>
                  <a:srgbClr val="81D7B8"/>
                </a:solidFill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5866651" cy="1479350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0" y="0"/>
              <a:ext cx="1034227" cy="435933"/>
              <a:chOff x="0" y="0"/>
              <a:chExt cx="262232" cy="11053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26223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262232" h="110532">
                    <a:moveTo>
                      <a:pt x="55266" y="0"/>
                    </a:moveTo>
                    <a:lnTo>
                      <a:pt x="206966" y="0"/>
                    </a:lnTo>
                    <a:cubicBezTo>
                      <a:pt x="221623" y="0"/>
                      <a:pt x="235680" y="5823"/>
                      <a:pt x="246045" y="16187"/>
                    </a:cubicBezTo>
                    <a:cubicBezTo>
                      <a:pt x="256409" y="26552"/>
                      <a:pt x="262232" y="40609"/>
                      <a:pt x="262232" y="55266"/>
                    </a:cubicBezTo>
                    <a:lnTo>
                      <a:pt x="262232" y="55266"/>
                    </a:lnTo>
                    <a:cubicBezTo>
                      <a:pt x="262232" y="85789"/>
                      <a:pt x="237488" y="110532"/>
                      <a:pt x="206966" y="110532"/>
                    </a:cubicBezTo>
                    <a:lnTo>
                      <a:pt x="55266" y="110532"/>
                    </a:lnTo>
                    <a:cubicBezTo>
                      <a:pt x="40609" y="110532"/>
                      <a:pt x="26552" y="104710"/>
                      <a:pt x="16187" y="94345"/>
                    </a:cubicBezTo>
                    <a:cubicBezTo>
                      <a:pt x="5823" y="83981"/>
                      <a:pt x="0" y="69924"/>
                      <a:pt x="0" y="55266"/>
                    </a:cubicBezTo>
                    <a:lnTo>
                      <a:pt x="0" y="55266"/>
                    </a:lnTo>
                    <a:cubicBezTo>
                      <a:pt x="0" y="40609"/>
                      <a:pt x="5823" y="26552"/>
                      <a:pt x="16187" y="16187"/>
                    </a:cubicBezTo>
                    <a:cubicBezTo>
                      <a:pt x="26552" y="5823"/>
                      <a:pt x="40609" y="0"/>
                      <a:pt x="55266" y="0"/>
                    </a:cubicBezTo>
                    <a:close/>
                  </a:path>
                </a:pathLst>
              </a:custGeom>
              <a:solidFill>
                <a:srgbClr val="0D7F5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262232" cy="158157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260666" y="60487"/>
              <a:ext cx="512895" cy="276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else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72122" y="3699278"/>
            <a:ext cx="17353282" cy="1013476"/>
            <a:chOff x="0" y="0"/>
            <a:chExt cx="23137709" cy="1351301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23137709" cy="1351301"/>
              <a:chOff x="0" y="0"/>
              <a:chExt cx="6133945" cy="35823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6133945" cy="358238"/>
              </a:xfrm>
              <a:custGeom>
                <a:avLst/>
                <a:gdLst/>
                <a:ahLst/>
                <a:cxnLst/>
                <a:rect l="l" t="t" r="r" b="b"/>
                <a:pathLst>
                  <a:path w="6133945" h="358238">
                    <a:moveTo>
                      <a:pt x="6692" y="0"/>
                    </a:moveTo>
                    <a:lnTo>
                      <a:pt x="6127254" y="0"/>
                    </a:lnTo>
                    <a:cubicBezTo>
                      <a:pt x="6129028" y="0"/>
                      <a:pt x="6130730" y="705"/>
                      <a:pt x="6131985" y="1960"/>
                    </a:cubicBezTo>
                    <a:cubicBezTo>
                      <a:pt x="6133240" y="3215"/>
                      <a:pt x="6133945" y="4917"/>
                      <a:pt x="6133945" y="6692"/>
                    </a:cubicBezTo>
                    <a:lnTo>
                      <a:pt x="6133945" y="351546"/>
                    </a:lnTo>
                    <a:cubicBezTo>
                      <a:pt x="6133945" y="353321"/>
                      <a:pt x="6133240" y="355023"/>
                      <a:pt x="6131985" y="356278"/>
                    </a:cubicBezTo>
                    <a:cubicBezTo>
                      <a:pt x="6130730" y="357533"/>
                      <a:pt x="6129028" y="358238"/>
                      <a:pt x="6127254" y="358238"/>
                    </a:cubicBezTo>
                    <a:lnTo>
                      <a:pt x="6692" y="358238"/>
                    </a:lnTo>
                    <a:cubicBezTo>
                      <a:pt x="2996" y="358238"/>
                      <a:pt x="0" y="355242"/>
                      <a:pt x="0" y="351546"/>
                    </a:cubicBezTo>
                    <a:lnTo>
                      <a:pt x="0" y="6692"/>
                    </a:lnTo>
                    <a:cubicBezTo>
                      <a:pt x="0" y="2996"/>
                      <a:pt x="2996" y="0"/>
                      <a:pt x="6692" y="0"/>
                    </a:cubicBezTo>
                    <a:close/>
                  </a:path>
                </a:pathLst>
              </a:custGeom>
              <a:solidFill>
                <a:srgbClr val="FFE8E8"/>
              </a:solidFill>
              <a:ln w="19050" cap="sq">
                <a:solidFill>
                  <a:srgbClr val="FF66C4"/>
                </a:solidFill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6133945" cy="405863"/>
              </a:xfrm>
              <a:prstGeom prst="rect">
                <a:avLst/>
              </a:prstGeom>
            </p:spPr>
            <p:txBody>
              <a:bodyPr lIns="43580" tIns="43580" rIns="43580" bIns="4358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0" y="0"/>
              <a:ext cx="1034227" cy="416936"/>
              <a:chOff x="0" y="0"/>
              <a:chExt cx="274180" cy="11053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274180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274180" h="110532">
                    <a:moveTo>
                      <a:pt x="55266" y="0"/>
                    </a:moveTo>
                    <a:lnTo>
                      <a:pt x="218914" y="0"/>
                    </a:lnTo>
                    <a:cubicBezTo>
                      <a:pt x="233571" y="0"/>
                      <a:pt x="247628" y="5823"/>
                      <a:pt x="257993" y="16187"/>
                    </a:cubicBezTo>
                    <a:cubicBezTo>
                      <a:pt x="268357" y="26552"/>
                      <a:pt x="274180" y="40609"/>
                      <a:pt x="274180" y="55266"/>
                    </a:cubicBezTo>
                    <a:lnTo>
                      <a:pt x="274180" y="55266"/>
                    </a:lnTo>
                    <a:cubicBezTo>
                      <a:pt x="274180" y="69924"/>
                      <a:pt x="268357" y="83981"/>
                      <a:pt x="257993" y="94345"/>
                    </a:cubicBezTo>
                    <a:cubicBezTo>
                      <a:pt x="247628" y="104710"/>
                      <a:pt x="233571" y="110532"/>
                      <a:pt x="218914" y="110532"/>
                    </a:cubicBezTo>
                    <a:lnTo>
                      <a:pt x="55266" y="110532"/>
                    </a:lnTo>
                    <a:cubicBezTo>
                      <a:pt x="40609" y="110532"/>
                      <a:pt x="26552" y="104710"/>
                      <a:pt x="16187" y="94345"/>
                    </a:cubicBezTo>
                    <a:cubicBezTo>
                      <a:pt x="5823" y="83981"/>
                      <a:pt x="0" y="69924"/>
                      <a:pt x="0" y="55266"/>
                    </a:cubicBezTo>
                    <a:lnTo>
                      <a:pt x="0" y="55266"/>
                    </a:lnTo>
                    <a:cubicBezTo>
                      <a:pt x="0" y="40609"/>
                      <a:pt x="5823" y="26552"/>
                      <a:pt x="16187" y="16187"/>
                    </a:cubicBezTo>
                    <a:cubicBezTo>
                      <a:pt x="26552" y="5823"/>
                      <a:pt x="40609" y="0"/>
                      <a:pt x="55266" y="0"/>
                    </a:cubicBezTo>
                    <a:close/>
                  </a:path>
                </a:pathLst>
              </a:custGeom>
              <a:solidFill>
                <a:srgbClr val="CB28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274180" cy="158157"/>
              </a:xfrm>
              <a:prstGeom prst="rect">
                <a:avLst/>
              </a:prstGeom>
            </p:spPr>
            <p:txBody>
              <a:bodyPr lIns="43580" tIns="43580" rIns="43580" bIns="4358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299201" y="50988"/>
              <a:ext cx="435826" cy="276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alt</a:t>
              </a:r>
            </a:p>
          </p:txBody>
        </p:sp>
      </p:grpSp>
      <p:sp>
        <p:nvSpPr>
          <p:cNvPr id="59" name="AutoShape 59"/>
          <p:cNvSpPr/>
          <p:nvPr/>
        </p:nvSpPr>
        <p:spPr>
          <a:xfrm>
            <a:off x="1439898" y="1872457"/>
            <a:ext cx="0" cy="7294347"/>
          </a:xfrm>
          <a:prstGeom prst="line">
            <a:avLst/>
          </a:prstGeom>
          <a:ln w="19050" cap="flat">
            <a:solidFill>
              <a:srgbClr val="90CDFC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0" name="AutoShape 60"/>
          <p:cNvSpPr/>
          <p:nvPr/>
        </p:nvSpPr>
        <p:spPr>
          <a:xfrm>
            <a:off x="4052709" y="1872457"/>
            <a:ext cx="0" cy="7294347"/>
          </a:xfrm>
          <a:prstGeom prst="line">
            <a:avLst/>
          </a:prstGeom>
          <a:ln w="19050" cap="flat">
            <a:solidFill>
              <a:srgbClr val="90CDFC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1" name="AutoShape 61"/>
          <p:cNvSpPr/>
          <p:nvPr/>
        </p:nvSpPr>
        <p:spPr>
          <a:xfrm>
            <a:off x="6627956" y="1844773"/>
            <a:ext cx="0" cy="7322031"/>
          </a:xfrm>
          <a:prstGeom prst="line">
            <a:avLst/>
          </a:prstGeom>
          <a:ln w="19050" cap="flat">
            <a:solidFill>
              <a:srgbClr val="8C52FF"/>
            </a:solidFill>
            <a:prstDash val="lgDash"/>
            <a:headEnd type="none" w="sm" len="sm"/>
            <a:tailEnd type="none" w="sm" len="sm"/>
          </a:ln>
        </p:spPr>
      </p:sp>
      <p:grpSp>
        <p:nvGrpSpPr>
          <p:cNvPr id="62" name="Group 62"/>
          <p:cNvGrpSpPr/>
          <p:nvPr/>
        </p:nvGrpSpPr>
        <p:grpSpPr>
          <a:xfrm rot="5400000">
            <a:off x="1105633" y="2522044"/>
            <a:ext cx="668531" cy="134380"/>
            <a:chOff x="0" y="0"/>
            <a:chExt cx="226011" cy="4543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26011" cy="45430"/>
            </a:xfrm>
            <a:custGeom>
              <a:avLst/>
              <a:gdLst/>
              <a:ahLst/>
              <a:cxnLst/>
              <a:rect l="l" t="t" r="r" b="b"/>
              <a:pathLst>
                <a:path w="226011" h="45430">
                  <a:moveTo>
                    <a:pt x="22715" y="0"/>
                  </a:moveTo>
                  <a:lnTo>
                    <a:pt x="203296" y="0"/>
                  </a:lnTo>
                  <a:cubicBezTo>
                    <a:pt x="209321" y="0"/>
                    <a:pt x="215098" y="2393"/>
                    <a:pt x="219358" y="6653"/>
                  </a:cubicBezTo>
                  <a:cubicBezTo>
                    <a:pt x="223618" y="10913"/>
                    <a:pt x="226011" y="16691"/>
                    <a:pt x="226011" y="22715"/>
                  </a:cubicBezTo>
                  <a:lnTo>
                    <a:pt x="226011" y="22715"/>
                  </a:lnTo>
                  <a:cubicBezTo>
                    <a:pt x="226011" y="28739"/>
                    <a:pt x="223618" y="34517"/>
                    <a:pt x="219358" y="38777"/>
                  </a:cubicBezTo>
                  <a:cubicBezTo>
                    <a:pt x="215098" y="43037"/>
                    <a:pt x="209321" y="45430"/>
                    <a:pt x="203296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39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BED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226011" cy="9305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 rot="5400000">
            <a:off x="3226202" y="2805581"/>
            <a:ext cx="1653012" cy="134380"/>
            <a:chOff x="0" y="0"/>
            <a:chExt cx="558836" cy="4543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58836" cy="45430"/>
            </a:xfrm>
            <a:custGeom>
              <a:avLst/>
              <a:gdLst/>
              <a:ahLst/>
              <a:cxnLst/>
              <a:rect l="l" t="t" r="r" b="b"/>
              <a:pathLst>
                <a:path w="558836" h="45430">
                  <a:moveTo>
                    <a:pt x="22715" y="0"/>
                  </a:moveTo>
                  <a:lnTo>
                    <a:pt x="536121" y="0"/>
                  </a:lnTo>
                  <a:cubicBezTo>
                    <a:pt x="542146" y="0"/>
                    <a:pt x="547923" y="2393"/>
                    <a:pt x="552183" y="6653"/>
                  </a:cubicBezTo>
                  <a:cubicBezTo>
                    <a:pt x="556443" y="10913"/>
                    <a:pt x="558836" y="16691"/>
                    <a:pt x="558836" y="22715"/>
                  </a:cubicBezTo>
                  <a:lnTo>
                    <a:pt x="558836" y="22715"/>
                  </a:lnTo>
                  <a:cubicBezTo>
                    <a:pt x="558836" y="28739"/>
                    <a:pt x="556443" y="34517"/>
                    <a:pt x="552183" y="38777"/>
                  </a:cubicBezTo>
                  <a:cubicBezTo>
                    <a:pt x="547923" y="43037"/>
                    <a:pt x="542146" y="45430"/>
                    <a:pt x="536121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39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BED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558836" cy="9305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860113" y="2033610"/>
            <a:ext cx="1931536" cy="517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Llena campos, adjunta Carnet/Licencia y presiona “Guardar Registro”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643293" y="2180738"/>
            <a:ext cx="251843" cy="251843"/>
            <a:chOff x="0" y="0"/>
            <a:chExt cx="335791" cy="33579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118260" y="18459"/>
              <a:ext cx="99272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4447942" y="2573827"/>
            <a:ext cx="251843" cy="251843"/>
            <a:chOff x="0" y="0"/>
            <a:chExt cx="335791" cy="335791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100480" y="18459"/>
              <a:ext cx="99272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4699785" y="2512424"/>
            <a:ext cx="1452430" cy="34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Envía el Formstate para validación algorítmica</a:t>
            </a:r>
          </a:p>
        </p:txBody>
      </p:sp>
      <p:grpSp>
        <p:nvGrpSpPr>
          <p:cNvPr id="76" name="Group 76"/>
          <p:cNvGrpSpPr/>
          <p:nvPr/>
        </p:nvGrpSpPr>
        <p:grpSpPr>
          <a:xfrm rot="5400000">
            <a:off x="6018256" y="3023809"/>
            <a:ext cx="1222624" cy="128313"/>
            <a:chOff x="0" y="0"/>
            <a:chExt cx="413334" cy="4337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13334" cy="43379"/>
            </a:xfrm>
            <a:custGeom>
              <a:avLst/>
              <a:gdLst/>
              <a:ahLst/>
              <a:cxnLst/>
              <a:rect l="l" t="t" r="r" b="b"/>
              <a:pathLst>
                <a:path w="413334" h="43379">
                  <a:moveTo>
                    <a:pt x="21690" y="0"/>
                  </a:moveTo>
                  <a:lnTo>
                    <a:pt x="391645" y="0"/>
                  </a:lnTo>
                  <a:cubicBezTo>
                    <a:pt x="403624" y="0"/>
                    <a:pt x="413334" y="9711"/>
                    <a:pt x="413334" y="21690"/>
                  </a:cubicBezTo>
                  <a:lnTo>
                    <a:pt x="413334" y="21690"/>
                  </a:lnTo>
                  <a:cubicBezTo>
                    <a:pt x="413334" y="27442"/>
                    <a:pt x="411049" y="32959"/>
                    <a:pt x="406982" y="37026"/>
                  </a:cubicBezTo>
                  <a:cubicBezTo>
                    <a:pt x="402914" y="41094"/>
                    <a:pt x="397397" y="43379"/>
                    <a:pt x="391645" y="43379"/>
                  </a:cubicBezTo>
                  <a:lnTo>
                    <a:pt x="21690" y="43379"/>
                  </a:lnTo>
                  <a:cubicBezTo>
                    <a:pt x="15937" y="43379"/>
                    <a:pt x="10420" y="41094"/>
                    <a:pt x="6353" y="37026"/>
                  </a:cubicBezTo>
                  <a:cubicBezTo>
                    <a:pt x="2285" y="32959"/>
                    <a:pt x="0" y="27442"/>
                    <a:pt x="0" y="21690"/>
                  </a:cubicBezTo>
                  <a:lnTo>
                    <a:pt x="0" y="21690"/>
                  </a:lnTo>
                  <a:cubicBezTo>
                    <a:pt x="0" y="15937"/>
                    <a:pt x="2285" y="10420"/>
                    <a:pt x="6353" y="6353"/>
                  </a:cubicBezTo>
                  <a:cubicBezTo>
                    <a:pt x="10420" y="2285"/>
                    <a:pt x="15937" y="0"/>
                    <a:pt x="21690" y="0"/>
                  </a:cubicBezTo>
                  <a:close/>
                </a:path>
              </a:pathLst>
            </a:custGeom>
            <a:solidFill>
              <a:srgbClr val="F7DBFF"/>
            </a:solidFill>
            <a:ln w="19050" cap="sq">
              <a:solidFill>
                <a:srgbClr val="8C52FF"/>
              </a:solidFill>
              <a:prstDash val="solid"/>
              <a:miter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413334" cy="91004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741054" y="1920364"/>
            <a:ext cx="2350854" cy="1685760"/>
            <a:chOff x="0" y="0"/>
            <a:chExt cx="3134472" cy="2247680"/>
          </a:xfrm>
        </p:grpSpPr>
        <p:grpSp>
          <p:nvGrpSpPr>
            <p:cNvPr id="80" name="Group 80"/>
            <p:cNvGrpSpPr/>
            <p:nvPr/>
          </p:nvGrpSpPr>
          <p:grpSpPr>
            <a:xfrm rot="-10800000">
              <a:off x="0" y="0"/>
              <a:ext cx="3134472" cy="2247680"/>
              <a:chOff x="0" y="0"/>
              <a:chExt cx="794757" cy="569908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794757" cy="569908"/>
              </a:xfrm>
              <a:custGeom>
                <a:avLst/>
                <a:gdLst/>
                <a:ahLst/>
                <a:cxnLst/>
                <a:rect l="l" t="t" r="r" b="b"/>
                <a:pathLst>
                  <a:path w="794757" h="569908">
                    <a:moveTo>
                      <a:pt x="49399" y="0"/>
                    </a:moveTo>
                    <a:lnTo>
                      <a:pt x="745358" y="0"/>
                    </a:lnTo>
                    <a:cubicBezTo>
                      <a:pt x="758460" y="0"/>
                      <a:pt x="771024" y="5204"/>
                      <a:pt x="780288" y="14469"/>
                    </a:cubicBezTo>
                    <a:cubicBezTo>
                      <a:pt x="789552" y="23733"/>
                      <a:pt x="794757" y="36297"/>
                      <a:pt x="794757" y="49399"/>
                    </a:cubicBezTo>
                    <a:lnTo>
                      <a:pt x="794757" y="520509"/>
                    </a:lnTo>
                    <a:cubicBezTo>
                      <a:pt x="794757" y="533610"/>
                      <a:pt x="789552" y="546175"/>
                      <a:pt x="780288" y="555439"/>
                    </a:cubicBezTo>
                    <a:cubicBezTo>
                      <a:pt x="771024" y="564703"/>
                      <a:pt x="758460" y="569908"/>
                      <a:pt x="745358" y="569908"/>
                    </a:cubicBezTo>
                    <a:lnTo>
                      <a:pt x="49399" y="569908"/>
                    </a:lnTo>
                    <a:cubicBezTo>
                      <a:pt x="36297" y="569908"/>
                      <a:pt x="23733" y="564703"/>
                      <a:pt x="14469" y="555439"/>
                    </a:cubicBezTo>
                    <a:cubicBezTo>
                      <a:pt x="5204" y="546175"/>
                      <a:pt x="0" y="533610"/>
                      <a:pt x="0" y="520509"/>
                    </a:cubicBezTo>
                    <a:lnTo>
                      <a:pt x="0" y="49399"/>
                    </a:lnTo>
                    <a:cubicBezTo>
                      <a:pt x="0" y="36297"/>
                      <a:pt x="5204" y="23733"/>
                      <a:pt x="14469" y="14469"/>
                    </a:cubicBezTo>
                    <a:cubicBezTo>
                      <a:pt x="23733" y="5204"/>
                      <a:pt x="36297" y="0"/>
                      <a:pt x="49399" y="0"/>
                    </a:cubicBezTo>
                    <a:close/>
                  </a:path>
                </a:pathLst>
              </a:custGeom>
              <a:solidFill>
                <a:srgbClr val="FFEFD7"/>
              </a:solidFill>
              <a:ln w="19050" cap="sq">
                <a:solidFill>
                  <a:srgbClr val="F7AC32"/>
                </a:solidFill>
                <a:prstDash val="solid"/>
                <a:miter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0" y="-47625"/>
                <a:ext cx="794757" cy="617533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21155" y="77283"/>
              <a:ext cx="3025480" cy="2351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dirty="0" err="1">
                  <a:solidFill>
                    <a:srgbClr val="F57F17"/>
                  </a:solidFill>
                  <a:latin typeface="Arimo"/>
                  <a:ea typeface="Arimo"/>
                  <a:cs typeface="Arimo"/>
                  <a:sym typeface="Arimo"/>
                </a:rPr>
                <a:t>Validaciones</a:t>
              </a:r>
              <a:r>
                <a:rPr lang="en-US" sz="1100" dirty="0">
                  <a:solidFill>
                    <a:srgbClr val="F57F17"/>
                  </a:solidFill>
                  <a:latin typeface="Arimo"/>
                  <a:ea typeface="Arimo"/>
                  <a:cs typeface="Arimo"/>
                  <a:sym typeface="Arimo"/>
                </a:rPr>
                <a:t> de </a:t>
              </a:r>
              <a:r>
                <a:rPr lang="en-US" sz="1100" dirty="0" err="1">
                  <a:solidFill>
                    <a:srgbClr val="F57F17"/>
                  </a:solidFill>
                  <a:latin typeface="Arimo"/>
                  <a:ea typeface="Arimo"/>
                  <a:cs typeface="Arimo"/>
                  <a:sym typeface="Arimo"/>
                </a:rPr>
                <a:t>Negocio</a:t>
              </a:r>
              <a:r>
                <a:rPr lang="en-US" sz="1100" dirty="0">
                  <a:solidFill>
                    <a:srgbClr val="F57F17"/>
                  </a:solidFill>
                  <a:latin typeface="Arimo"/>
                  <a:ea typeface="Arimo"/>
                  <a:cs typeface="Arimo"/>
                  <a:sym typeface="Arimo"/>
                </a:rPr>
                <a:t> del </a:t>
              </a:r>
              <a:r>
                <a:rPr lang="en-US" sz="1100" dirty="0" err="1">
                  <a:solidFill>
                    <a:srgbClr val="F57F17"/>
                  </a:solidFill>
                  <a:latin typeface="Arimo"/>
                  <a:ea typeface="Arimo"/>
                  <a:cs typeface="Arimo"/>
                  <a:sym typeface="Arimo"/>
                </a:rPr>
                <a:t>Cliente</a:t>
              </a:r>
              <a:endParaRPr lang="en-US" sz="1100" dirty="0">
                <a:solidFill>
                  <a:srgbClr val="F57F17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04578" y="329134"/>
              <a:ext cx="2129894" cy="1778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37494" lvl="1" indent="-118747" algn="l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0D7F5F"/>
                  </a:solidFill>
                  <a:latin typeface="Arimo"/>
                  <a:ea typeface="Arimo"/>
                  <a:cs typeface="Arimo"/>
                  <a:sym typeface="Arimo"/>
                </a:rPr>
                <a:t>Campos Obligatorios</a:t>
              </a:r>
            </a:p>
            <a:p>
              <a:pPr marL="237494" lvl="1" indent="-118747" algn="l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0D7F5F"/>
                  </a:solidFill>
                  <a:latin typeface="Arimo"/>
                  <a:ea typeface="Arimo"/>
                  <a:cs typeface="Arimo"/>
                  <a:sym typeface="Arimo"/>
                </a:rPr>
                <a:t>Formato de correo</a:t>
              </a:r>
            </a:p>
            <a:p>
              <a:pPr marL="237494" lvl="1" indent="-118747" algn="l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0D7F5F"/>
                  </a:solidFill>
                  <a:latin typeface="Arimo"/>
                  <a:ea typeface="Arimo"/>
                  <a:cs typeface="Arimo"/>
                  <a:sym typeface="Arimo"/>
                </a:rPr>
                <a:t>Algoritmo de Rut Chileno</a:t>
              </a:r>
            </a:p>
            <a:p>
              <a:pPr marL="237494" lvl="1" indent="-118747" algn="l">
                <a:lnSpc>
                  <a:spcPts val="15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100">
                  <a:solidFill>
                    <a:srgbClr val="0D7F5F"/>
                  </a:solidFill>
                  <a:latin typeface="Arimo"/>
                  <a:ea typeface="Arimo"/>
                  <a:cs typeface="Arimo"/>
                  <a:sym typeface="Arimo"/>
                </a:rPr>
                <a:t>Verifica coincidencia de contraseñas (Acceso a la app)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052827" y="2299291"/>
            <a:ext cx="251843" cy="251843"/>
            <a:chOff x="0" y="0"/>
            <a:chExt cx="335791" cy="335791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100480" y="18459"/>
              <a:ext cx="99272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6793761" y="2560659"/>
            <a:ext cx="769976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5E17EB"/>
                </a:solidFill>
                <a:latin typeface="Arimo"/>
                <a:ea typeface="Arimo"/>
                <a:cs typeface="Arimo"/>
                <a:sym typeface="Arimo"/>
              </a:rPr>
              <a:t>Valida datos</a:t>
            </a:r>
          </a:p>
        </p:txBody>
      </p:sp>
      <p:grpSp>
        <p:nvGrpSpPr>
          <p:cNvPr id="89" name="Group 89"/>
          <p:cNvGrpSpPr/>
          <p:nvPr/>
        </p:nvGrpSpPr>
        <p:grpSpPr>
          <a:xfrm rot="5400000">
            <a:off x="3796481" y="4326465"/>
            <a:ext cx="512455" cy="134380"/>
            <a:chOff x="0" y="0"/>
            <a:chExt cx="173247" cy="4543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73247" cy="45430"/>
            </a:xfrm>
            <a:custGeom>
              <a:avLst/>
              <a:gdLst/>
              <a:ahLst/>
              <a:cxnLst/>
              <a:rect l="l" t="t" r="r" b="b"/>
              <a:pathLst>
                <a:path w="173247" h="45430">
                  <a:moveTo>
                    <a:pt x="22715" y="0"/>
                  </a:moveTo>
                  <a:lnTo>
                    <a:pt x="150532" y="0"/>
                  </a:lnTo>
                  <a:cubicBezTo>
                    <a:pt x="156556" y="0"/>
                    <a:pt x="162334" y="2393"/>
                    <a:pt x="166593" y="6653"/>
                  </a:cubicBezTo>
                  <a:cubicBezTo>
                    <a:pt x="170853" y="10913"/>
                    <a:pt x="173247" y="16691"/>
                    <a:pt x="173247" y="22715"/>
                  </a:cubicBezTo>
                  <a:lnTo>
                    <a:pt x="173247" y="22715"/>
                  </a:lnTo>
                  <a:cubicBezTo>
                    <a:pt x="173247" y="28739"/>
                    <a:pt x="170853" y="34517"/>
                    <a:pt x="166593" y="38777"/>
                  </a:cubicBezTo>
                  <a:cubicBezTo>
                    <a:pt x="162334" y="43037"/>
                    <a:pt x="156556" y="45430"/>
                    <a:pt x="150532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39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BED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173247" cy="9305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4392864" y="3917525"/>
            <a:ext cx="1867385" cy="251843"/>
            <a:chOff x="0" y="0"/>
            <a:chExt cx="2489846" cy="33579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100480" y="18459"/>
              <a:ext cx="99272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335791" y="36038"/>
              <a:ext cx="2154055" cy="223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>
                  <a:solidFill>
                    <a:srgbClr val="CB286C"/>
                  </a:solidFill>
                  <a:latin typeface="Arimo"/>
                  <a:ea typeface="Arimo"/>
                  <a:cs typeface="Arimo"/>
                  <a:sym typeface="Arimo"/>
                </a:rPr>
                <a:t>Retorna errores de formato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372708" y="3733376"/>
            <a:ext cx="1900105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CB286C"/>
                </a:solidFill>
                <a:latin typeface="Arimo Bold"/>
                <a:ea typeface="Arimo Bold"/>
                <a:cs typeface="Arimo Bold"/>
                <a:sym typeface="Arimo Bold"/>
              </a:rPr>
              <a:t>Si las validaciones fallan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1865334" y="4332384"/>
            <a:ext cx="1704273" cy="317499"/>
            <a:chOff x="0" y="0"/>
            <a:chExt cx="2272364" cy="423333"/>
          </a:xfrm>
        </p:grpSpPr>
        <p:sp>
          <p:nvSpPr>
            <p:cNvPr id="98" name="Freeform 98"/>
            <p:cNvSpPr/>
            <p:nvPr/>
          </p:nvSpPr>
          <p:spPr>
            <a:xfrm>
              <a:off x="0" y="43771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100480" y="62230"/>
              <a:ext cx="99272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5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335791" y="-28575"/>
              <a:ext cx="1936573" cy="451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>
                  <a:solidFill>
                    <a:srgbClr val="CB286C"/>
                  </a:solidFill>
                  <a:latin typeface="Arimo"/>
                  <a:ea typeface="Arimo"/>
                  <a:cs typeface="Arimo"/>
                  <a:sym typeface="Arimo"/>
                </a:rPr>
                <a:t>Muestra alertas visuales en campos especificos</a:t>
              </a:r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1439898" y="4977130"/>
            <a:ext cx="1233355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0D7F5F"/>
                </a:solidFill>
                <a:latin typeface="Arimo Bold"/>
                <a:ea typeface="Arimo Bold"/>
                <a:cs typeface="Arimo Bold"/>
                <a:sym typeface="Arimo Bold"/>
              </a:rPr>
              <a:t>Si todo es valido</a:t>
            </a:r>
          </a:p>
        </p:txBody>
      </p:sp>
      <p:grpSp>
        <p:nvGrpSpPr>
          <p:cNvPr id="102" name="Group 102"/>
          <p:cNvGrpSpPr/>
          <p:nvPr/>
        </p:nvGrpSpPr>
        <p:grpSpPr>
          <a:xfrm rot="5400000">
            <a:off x="1281149" y="4423943"/>
            <a:ext cx="317499" cy="134380"/>
            <a:chOff x="0" y="0"/>
            <a:chExt cx="107338" cy="4543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07338" cy="45430"/>
            </a:xfrm>
            <a:custGeom>
              <a:avLst/>
              <a:gdLst/>
              <a:ahLst/>
              <a:cxnLst/>
              <a:rect l="l" t="t" r="r" b="b"/>
              <a:pathLst>
                <a:path w="107338" h="45430">
                  <a:moveTo>
                    <a:pt x="22715" y="0"/>
                  </a:moveTo>
                  <a:lnTo>
                    <a:pt x="84622" y="0"/>
                  </a:lnTo>
                  <a:cubicBezTo>
                    <a:pt x="90647" y="0"/>
                    <a:pt x="96425" y="2393"/>
                    <a:pt x="100684" y="6653"/>
                  </a:cubicBezTo>
                  <a:cubicBezTo>
                    <a:pt x="104944" y="10913"/>
                    <a:pt x="107338" y="16691"/>
                    <a:pt x="107338" y="22715"/>
                  </a:cubicBezTo>
                  <a:lnTo>
                    <a:pt x="107338" y="22715"/>
                  </a:lnTo>
                  <a:cubicBezTo>
                    <a:pt x="107338" y="28739"/>
                    <a:pt x="104944" y="34517"/>
                    <a:pt x="100684" y="38777"/>
                  </a:cubicBezTo>
                  <a:cubicBezTo>
                    <a:pt x="96425" y="43037"/>
                    <a:pt x="90647" y="45430"/>
                    <a:pt x="84622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39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BED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0" y="-47625"/>
              <a:ext cx="107338" cy="9305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826366" y="8308340"/>
            <a:ext cx="251843" cy="251843"/>
            <a:chOff x="0" y="0"/>
            <a:chExt cx="335791" cy="335791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18459"/>
              <a:ext cx="335791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13</a:t>
              </a:r>
            </a:p>
          </p:txBody>
        </p:sp>
      </p:grpSp>
      <p:sp>
        <p:nvSpPr>
          <p:cNvPr id="108" name="TextBox 108"/>
          <p:cNvSpPr txBox="1"/>
          <p:nvPr/>
        </p:nvSpPr>
        <p:spPr>
          <a:xfrm>
            <a:off x="2156146" y="8246937"/>
            <a:ext cx="1452430" cy="34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Visualiza confirmación de creación del conductor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4322020" y="8308340"/>
            <a:ext cx="251843" cy="251843"/>
            <a:chOff x="0" y="0"/>
            <a:chExt cx="335791" cy="335791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18459"/>
              <a:ext cx="335791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12</a:t>
              </a:r>
            </a:p>
          </p:txBody>
        </p:sp>
      </p:grpSp>
      <p:sp>
        <p:nvSpPr>
          <p:cNvPr id="112" name="TextBox 112"/>
          <p:cNvSpPr txBox="1"/>
          <p:nvPr/>
        </p:nvSpPr>
        <p:spPr>
          <a:xfrm>
            <a:off x="4619026" y="8246937"/>
            <a:ext cx="1793985" cy="34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Muestra notificación de exito y limpia o redirige el formulario</a:t>
            </a:r>
          </a:p>
        </p:txBody>
      </p:sp>
      <p:grpSp>
        <p:nvGrpSpPr>
          <p:cNvPr id="113" name="Group 113"/>
          <p:cNvGrpSpPr/>
          <p:nvPr/>
        </p:nvGrpSpPr>
        <p:grpSpPr>
          <a:xfrm>
            <a:off x="6835359" y="8368605"/>
            <a:ext cx="251843" cy="251843"/>
            <a:chOff x="0" y="0"/>
            <a:chExt cx="335791" cy="335791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18459"/>
              <a:ext cx="335791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11</a:t>
              </a:r>
            </a:p>
          </p:txBody>
        </p:sp>
      </p:grpSp>
      <p:sp>
        <p:nvSpPr>
          <p:cNvPr id="116" name="TextBox 116"/>
          <p:cNvSpPr txBox="1"/>
          <p:nvPr/>
        </p:nvSpPr>
        <p:spPr>
          <a:xfrm>
            <a:off x="7087202" y="8385559"/>
            <a:ext cx="1793985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Retorna exito de la operacion</a:t>
            </a:r>
          </a:p>
        </p:txBody>
      </p:sp>
      <p:grpSp>
        <p:nvGrpSpPr>
          <p:cNvPr id="117" name="Group 117"/>
          <p:cNvGrpSpPr/>
          <p:nvPr/>
        </p:nvGrpSpPr>
        <p:grpSpPr>
          <a:xfrm>
            <a:off x="6926906" y="5065179"/>
            <a:ext cx="251843" cy="251843"/>
            <a:chOff x="0" y="0"/>
            <a:chExt cx="335791" cy="335791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18459"/>
              <a:ext cx="335791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6</a:t>
              </a:r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7178749" y="5003775"/>
            <a:ext cx="1793985" cy="34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Invoca metodo de creacion de conductor </a:t>
            </a:r>
          </a:p>
        </p:txBody>
      </p:sp>
      <p:grpSp>
        <p:nvGrpSpPr>
          <p:cNvPr id="121" name="Group 121"/>
          <p:cNvGrpSpPr/>
          <p:nvPr/>
        </p:nvGrpSpPr>
        <p:grpSpPr>
          <a:xfrm rot="5400000">
            <a:off x="1220189" y="8619609"/>
            <a:ext cx="439419" cy="134380"/>
            <a:chOff x="0" y="0"/>
            <a:chExt cx="148555" cy="4543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48555" cy="45430"/>
            </a:xfrm>
            <a:custGeom>
              <a:avLst/>
              <a:gdLst/>
              <a:ahLst/>
              <a:cxnLst/>
              <a:rect l="l" t="t" r="r" b="b"/>
              <a:pathLst>
                <a:path w="148555" h="45430">
                  <a:moveTo>
                    <a:pt x="22715" y="0"/>
                  </a:moveTo>
                  <a:lnTo>
                    <a:pt x="125840" y="0"/>
                  </a:lnTo>
                  <a:cubicBezTo>
                    <a:pt x="131865" y="0"/>
                    <a:pt x="137642" y="2393"/>
                    <a:pt x="141902" y="6653"/>
                  </a:cubicBezTo>
                  <a:cubicBezTo>
                    <a:pt x="146162" y="10913"/>
                    <a:pt x="148555" y="16691"/>
                    <a:pt x="148555" y="22715"/>
                  </a:cubicBezTo>
                  <a:lnTo>
                    <a:pt x="148555" y="22715"/>
                  </a:lnTo>
                  <a:cubicBezTo>
                    <a:pt x="148555" y="28739"/>
                    <a:pt x="146162" y="34517"/>
                    <a:pt x="141902" y="38777"/>
                  </a:cubicBezTo>
                  <a:cubicBezTo>
                    <a:pt x="137642" y="43037"/>
                    <a:pt x="131865" y="45430"/>
                    <a:pt x="125840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39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BED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0" y="-47625"/>
              <a:ext cx="148555" cy="9305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 rot="5400000">
            <a:off x="3832999" y="8619609"/>
            <a:ext cx="439419" cy="134380"/>
            <a:chOff x="0" y="0"/>
            <a:chExt cx="148555" cy="4543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48555" cy="45430"/>
            </a:xfrm>
            <a:custGeom>
              <a:avLst/>
              <a:gdLst/>
              <a:ahLst/>
              <a:cxnLst/>
              <a:rect l="l" t="t" r="r" b="b"/>
              <a:pathLst>
                <a:path w="148555" h="45430">
                  <a:moveTo>
                    <a:pt x="22715" y="0"/>
                  </a:moveTo>
                  <a:lnTo>
                    <a:pt x="125840" y="0"/>
                  </a:lnTo>
                  <a:cubicBezTo>
                    <a:pt x="131865" y="0"/>
                    <a:pt x="137642" y="2393"/>
                    <a:pt x="141902" y="6653"/>
                  </a:cubicBezTo>
                  <a:cubicBezTo>
                    <a:pt x="146162" y="10913"/>
                    <a:pt x="148555" y="16691"/>
                    <a:pt x="148555" y="22715"/>
                  </a:cubicBezTo>
                  <a:lnTo>
                    <a:pt x="148555" y="22715"/>
                  </a:lnTo>
                  <a:cubicBezTo>
                    <a:pt x="148555" y="28739"/>
                    <a:pt x="146162" y="34517"/>
                    <a:pt x="141902" y="38777"/>
                  </a:cubicBezTo>
                  <a:cubicBezTo>
                    <a:pt x="137642" y="43037"/>
                    <a:pt x="131865" y="45430"/>
                    <a:pt x="125840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39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BED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0" y="-47625"/>
              <a:ext cx="148555" cy="9305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7" name="Group 127"/>
          <p:cNvGrpSpPr/>
          <p:nvPr/>
        </p:nvGrpSpPr>
        <p:grpSpPr>
          <a:xfrm rot="5400000">
            <a:off x="6409858" y="8622643"/>
            <a:ext cx="439419" cy="128313"/>
            <a:chOff x="0" y="0"/>
            <a:chExt cx="148555" cy="43379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48555" cy="43379"/>
            </a:xfrm>
            <a:custGeom>
              <a:avLst/>
              <a:gdLst/>
              <a:ahLst/>
              <a:cxnLst/>
              <a:rect l="l" t="t" r="r" b="b"/>
              <a:pathLst>
                <a:path w="148555" h="43379">
                  <a:moveTo>
                    <a:pt x="21690" y="0"/>
                  </a:moveTo>
                  <a:lnTo>
                    <a:pt x="126866" y="0"/>
                  </a:lnTo>
                  <a:cubicBezTo>
                    <a:pt x="132618" y="0"/>
                    <a:pt x="138135" y="2285"/>
                    <a:pt x="142203" y="6353"/>
                  </a:cubicBezTo>
                  <a:cubicBezTo>
                    <a:pt x="146270" y="10420"/>
                    <a:pt x="148555" y="15937"/>
                    <a:pt x="148555" y="21690"/>
                  </a:cubicBezTo>
                  <a:lnTo>
                    <a:pt x="148555" y="21690"/>
                  </a:lnTo>
                  <a:cubicBezTo>
                    <a:pt x="148555" y="27442"/>
                    <a:pt x="146270" y="32959"/>
                    <a:pt x="142203" y="37026"/>
                  </a:cubicBezTo>
                  <a:cubicBezTo>
                    <a:pt x="138135" y="41094"/>
                    <a:pt x="132618" y="43379"/>
                    <a:pt x="126866" y="43379"/>
                  </a:cubicBezTo>
                  <a:lnTo>
                    <a:pt x="21690" y="43379"/>
                  </a:lnTo>
                  <a:cubicBezTo>
                    <a:pt x="15937" y="43379"/>
                    <a:pt x="10420" y="41094"/>
                    <a:pt x="6353" y="37026"/>
                  </a:cubicBezTo>
                  <a:cubicBezTo>
                    <a:pt x="2285" y="32959"/>
                    <a:pt x="0" y="27442"/>
                    <a:pt x="0" y="21690"/>
                  </a:cubicBezTo>
                  <a:lnTo>
                    <a:pt x="0" y="21690"/>
                  </a:lnTo>
                  <a:cubicBezTo>
                    <a:pt x="0" y="15937"/>
                    <a:pt x="2285" y="10420"/>
                    <a:pt x="6353" y="6353"/>
                  </a:cubicBezTo>
                  <a:cubicBezTo>
                    <a:pt x="10420" y="2285"/>
                    <a:pt x="15937" y="0"/>
                    <a:pt x="21690" y="0"/>
                  </a:cubicBezTo>
                  <a:close/>
                </a:path>
              </a:pathLst>
            </a:custGeom>
            <a:solidFill>
              <a:srgbClr val="F7DBFF"/>
            </a:solidFill>
            <a:ln w="19050" cap="sq">
              <a:solidFill>
                <a:srgbClr val="8C52FF"/>
              </a:solidFill>
              <a:prstDash val="solid"/>
              <a:miter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0" y="-47625"/>
              <a:ext cx="148555" cy="91004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30" name="Group 130"/>
          <p:cNvGrpSpPr/>
          <p:nvPr/>
        </p:nvGrpSpPr>
        <p:grpSpPr>
          <a:xfrm rot="5400000">
            <a:off x="6175836" y="5420314"/>
            <a:ext cx="904239" cy="128313"/>
            <a:chOff x="0" y="0"/>
            <a:chExt cx="305698" cy="43379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305698" cy="43379"/>
            </a:xfrm>
            <a:custGeom>
              <a:avLst/>
              <a:gdLst/>
              <a:ahLst/>
              <a:cxnLst/>
              <a:rect l="l" t="t" r="r" b="b"/>
              <a:pathLst>
                <a:path w="305698" h="43379">
                  <a:moveTo>
                    <a:pt x="21690" y="0"/>
                  </a:moveTo>
                  <a:lnTo>
                    <a:pt x="284008" y="0"/>
                  </a:lnTo>
                  <a:cubicBezTo>
                    <a:pt x="289761" y="0"/>
                    <a:pt x="295277" y="2285"/>
                    <a:pt x="299345" y="6353"/>
                  </a:cubicBezTo>
                  <a:cubicBezTo>
                    <a:pt x="303413" y="10420"/>
                    <a:pt x="305698" y="15937"/>
                    <a:pt x="305698" y="21690"/>
                  </a:cubicBezTo>
                  <a:lnTo>
                    <a:pt x="305698" y="21690"/>
                  </a:lnTo>
                  <a:cubicBezTo>
                    <a:pt x="305698" y="27442"/>
                    <a:pt x="303413" y="32959"/>
                    <a:pt x="299345" y="37026"/>
                  </a:cubicBezTo>
                  <a:cubicBezTo>
                    <a:pt x="295277" y="41094"/>
                    <a:pt x="289761" y="43379"/>
                    <a:pt x="284008" y="43379"/>
                  </a:cubicBezTo>
                  <a:lnTo>
                    <a:pt x="21690" y="43379"/>
                  </a:lnTo>
                  <a:cubicBezTo>
                    <a:pt x="15937" y="43379"/>
                    <a:pt x="10420" y="41094"/>
                    <a:pt x="6353" y="37026"/>
                  </a:cubicBezTo>
                  <a:cubicBezTo>
                    <a:pt x="2285" y="32959"/>
                    <a:pt x="0" y="27442"/>
                    <a:pt x="0" y="21690"/>
                  </a:cubicBezTo>
                  <a:lnTo>
                    <a:pt x="0" y="21690"/>
                  </a:lnTo>
                  <a:cubicBezTo>
                    <a:pt x="0" y="15937"/>
                    <a:pt x="2285" y="10420"/>
                    <a:pt x="6353" y="6353"/>
                  </a:cubicBezTo>
                  <a:cubicBezTo>
                    <a:pt x="10420" y="2285"/>
                    <a:pt x="15937" y="0"/>
                    <a:pt x="21690" y="0"/>
                  </a:cubicBezTo>
                  <a:close/>
                </a:path>
              </a:pathLst>
            </a:custGeom>
            <a:solidFill>
              <a:srgbClr val="F7DBFF"/>
            </a:solidFill>
            <a:ln w="19050" cap="sq">
              <a:solidFill>
                <a:srgbClr val="8C52FF"/>
              </a:solidFill>
              <a:prstDash val="solid"/>
              <a:miter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0" y="-47625"/>
              <a:ext cx="305698" cy="91004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3" name="Freeform 133"/>
          <p:cNvSpPr/>
          <p:nvPr/>
        </p:nvSpPr>
        <p:spPr>
          <a:xfrm>
            <a:off x="1507088" y="2589234"/>
            <a:ext cx="2478430" cy="408114"/>
          </a:xfrm>
          <a:custGeom>
            <a:avLst/>
            <a:gdLst/>
            <a:ahLst/>
            <a:cxnLst/>
            <a:rect l="l" t="t" r="r" b="b"/>
            <a:pathLst>
              <a:path w="2478430" h="408114">
                <a:moveTo>
                  <a:pt x="0" y="0"/>
                </a:moveTo>
                <a:lnTo>
                  <a:pt x="978870" y="0"/>
                </a:lnTo>
                <a:cubicBezTo>
                  <a:pt x="1091568" y="0"/>
                  <a:pt x="1182927" y="91360"/>
                  <a:pt x="1182927" y="204057"/>
                </a:cubicBezTo>
                <a:lnTo>
                  <a:pt x="1182927" y="204057"/>
                </a:lnTo>
                <a:cubicBezTo>
                  <a:pt x="1182927" y="316755"/>
                  <a:pt x="1274286" y="408114"/>
                  <a:pt x="1386984" y="408114"/>
                </a:cubicBezTo>
                <a:lnTo>
                  <a:pt x="2478430" y="408114"/>
                </a:lnTo>
              </a:path>
            </a:pathLst>
          </a:custGeom>
          <a:ln w="19050" cap="flat">
            <a:solidFill>
              <a:srgbClr val="1578D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4" name="Freeform 134"/>
          <p:cNvSpPr/>
          <p:nvPr/>
        </p:nvSpPr>
        <p:spPr>
          <a:xfrm flipV="1">
            <a:off x="4140907" y="2983281"/>
            <a:ext cx="2422893" cy="45719"/>
          </a:xfrm>
          <a:custGeom>
            <a:avLst/>
            <a:gdLst/>
            <a:ahLst/>
            <a:cxnLst/>
            <a:rect l="l" t="t" r="r" b="b"/>
            <a:pathLst>
              <a:path w="1229379">
                <a:moveTo>
                  <a:pt x="0" y="0"/>
                </a:moveTo>
                <a:lnTo>
                  <a:pt x="1229378" y="0"/>
                </a:lnTo>
              </a:path>
            </a:pathLst>
          </a:custGeom>
          <a:ln w="19050" cap="flat">
            <a:solidFill>
              <a:srgbClr val="1578D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5" name="Freeform 135"/>
          <p:cNvSpPr/>
          <p:nvPr/>
        </p:nvSpPr>
        <p:spPr>
          <a:xfrm>
            <a:off x="6692112" y="2785676"/>
            <a:ext cx="724219" cy="628972"/>
          </a:xfrm>
          <a:custGeom>
            <a:avLst/>
            <a:gdLst/>
            <a:ahLst/>
            <a:cxnLst/>
            <a:rect l="l" t="t" r="r" b="b"/>
            <a:pathLst>
              <a:path w="724219" h="628972">
                <a:moveTo>
                  <a:pt x="0" y="0"/>
                </a:moveTo>
                <a:lnTo>
                  <a:pt x="495620" y="0"/>
                </a:lnTo>
                <a:cubicBezTo>
                  <a:pt x="556249" y="0"/>
                  <a:pt x="614394" y="24084"/>
                  <a:pt x="657264" y="66955"/>
                </a:cubicBezTo>
                <a:cubicBezTo>
                  <a:pt x="700135" y="109826"/>
                  <a:pt x="724220" y="167971"/>
                  <a:pt x="724220" y="228600"/>
                </a:cubicBezTo>
                <a:lnTo>
                  <a:pt x="724220" y="400372"/>
                </a:lnTo>
                <a:cubicBezTo>
                  <a:pt x="724220" y="526624"/>
                  <a:pt x="621872" y="628972"/>
                  <a:pt x="495620" y="628972"/>
                </a:cubicBezTo>
                <a:lnTo>
                  <a:pt x="1613" y="628972"/>
                </a:lnTo>
              </a:path>
            </a:pathLst>
          </a:custGeom>
          <a:ln w="19050" cap="flat">
            <a:solidFill>
              <a:srgbClr val="5E17EB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6" name="Freeform 136"/>
          <p:cNvSpPr/>
          <p:nvPr/>
        </p:nvSpPr>
        <p:spPr>
          <a:xfrm>
            <a:off x="4226839" y="4206016"/>
            <a:ext cx="2401117" cy="187640"/>
          </a:xfrm>
          <a:custGeom>
            <a:avLst/>
            <a:gdLst/>
            <a:ahLst/>
            <a:cxnLst/>
            <a:rect l="l" t="t" r="r" b="b"/>
            <a:pathLst>
              <a:path w="2401117" h="187640">
                <a:moveTo>
                  <a:pt x="2401117" y="0"/>
                </a:moveTo>
                <a:lnTo>
                  <a:pt x="1490434" y="0"/>
                </a:lnTo>
                <a:cubicBezTo>
                  <a:pt x="1438618" y="0"/>
                  <a:pt x="1396614" y="42004"/>
                  <a:pt x="1396614" y="93820"/>
                </a:cubicBezTo>
                <a:lnTo>
                  <a:pt x="1396614" y="93820"/>
                </a:lnTo>
                <a:cubicBezTo>
                  <a:pt x="1396614" y="145635"/>
                  <a:pt x="1354609" y="187639"/>
                  <a:pt x="1302794" y="187639"/>
                </a:cubicBezTo>
                <a:lnTo>
                  <a:pt x="0" y="187639"/>
                </a:lnTo>
              </a:path>
            </a:pathLst>
          </a:custGeom>
          <a:ln w="19050" cap="flat">
            <a:solidFill>
              <a:srgbClr val="CB286C"/>
            </a:solidFill>
            <a:prstDash val="lgDash"/>
            <a:headEnd type="none" w="sm" len="sm"/>
            <a:tailEnd type="triangle" w="lg" len="med"/>
          </a:ln>
        </p:spPr>
      </p:sp>
      <p:sp>
        <p:nvSpPr>
          <p:cNvPr id="137" name="Freeform 137"/>
          <p:cNvSpPr/>
          <p:nvPr/>
        </p:nvSpPr>
        <p:spPr>
          <a:xfrm>
            <a:off x="1539548" y="4269356"/>
            <a:ext cx="2445971" cy="255182"/>
          </a:xfrm>
          <a:custGeom>
            <a:avLst/>
            <a:gdLst/>
            <a:ahLst/>
            <a:cxnLst/>
            <a:rect l="l" t="t" r="r" b="b"/>
            <a:pathLst>
              <a:path w="2445971" h="255182">
                <a:moveTo>
                  <a:pt x="2445970" y="182880"/>
                </a:moveTo>
                <a:lnTo>
                  <a:pt x="2202131" y="182880"/>
                </a:lnTo>
                <a:cubicBezTo>
                  <a:pt x="2151629" y="182880"/>
                  <a:pt x="2110690" y="141941"/>
                  <a:pt x="2110690" y="91440"/>
                </a:cubicBezTo>
                <a:lnTo>
                  <a:pt x="2110690" y="91440"/>
                </a:lnTo>
                <a:cubicBezTo>
                  <a:pt x="2110690" y="40939"/>
                  <a:pt x="2069751" y="0"/>
                  <a:pt x="2019251" y="0"/>
                </a:cubicBezTo>
                <a:lnTo>
                  <a:pt x="390056" y="0"/>
                </a:lnTo>
                <a:cubicBezTo>
                  <a:pt x="319589" y="0"/>
                  <a:pt x="262464" y="57124"/>
                  <a:pt x="262464" y="127591"/>
                </a:cubicBezTo>
                <a:lnTo>
                  <a:pt x="262464" y="127591"/>
                </a:lnTo>
                <a:cubicBezTo>
                  <a:pt x="262464" y="198058"/>
                  <a:pt x="205340" y="255182"/>
                  <a:pt x="134873" y="255182"/>
                </a:cubicBezTo>
                <a:lnTo>
                  <a:pt x="0" y="255182"/>
                </a:lnTo>
              </a:path>
            </a:pathLst>
          </a:custGeom>
          <a:ln w="19050" cap="flat">
            <a:solidFill>
              <a:srgbClr val="CB286C"/>
            </a:solidFill>
            <a:prstDash val="lgDash"/>
            <a:headEnd type="none" w="sm" len="sm"/>
            <a:tailEnd type="triangle" w="lg" len="med"/>
          </a:ln>
        </p:spPr>
      </p:sp>
      <p:sp>
        <p:nvSpPr>
          <p:cNvPr id="138" name="Freeform 138"/>
          <p:cNvSpPr/>
          <p:nvPr/>
        </p:nvSpPr>
        <p:spPr>
          <a:xfrm flipV="1">
            <a:off x="1507088" y="8641080"/>
            <a:ext cx="2478429" cy="45719"/>
          </a:xfrm>
          <a:custGeom>
            <a:avLst/>
            <a:gdLst/>
            <a:ahLst/>
            <a:cxnLst/>
            <a:rect l="l" t="t" r="r" b="b"/>
            <a:pathLst>
              <a:path w="1239215">
                <a:moveTo>
                  <a:pt x="1239215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1578D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9" name="Freeform 139"/>
          <p:cNvSpPr/>
          <p:nvPr/>
        </p:nvSpPr>
        <p:spPr>
          <a:xfrm>
            <a:off x="4119899" y="8686798"/>
            <a:ext cx="2452753" cy="45719"/>
          </a:xfrm>
          <a:custGeom>
            <a:avLst/>
            <a:gdLst/>
            <a:ahLst/>
            <a:cxnLst/>
            <a:rect l="l" t="t" r="r" b="b"/>
            <a:pathLst>
              <a:path w="1221951">
                <a:moveTo>
                  <a:pt x="1221950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90CDFC"/>
            </a:solidFill>
            <a:prstDash val="lgDash"/>
            <a:headEnd type="none" w="sm" len="sm"/>
            <a:tailEnd type="triangle" w="lg" len="med"/>
          </a:ln>
        </p:spPr>
      </p:sp>
      <p:grpSp>
        <p:nvGrpSpPr>
          <p:cNvPr id="140" name="Group 140"/>
          <p:cNvGrpSpPr/>
          <p:nvPr/>
        </p:nvGrpSpPr>
        <p:grpSpPr>
          <a:xfrm rot="-10800000">
            <a:off x="8972734" y="5096510"/>
            <a:ext cx="8641336" cy="3875153"/>
            <a:chOff x="0" y="0"/>
            <a:chExt cx="2921390" cy="1310079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2921390" cy="1310079"/>
            </a:xfrm>
            <a:custGeom>
              <a:avLst/>
              <a:gdLst/>
              <a:ahLst/>
              <a:cxnLst/>
              <a:rect l="l" t="t" r="r" b="b"/>
              <a:pathLst>
                <a:path w="2921390" h="1310079">
                  <a:moveTo>
                    <a:pt x="13439" y="0"/>
                  </a:moveTo>
                  <a:lnTo>
                    <a:pt x="2907951" y="0"/>
                  </a:lnTo>
                  <a:cubicBezTo>
                    <a:pt x="2915373" y="0"/>
                    <a:pt x="2921390" y="6017"/>
                    <a:pt x="2921390" y="13439"/>
                  </a:cubicBezTo>
                  <a:lnTo>
                    <a:pt x="2921390" y="1296640"/>
                  </a:lnTo>
                  <a:cubicBezTo>
                    <a:pt x="2921390" y="1300204"/>
                    <a:pt x="2919974" y="1303623"/>
                    <a:pt x="2917454" y="1306143"/>
                  </a:cubicBezTo>
                  <a:cubicBezTo>
                    <a:pt x="2914934" y="1308663"/>
                    <a:pt x="2911515" y="1310079"/>
                    <a:pt x="2907951" y="1310079"/>
                  </a:cubicBezTo>
                  <a:lnTo>
                    <a:pt x="13439" y="1310079"/>
                  </a:lnTo>
                  <a:cubicBezTo>
                    <a:pt x="9875" y="1310079"/>
                    <a:pt x="6456" y="1308663"/>
                    <a:pt x="3936" y="1306143"/>
                  </a:cubicBezTo>
                  <a:cubicBezTo>
                    <a:pt x="1416" y="1303623"/>
                    <a:pt x="0" y="1300204"/>
                    <a:pt x="0" y="1296640"/>
                  </a:cubicBezTo>
                  <a:lnTo>
                    <a:pt x="0" y="13439"/>
                  </a:lnTo>
                  <a:cubicBezTo>
                    <a:pt x="0" y="9875"/>
                    <a:pt x="1416" y="6456"/>
                    <a:pt x="3936" y="3936"/>
                  </a:cubicBezTo>
                  <a:cubicBezTo>
                    <a:pt x="6456" y="1416"/>
                    <a:pt x="9875" y="0"/>
                    <a:pt x="13439" y="0"/>
                  </a:cubicBezTo>
                  <a:close/>
                </a:path>
              </a:pathLst>
            </a:custGeom>
            <a:solidFill>
              <a:srgbClr val="EEF6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0" y="-47625"/>
              <a:ext cx="2921390" cy="1357704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3" name="AutoShape 143"/>
          <p:cNvSpPr/>
          <p:nvPr/>
        </p:nvSpPr>
        <p:spPr>
          <a:xfrm>
            <a:off x="16924734" y="1872457"/>
            <a:ext cx="0" cy="7294347"/>
          </a:xfrm>
          <a:prstGeom prst="line">
            <a:avLst/>
          </a:prstGeom>
          <a:ln w="19050" cap="flat">
            <a:solidFill>
              <a:srgbClr val="8C52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44" name="AutoShape 144"/>
          <p:cNvSpPr/>
          <p:nvPr/>
        </p:nvSpPr>
        <p:spPr>
          <a:xfrm>
            <a:off x="14337744" y="1872457"/>
            <a:ext cx="0" cy="7294347"/>
          </a:xfrm>
          <a:prstGeom prst="line">
            <a:avLst/>
          </a:prstGeom>
          <a:ln w="19050" cap="flat">
            <a:solidFill>
              <a:srgbClr val="90CDFC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45" name="AutoShape 145"/>
          <p:cNvSpPr/>
          <p:nvPr/>
        </p:nvSpPr>
        <p:spPr>
          <a:xfrm>
            <a:off x="11743134" y="1872457"/>
            <a:ext cx="0" cy="7294347"/>
          </a:xfrm>
          <a:prstGeom prst="line">
            <a:avLst/>
          </a:prstGeom>
          <a:ln w="19050" cap="flat">
            <a:solidFill>
              <a:srgbClr val="D97534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46" name="AutoShape 146"/>
          <p:cNvSpPr/>
          <p:nvPr/>
        </p:nvSpPr>
        <p:spPr>
          <a:xfrm flipH="1">
            <a:off x="9148762" y="1892744"/>
            <a:ext cx="0" cy="7274060"/>
          </a:xfrm>
          <a:prstGeom prst="line">
            <a:avLst/>
          </a:prstGeom>
          <a:ln w="19050" cap="flat">
            <a:solidFill>
              <a:srgbClr val="81D7B8"/>
            </a:solidFill>
            <a:prstDash val="lgDash"/>
            <a:headEnd type="none" w="sm" len="sm"/>
            <a:tailEnd type="none" w="sm" len="sm"/>
          </a:ln>
        </p:spPr>
      </p:sp>
      <p:grpSp>
        <p:nvGrpSpPr>
          <p:cNvPr id="147" name="Group 147"/>
          <p:cNvGrpSpPr/>
          <p:nvPr/>
        </p:nvGrpSpPr>
        <p:grpSpPr>
          <a:xfrm rot="5400000">
            <a:off x="8764406" y="5664509"/>
            <a:ext cx="759188" cy="129870"/>
            <a:chOff x="0" y="0"/>
            <a:chExt cx="256660" cy="43905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256660" cy="43905"/>
            </a:xfrm>
            <a:custGeom>
              <a:avLst/>
              <a:gdLst/>
              <a:ahLst/>
              <a:cxnLst/>
              <a:rect l="l" t="t" r="r" b="b"/>
              <a:pathLst>
                <a:path w="256660" h="43905">
                  <a:moveTo>
                    <a:pt x="21953" y="0"/>
                  </a:moveTo>
                  <a:lnTo>
                    <a:pt x="234707" y="0"/>
                  </a:lnTo>
                  <a:cubicBezTo>
                    <a:pt x="240529" y="0"/>
                    <a:pt x="246113" y="2313"/>
                    <a:pt x="250230" y="6430"/>
                  </a:cubicBezTo>
                  <a:cubicBezTo>
                    <a:pt x="254347" y="10547"/>
                    <a:pt x="256660" y="16130"/>
                    <a:pt x="256660" y="21953"/>
                  </a:cubicBezTo>
                  <a:lnTo>
                    <a:pt x="256660" y="21953"/>
                  </a:lnTo>
                  <a:cubicBezTo>
                    <a:pt x="256660" y="27775"/>
                    <a:pt x="254347" y="33359"/>
                    <a:pt x="250230" y="37475"/>
                  </a:cubicBezTo>
                  <a:cubicBezTo>
                    <a:pt x="246113" y="41592"/>
                    <a:pt x="240529" y="43905"/>
                    <a:pt x="234707" y="43905"/>
                  </a:cubicBezTo>
                  <a:lnTo>
                    <a:pt x="21953" y="43905"/>
                  </a:lnTo>
                  <a:cubicBezTo>
                    <a:pt x="16130" y="43905"/>
                    <a:pt x="10547" y="41592"/>
                    <a:pt x="6430" y="37475"/>
                  </a:cubicBezTo>
                  <a:cubicBezTo>
                    <a:pt x="2313" y="33359"/>
                    <a:pt x="0" y="27775"/>
                    <a:pt x="0" y="21953"/>
                  </a:cubicBezTo>
                  <a:lnTo>
                    <a:pt x="0" y="21953"/>
                  </a:lnTo>
                  <a:cubicBezTo>
                    <a:pt x="0" y="16130"/>
                    <a:pt x="2313" y="10547"/>
                    <a:pt x="6430" y="6430"/>
                  </a:cubicBezTo>
                  <a:cubicBezTo>
                    <a:pt x="10547" y="2313"/>
                    <a:pt x="16130" y="0"/>
                    <a:pt x="21953" y="0"/>
                  </a:cubicBezTo>
                  <a:close/>
                </a:path>
              </a:pathLst>
            </a:custGeom>
            <a:solidFill>
              <a:srgbClr val="DDF6EC"/>
            </a:solidFill>
            <a:ln w="19050" cap="sq">
              <a:solidFill>
                <a:srgbClr val="81D7B8"/>
              </a:solidFill>
              <a:prstDash val="solid"/>
              <a:miter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0" y="-47625"/>
              <a:ext cx="256660" cy="91530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9330257" y="5223928"/>
            <a:ext cx="251843" cy="251843"/>
            <a:chOff x="0" y="0"/>
            <a:chExt cx="335791" cy="335791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2" name="TextBox 152"/>
            <p:cNvSpPr txBox="1"/>
            <p:nvPr/>
          </p:nvSpPr>
          <p:spPr>
            <a:xfrm>
              <a:off x="0" y="18459"/>
              <a:ext cx="335791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7</a:t>
              </a:r>
            </a:p>
          </p:txBody>
        </p:sp>
      </p:grpSp>
      <p:sp>
        <p:nvSpPr>
          <p:cNvPr id="153" name="TextBox 153"/>
          <p:cNvSpPr txBox="1"/>
          <p:nvPr/>
        </p:nvSpPr>
        <p:spPr>
          <a:xfrm>
            <a:off x="9582101" y="5162525"/>
            <a:ext cx="1793985" cy="34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Crea usuario en auth.users (Email + contraseña)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9847381" y="5700869"/>
            <a:ext cx="1497290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Retorna auth_id (UUID)</a:t>
            </a:r>
          </a:p>
        </p:txBody>
      </p:sp>
      <p:grpSp>
        <p:nvGrpSpPr>
          <p:cNvPr id="155" name="Group 155"/>
          <p:cNvGrpSpPr/>
          <p:nvPr/>
        </p:nvGrpSpPr>
        <p:grpSpPr>
          <a:xfrm>
            <a:off x="7996176" y="6091968"/>
            <a:ext cx="9475018" cy="1722737"/>
            <a:chOff x="0" y="0"/>
            <a:chExt cx="12633358" cy="2296982"/>
          </a:xfrm>
        </p:grpSpPr>
        <p:grpSp>
          <p:nvGrpSpPr>
            <p:cNvPr id="156" name="Group 156"/>
            <p:cNvGrpSpPr/>
            <p:nvPr/>
          </p:nvGrpSpPr>
          <p:grpSpPr>
            <a:xfrm rot="-10800000">
              <a:off x="0" y="0"/>
              <a:ext cx="12633358" cy="2296982"/>
              <a:chOff x="0" y="0"/>
              <a:chExt cx="3203234" cy="582408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3203234" cy="582408"/>
              </a:xfrm>
              <a:custGeom>
                <a:avLst/>
                <a:gdLst/>
                <a:ahLst/>
                <a:cxnLst/>
                <a:rect l="l" t="t" r="r" b="b"/>
                <a:pathLst>
                  <a:path w="3203234" h="582408">
                    <a:moveTo>
                      <a:pt x="12256" y="0"/>
                    </a:moveTo>
                    <a:lnTo>
                      <a:pt x="3190978" y="0"/>
                    </a:lnTo>
                    <a:cubicBezTo>
                      <a:pt x="3194228" y="0"/>
                      <a:pt x="3197346" y="1291"/>
                      <a:pt x="3199644" y="3590"/>
                    </a:cubicBezTo>
                    <a:cubicBezTo>
                      <a:pt x="3201943" y="5888"/>
                      <a:pt x="3203234" y="9006"/>
                      <a:pt x="3203234" y="12256"/>
                    </a:cubicBezTo>
                    <a:lnTo>
                      <a:pt x="3203234" y="570152"/>
                    </a:lnTo>
                    <a:cubicBezTo>
                      <a:pt x="3203234" y="573403"/>
                      <a:pt x="3201943" y="576520"/>
                      <a:pt x="3199644" y="578818"/>
                    </a:cubicBezTo>
                    <a:cubicBezTo>
                      <a:pt x="3197346" y="581117"/>
                      <a:pt x="3194228" y="582408"/>
                      <a:pt x="3190978" y="582408"/>
                    </a:cubicBezTo>
                    <a:lnTo>
                      <a:pt x="12256" y="582408"/>
                    </a:lnTo>
                    <a:cubicBezTo>
                      <a:pt x="9006" y="582408"/>
                      <a:pt x="5888" y="581117"/>
                      <a:pt x="3590" y="578818"/>
                    </a:cubicBezTo>
                    <a:cubicBezTo>
                      <a:pt x="1291" y="576520"/>
                      <a:pt x="0" y="573403"/>
                      <a:pt x="0" y="570152"/>
                    </a:cubicBezTo>
                    <a:lnTo>
                      <a:pt x="0" y="12256"/>
                    </a:lnTo>
                    <a:cubicBezTo>
                      <a:pt x="0" y="9006"/>
                      <a:pt x="1291" y="5888"/>
                      <a:pt x="3590" y="3590"/>
                    </a:cubicBezTo>
                    <a:cubicBezTo>
                      <a:pt x="5888" y="1291"/>
                      <a:pt x="9006" y="0"/>
                      <a:pt x="12256" y="0"/>
                    </a:cubicBezTo>
                    <a:close/>
                  </a:path>
                </a:pathLst>
              </a:custGeom>
              <a:solidFill>
                <a:srgbClr val="EEF6FF"/>
              </a:solidFill>
              <a:ln w="19050" cap="sq">
                <a:solidFill>
                  <a:srgbClr val="90CDFC"/>
                </a:solidFill>
                <a:prstDash val="solid"/>
                <a:miter/>
              </a:ln>
            </p:spPr>
          </p:sp>
          <p:sp>
            <p:nvSpPr>
              <p:cNvPr id="158" name="TextBox 158"/>
              <p:cNvSpPr txBox="1"/>
              <p:nvPr/>
            </p:nvSpPr>
            <p:spPr>
              <a:xfrm>
                <a:off x="0" y="-47625"/>
                <a:ext cx="3203234" cy="630033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0" y="0"/>
              <a:ext cx="1034227" cy="435933"/>
              <a:chOff x="0" y="0"/>
              <a:chExt cx="262232" cy="110532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26223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262232" h="110532">
                    <a:moveTo>
                      <a:pt x="55266" y="0"/>
                    </a:moveTo>
                    <a:lnTo>
                      <a:pt x="206966" y="0"/>
                    </a:lnTo>
                    <a:cubicBezTo>
                      <a:pt x="221623" y="0"/>
                      <a:pt x="235680" y="5823"/>
                      <a:pt x="246045" y="16187"/>
                    </a:cubicBezTo>
                    <a:cubicBezTo>
                      <a:pt x="256409" y="26552"/>
                      <a:pt x="262232" y="40609"/>
                      <a:pt x="262232" y="55266"/>
                    </a:cubicBezTo>
                    <a:lnTo>
                      <a:pt x="262232" y="55266"/>
                    </a:lnTo>
                    <a:cubicBezTo>
                      <a:pt x="262232" y="85789"/>
                      <a:pt x="237488" y="110532"/>
                      <a:pt x="206966" y="110532"/>
                    </a:cubicBezTo>
                    <a:lnTo>
                      <a:pt x="55266" y="110532"/>
                    </a:lnTo>
                    <a:cubicBezTo>
                      <a:pt x="40609" y="110532"/>
                      <a:pt x="26552" y="104710"/>
                      <a:pt x="16187" y="94345"/>
                    </a:cubicBezTo>
                    <a:cubicBezTo>
                      <a:pt x="5823" y="83981"/>
                      <a:pt x="0" y="69924"/>
                      <a:pt x="0" y="55266"/>
                    </a:cubicBezTo>
                    <a:lnTo>
                      <a:pt x="0" y="55266"/>
                    </a:lnTo>
                    <a:cubicBezTo>
                      <a:pt x="0" y="40609"/>
                      <a:pt x="5823" y="26552"/>
                      <a:pt x="16187" y="16187"/>
                    </a:cubicBezTo>
                    <a:cubicBezTo>
                      <a:pt x="26552" y="5823"/>
                      <a:pt x="40609" y="0"/>
                      <a:pt x="55266" y="0"/>
                    </a:cubicBezTo>
                    <a:close/>
                  </a:path>
                </a:pathLst>
              </a:custGeom>
              <a:solidFill>
                <a:srgbClr val="1D64A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1" name="TextBox 161"/>
              <p:cNvSpPr txBox="1"/>
              <p:nvPr/>
            </p:nvSpPr>
            <p:spPr>
              <a:xfrm>
                <a:off x="0" y="-38100"/>
                <a:ext cx="262232" cy="148632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162" name="TextBox 162"/>
            <p:cNvSpPr txBox="1"/>
            <p:nvPr/>
          </p:nvSpPr>
          <p:spPr>
            <a:xfrm>
              <a:off x="0" y="31439"/>
              <a:ext cx="1034227" cy="276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par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1302078" y="53452"/>
              <a:ext cx="3089261" cy="254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sz="1100" b="1">
                  <a:solidFill>
                    <a:srgbClr val="1D64A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Subida de documentos en paralelo</a:t>
              </a:r>
            </a:p>
          </p:txBody>
        </p:sp>
      </p:grpSp>
      <p:grpSp>
        <p:nvGrpSpPr>
          <p:cNvPr id="164" name="Group 164"/>
          <p:cNvGrpSpPr/>
          <p:nvPr/>
        </p:nvGrpSpPr>
        <p:grpSpPr>
          <a:xfrm rot="5400000">
            <a:off x="7898283" y="7595857"/>
            <a:ext cx="2491435" cy="129870"/>
            <a:chOff x="0" y="0"/>
            <a:chExt cx="842283" cy="43905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842283" cy="43905"/>
            </a:xfrm>
            <a:custGeom>
              <a:avLst/>
              <a:gdLst/>
              <a:ahLst/>
              <a:cxnLst/>
              <a:rect l="l" t="t" r="r" b="b"/>
              <a:pathLst>
                <a:path w="842283" h="43905">
                  <a:moveTo>
                    <a:pt x="21953" y="0"/>
                  </a:moveTo>
                  <a:lnTo>
                    <a:pt x="820331" y="0"/>
                  </a:lnTo>
                  <a:cubicBezTo>
                    <a:pt x="832455" y="0"/>
                    <a:pt x="842283" y="9829"/>
                    <a:pt x="842283" y="21953"/>
                  </a:cubicBezTo>
                  <a:lnTo>
                    <a:pt x="842283" y="21953"/>
                  </a:lnTo>
                  <a:cubicBezTo>
                    <a:pt x="842283" y="27775"/>
                    <a:pt x="839970" y="33359"/>
                    <a:pt x="835853" y="37475"/>
                  </a:cubicBezTo>
                  <a:cubicBezTo>
                    <a:pt x="831736" y="41592"/>
                    <a:pt x="826153" y="43905"/>
                    <a:pt x="820331" y="43905"/>
                  </a:cubicBezTo>
                  <a:lnTo>
                    <a:pt x="21953" y="43905"/>
                  </a:lnTo>
                  <a:cubicBezTo>
                    <a:pt x="16130" y="43905"/>
                    <a:pt x="10547" y="41592"/>
                    <a:pt x="6430" y="37475"/>
                  </a:cubicBezTo>
                  <a:cubicBezTo>
                    <a:pt x="2313" y="33359"/>
                    <a:pt x="0" y="27775"/>
                    <a:pt x="0" y="21953"/>
                  </a:cubicBezTo>
                  <a:lnTo>
                    <a:pt x="0" y="21953"/>
                  </a:lnTo>
                  <a:cubicBezTo>
                    <a:pt x="0" y="16130"/>
                    <a:pt x="2313" y="10547"/>
                    <a:pt x="6430" y="6430"/>
                  </a:cubicBezTo>
                  <a:cubicBezTo>
                    <a:pt x="10547" y="2313"/>
                    <a:pt x="16130" y="0"/>
                    <a:pt x="21953" y="0"/>
                  </a:cubicBezTo>
                  <a:close/>
                </a:path>
              </a:pathLst>
            </a:custGeom>
            <a:solidFill>
              <a:srgbClr val="DDF6EC"/>
            </a:solidFill>
            <a:ln w="19050" cap="sq">
              <a:solidFill>
                <a:srgbClr val="81D7B8"/>
              </a:solidFill>
              <a:prstDash val="solid"/>
              <a:miter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0" y="-47625"/>
              <a:ext cx="842283" cy="91530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9330257" y="6445668"/>
            <a:ext cx="251843" cy="251843"/>
            <a:chOff x="0" y="0"/>
            <a:chExt cx="335791" cy="335791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9" name="TextBox 169"/>
            <p:cNvSpPr txBox="1"/>
            <p:nvPr/>
          </p:nvSpPr>
          <p:spPr>
            <a:xfrm>
              <a:off x="0" y="18459"/>
              <a:ext cx="335791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8a</a:t>
              </a:r>
            </a:p>
          </p:txBody>
        </p:sp>
      </p:grpSp>
      <p:sp>
        <p:nvSpPr>
          <p:cNvPr id="170" name="TextBox 170"/>
          <p:cNvSpPr txBox="1"/>
          <p:nvPr/>
        </p:nvSpPr>
        <p:spPr>
          <a:xfrm>
            <a:off x="9568766" y="6469990"/>
            <a:ext cx="2174368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Sube imagen de carnet de identidad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9779014" y="6778712"/>
            <a:ext cx="2456308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Retorna Url publica (url_cedula_identidad)</a:t>
            </a:r>
          </a:p>
        </p:txBody>
      </p:sp>
      <p:grpSp>
        <p:nvGrpSpPr>
          <p:cNvPr id="172" name="Group 172"/>
          <p:cNvGrpSpPr/>
          <p:nvPr/>
        </p:nvGrpSpPr>
        <p:grpSpPr>
          <a:xfrm>
            <a:off x="9330257" y="7067636"/>
            <a:ext cx="261368" cy="251843"/>
            <a:chOff x="0" y="0"/>
            <a:chExt cx="348491" cy="335791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4" name="TextBox 174"/>
            <p:cNvSpPr txBox="1"/>
            <p:nvPr/>
          </p:nvSpPr>
          <p:spPr>
            <a:xfrm>
              <a:off x="12700" y="18459"/>
              <a:ext cx="335791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8b</a:t>
              </a:r>
            </a:p>
          </p:txBody>
        </p:sp>
      </p:grpSp>
      <p:sp>
        <p:nvSpPr>
          <p:cNvPr id="175" name="TextBox 175"/>
          <p:cNvSpPr txBox="1"/>
          <p:nvPr/>
        </p:nvSpPr>
        <p:spPr>
          <a:xfrm>
            <a:off x="9568766" y="7091958"/>
            <a:ext cx="2174368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Sube imagen de licencia de conducir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9779014" y="7400680"/>
            <a:ext cx="2456308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Retorna Url publica (url_licencia_conducir)</a:t>
            </a:r>
          </a:p>
        </p:txBody>
      </p:sp>
      <p:grpSp>
        <p:nvGrpSpPr>
          <p:cNvPr id="177" name="Group 177"/>
          <p:cNvGrpSpPr/>
          <p:nvPr/>
        </p:nvGrpSpPr>
        <p:grpSpPr>
          <a:xfrm rot="5400000">
            <a:off x="14081516" y="6489224"/>
            <a:ext cx="512455" cy="134380"/>
            <a:chOff x="0" y="0"/>
            <a:chExt cx="173247" cy="45430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173247" cy="45430"/>
            </a:xfrm>
            <a:custGeom>
              <a:avLst/>
              <a:gdLst/>
              <a:ahLst/>
              <a:cxnLst/>
              <a:rect l="l" t="t" r="r" b="b"/>
              <a:pathLst>
                <a:path w="173247" h="45430">
                  <a:moveTo>
                    <a:pt x="22715" y="0"/>
                  </a:moveTo>
                  <a:lnTo>
                    <a:pt x="150532" y="0"/>
                  </a:lnTo>
                  <a:cubicBezTo>
                    <a:pt x="156556" y="0"/>
                    <a:pt x="162334" y="2393"/>
                    <a:pt x="166593" y="6653"/>
                  </a:cubicBezTo>
                  <a:cubicBezTo>
                    <a:pt x="170853" y="10913"/>
                    <a:pt x="173247" y="16691"/>
                    <a:pt x="173247" y="22715"/>
                  </a:cubicBezTo>
                  <a:lnTo>
                    <a:pt x="173247" y="22715"/>
                  </a:lnTo>
                  <a:cubicBezTo>
                    <a:pt x="173247" y="28739"/>
                    <a:pt x="170853" y="34517"/>
                    <a:pt x="166593" y="38777"/>
                  </a:cubicBezTo>
                  <a:cubicBezTo>
                    <a:pt x="162334" y="43037"/>
                    <a:pt x="156556" y="45430"/>
                    <a:pt x="150532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39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BED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0" y="-47625"/>
              <a:ext cx="173247" cy="9305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80" name="Group 180"/>
          <p:cNvGrpSpPr/>
          <p:nvPr/>
        </p:nvGrpSpPr>
        <p:grpSpPr>
          <a:xfrm rot="5400000">
            <a:off x="14087746" y="7256674"/>
            <a:ext cx="512455" cy="134380"/>
            <a:chOff x="0" y="0"/>
            <a:chExt cx="173247" cy="45430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173247" cy="45430"/>
            </a:xfrm>
            <a:custGeom>
              <a:avLst/>
              <a:gdLst/>
              <a:ahLst/>
              <a:cxnLst/>
              <a:rect l="l" t="t" r="r" b="b"/>
              <a:pathLst>
                <a:path w="173247" h="45430">
                  <a:moveTo>
                    <a:pt x="22715" y="0"/>
                  </a:moveTo>
                  <a:lnTo>
                    <a:pt x="150532" y="0"/>
                  </a:lnTo>
                  <a:cubicBezTo>
                    <a:pt x="156556" y="0"/>
                    <a:pt x="162334" y="2393"/>
                    <a:pt x="166593" y="6653"/>
                  </a:cubicBezTo>
                  <a:cubicBezTo>
                    <a:pt x="170853" y="10913"/>
                    <a:pt x="173247" y="16691"/>
                    <a:pt x="173247" y="22715"/>
                  </a:cubicBezTo>
                  <a:lnTo>
                    <a:pt x="173247" y="22715"/>
                  </a:lnTo>
                  <a:cubicBezTo>
                    <a:pt x="173247" y="28739"/>
                    <a:pt x="170853" y="34517"/>
                    <a:pt x="166593" y="38777"/>
                  </a:cubicBezTo>
                  <a:cubicBezTo>
                    <a:pt x="162334" y="43037"/>
                    <a:pt x="156556" y="45430"/>
                    <a:pt x="150532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39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BED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0" y="-47625"/>
              <a:ext cx="173247" cy="9305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83" name="Group 183"/>
          <p:cNvGrpSpPr/>
          <p:nvPr/>
        </p:nvGrpSpPr>
        <p:grpSpPr>
          <a:xfrm rot="5400000">
            <a:off x="14087746" y="5662254"/>
            <a:ext cx="512455" cy="134380"/>
            <a:chOff x="0" y="0"/>
            <a:chExt cx="173247" cy="45430"/>
          </a:xfrm>
        </p:grpSpPr>
        <p:sp>
          <p:nvSpPr>
            <p:cNvPr id="184" name="Freeform 184"/>
            <p:cNvSpPr/>
            <p:nvPr/>
          </p:nvSpPr>
          <p:spPr>
            <a:xfrm>
              <a:off x="0" y="0"/>
              <a:ext cx="173247" cy="45430"/>
            </a:xfrm>
            <a:custGeom>
              <a:avLst/>
              <a:gdLst/>
              <a:ahLst/>
              <a:cxnLst/>
              <a:rect l="l" t="t" r="r" b="b"/>
              <a:pathLst>
                <a:path w="173247" h="45430">
                  <a:moveTo>
                    <a:pt x="22715" y="0"/>
                  </a:moveTo>
                  <a:lnTo>
                    <a:pt x="150532" y="0"/>
                  </a:lnTo>
                  <a:cubicBezTo>
                    <a:pt x="156556" y="0"/>
                    <a:pt x="162334" y="2393"/>
                    <a:pt x="166593" y="6653"/>
                  </a:cubicBezTo>
                  <a:cubicBezTo>
                    <a:pt x="170853" y="10913"/>
                    <a:pt x="173247" y="16691"/>
                    <a:pt x="173247" y="22715"/>
                  </a:cubicBezTo>
                  <a:lnTo>
                    <a:pt x="173247" y="22715"/>
                  </a:lnTo>
                  <a:cubicBezTo>
                    <a:pt x="173247" y="28739"/>
                    <a:pt x="170853" y="34517"/>
                    <a:pt x="166593" y="38777"/>
                  </a:cubicBezTo>
                  <a:cubicBezTo>
                    <a:pt x="162334" y="43037"/>
                    <a:pt x="156556" y="45430"/>
                    <a:pt x="150532" y="45430"/>
                  </a:cubicBezTo>
                  <a:lnTo>
                    <a:pt x="22715" y="45430"/>
                  </a:lnTo>
                  <a:cubicBezTo>
                    <a:pt x="16691" y="45430"/>
                    <a:pt x="10913" y="43037"/>
                    <a:pt x="6653" y="38777"/>
                  </a:cubicBezTo>
                  <a:cubicBezTo>
                    <a:pt x="2393" y="34517"/>
                    <a:pt x="0" y="28739"/>
                    <a:pt x="0" y="22715"/>
                  </a:cubicBezTo>
                  <a:lnTo>
                    <a:pt x="0" y="22715"/>
                  </a:lnTo>
                  <a:cubicBezTo>
                    <a:pt x="0" y="16691"/>
                    <a:pt x="2393" y="10913"/>
                    <a:pt x="6653" y="6653"/>
                  </a:cubicBezTo>
                  <a:cubicBezTo>
                    <a:pt x="10913" y="2393"/>
                    <a:pt x="16691" y="0"/>
                    <a:pt x="22715" y="0"/>
                  </a:cubicBezTo>
                  <a:close/>
                </a:path>
              </a:pathLst>
            </a:custGeom>
            <a:solidFill>
              <a:srgbClr val="DBEDFF"/>
            </a:solidFill>
            <a:ln w="19050" cap="sq">
              <a:solidFill>
                <a:srgbClr val="90CDFC"/>
              </a:solidFill>
              <a:prstDash val="solid"/>
              <a:miter/>
            </a:ln>
          </p:spPr>
        </p:sp>
        <p:sp>
          <p:nvSpPr>
            <p:cNvPr id="185" name="TextBox 185"/>
            <p:cNvSpPr txBox="1"/>
            <p:nvPr/>
          </p:nvSpPr>
          <p:spPr>
            <a:xfrm>
              <a:off x="0" y="-47625"/>
              <a:ext cx="173247" cy="93055"/>
            </a:xfrm>
            <a:prstGeom prst="rect">
              <a:avLst/>
            </a:prstGeom>
          </p:spPr>
          <p:txBody>
            <a:bodyPr lIns="45566" tIns="45566" rIns="45566" bIns="45566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86" name="Group 186"/>
          <p:cNvGrpSpPr/>
          <p:nvPr/>
        </p:nvGrpSpPr>
        <p:grpSpPr>
          <a:xfrm>
            <a:off x="9330257" y="7876108"/>
            <a:ext cx="251843" cy="251843"/>
            <a:chOff x="0" y="0"/>
            <a:chExt cx="335791" cy="335791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8" name="TextBox 188"/>
            <p:cNvSpPr txBox="1"/>
            <p:nvPr/>
          </p:nvSpPr>
          <p:spPr>
            <a:xfrm>
              <a:off x="0" y="18459"/>
              <a:ext cx="335791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9</a:t>
              </a:r>
            </a:p>
          </p:txBody>
        </p:sp>
      </p:grpSp>
      <p:sp>
        <p:nvSpPr>
          <p:cNvPr id="189" name="TextBox 189"/>
          <p:cNvSpPr txBox="1"/>
          <p:nvPr/>
        </p:nvSpPr>
        <p:spPr>
          <a:xfrm>
            <a:off x="9582101" y="7814705"/>
            <a:ext cx="2149605" cy="34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Inserta registro en tabla Conductores (rut, auth_id, urls y datos personales)</a:t>
            </a:r>
          </a:p>
        </p:txBody>
      </p:sp>
      <p:grpSp>
        <p:nvGrpSpPr>
          <p:cNvPr id="190" name="Group 190"/>
          <p:cNvGrpSpPr/>
          <p:nvPr/>
        </p:nvGrpSpPr>
        <p:grpSpPr>
          <a:xfrm>
            <a:off x="9330257" y="8409940"/>
            <a:ext cx="251843" cy="251843"/>
            <a:chOff x="0" y="0"/>
            <a:chExt cx="335791" cy="335791"/>
          </a:xfrm>
        </p:grpSpPr>
        <p:sp>
          <p:nvSpPr>
            <p:cNvPr id="191" name="Freeform 191"/>
            <p:cNvSpPr/>
            <p:nvPr/>
          </p:nvSpPr>
          <p:spPr>
            <a:xfrm>
              <a:off x="0" y="0"/>
              <a:ext cx="335791" cy="335791"/>
            </a:xfrm>
            <a:custGeom>
              <a:avLst/>
              <a:gdLst/>
              <a:ahLst/>
              <a:cxnLst/>
              <a:rect l="l" t="t" r="r" b="b"/>
              <a:pathLst>
                <a:path w="335791" h="335791">
                  <a:moveTo>
                    <a:pt x="0" y="0"/>
                  </a:moveTo>
                  <a:lnTo>
                    <a:pt x="335791" y="0"/>
                  </a:lnTo>
                  <a:lnTo>
                    <a:pt x="335791" y="335791"/>
                  </a:lnTo>
                  <a:lnTo>
                    <a:pt x="0" y="335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2" name="TextBox 192"/>
            <p:cNvSpPr txBox="1"/>
            <p:nvPr/>
          </p:nvSpPr>
          <p:spPr>
            <a:xfrm>
              <a:off x="0" y="18459"/>
              <a:ext cx="335791" cy="279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20"/>
                </a:lnSpc>
                <a:spcBef>
                  <a:spcPct val="0"/>
                </a:spcBef>
              </a:pPr>
              <a:r>
                <a:rPr lang="en-US" sz="13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10</a:t>
              </a:r>
            </a:p>
          </p:txBody>
        </p:sp>
      </p:grpSp>
      <p:sp>
        <p:nvSpPr>
          <p:cNvPr id="193" name="TextBox 193"/>
          <p:cNvSpPr txBox="1"/>
          <p:nvPr/>
        </p:nvSpPr>
        <p:spPr>
          <a:xfrm>
            <a:off x="9582101" y="8434262"/>
            <a:ext cx="2368081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1578D9"/>
                </a:solidFill>
                <a:latin typeface="Arimo"/>
                <a:ea typeface="Arimo"/>
                <a:cs typeface="Arimo"/>
                <a:sym typeface="Arimo"/>
              </a:rPr>
              <a:t>Confirma inserción exitosa (201 created)</a:t>
            </a:r>
          </a:p>
        </p:txBody>
      </p:sp>
      <p:grpSp>
        <p:nvGrpSpPr>
          <p:cNvPr id="194" name="Group 194"/>
          <p:cNvGrpSpPr/>
          <p:nvPr/>
        </p:nvGrpSpPr>
        <p:grpSpPr>
          <a:xfrm>
            <a:off x="15805623" y="8097716"/>
            <a:ext cx="1665572" cy="541780"/>
            <a:chOff x="0" y="0"/>
            <a:chExt cx="2220762" cy="722373"/>
          </a:xfrm>
        </p:grpSpPr>
        <p:grpSp>
          <p:nvGrpSpPr>
            <p:cNvPr id="195" name="Group 195"/>
            <p:cNvGrpSpPr/>
            <p:nvPr/>
          </p:nvGrpSpPr>
          <p:grpSpPr>
            <a:xfrm rot="-10800000">
              <a:off x="50800" y="0"/>
              <a:ext cx="2169962" cy="722373"/>
              <a:chOff x="0" y="0"/>
              <a:chExt cx="550202" cy="183160"/>
            </a:xfrm>
          </p:grpSpPr>
          <p:sp>
            <p:nvSpPr>
              <p:cNvPr id="196" name="Freeform 196"/>
              <p:cNvSpPr/>
              <p:nvPr/>
            </p:nvSpPr>
            <p:spPr>
              <a:xfrm>
                <a:off x="0" y="0"/>
                <a:ext cx="550202" cy="183160"/>
              </a:xfrm>
              <a:custGeom>
                <a:avLst/>
                <a:gdLst/>
                <a:ahLst/>
                <a:cxnLst/>
                <a:rect l="l" t="t" r="r" b="b"/>
                <a:pathLst>
                  <a:path w="550202" h="183160">
                    <a:moveTo>
                      <a:pt x="71355" y="0"/>
                    </a:moveTo>
                    <a:lnTo>
                      <a:pt x="478847" y="0"/>
                    </a:lnTo>
                    <a:cubicBezTo>
                      <a:pt x="497771" y="0"/>
                      <a:pt x="515921" y="7518"/>
                      <a:pt x="529302" y="20899"/>
                    </a:cubicBezTo>
                    <a:cubicBezTo>
                      <a:pt x="542684" y="34281"/>
                      <a:pt x="550202" y="52431"/>
                      <a:pt x="550202" y="71355"/>
                    </a:cubicBezTo>
                    <a:lnTo>
                      <a:pt x="550202" y="111805"/>
                    </a:lnTo>
                    <a:cubicBezTo>
                      <a:pt x="550202" y="130730"/>
                      <a:pt x="542684" y="148879"/>
                      <a:pt x="529302" y="162261"/>
                    </a:cubicBezTo>
                    <a:cubicBezTo>
                      <a:pt x="515921" y="175643"/>
                      <a:pt x="497771" y="183160"/>
                      <a:pt x="478847" y="183160"/>
                    </a:cubicBezTo>
                    <a:lnTo>
                      <a:pt x="71355" y="183160"/>
                    </a:lnTo>
                    <a:cubicBezTo>
                      <a:pt x="52431" y="183160"/>
                      <a:pt x="34281" y="175643"/>
                      <a:pt x="20899" y="162261"/>
                    </a:cubicBezTo>
                    <a:cubicBezTo>
                      <a:pt x="7518" y="148879"/>
                      <a:pt x="0" y="130730"/>
                      <a:pt x="0" y="111805"/>
                    </a:cubicBezTo>
                    <a:lnTo>
                      <a:pt x="0" y="71355"/>
                    </a:lnTo>
                    <a:cubicBezTo>
                      <a:pt x="0" y="52431"/>
                      <a:pt x="7518" y="34281"/>
                      <a:pt x="20899" y="20899"/>
                    </a:cubicBezTo>
                    <a:cubicBezTo>
                      <a:pt x="34281" y="7518"/>
                      <a:pt x="52431" y="0"/>
                      <a:pt x="71355" y="0"/>
                    </a:cubicBezTo>
                    <a:close/>
                  </a:path>
                </a:pathLst>
              </a:custGeom>
              <a:solidFill>
                <a:srgbClr val="EEF6FF"/>
              </a:solidFill>
              <a:ln w="19050" cap="sq">
                <a:solidFill>
                  <a:srgbClr val="90CDFC"/>
                </a:solidFill>
                <a:prstDash val="solid"/>
                <a:miter/>
              </a:ln>
            </p:spPr>
          </p:sp>
          <p:sp>
            <p:nvSpPr>
              <p:cNvPr id="197" name="TextBox 197"/>
              <p:cNvSpPr txBox="1"/>
              <p:nvPr/>
            </p:nvSpPr>
            <p:spPr>
              <a:xfrm>
                <a:off x="0" y="-47625"/>
                <a:ext cx="550202" cy="230785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98" name="Group 198"/>
            <p:cNvGrpSpPr/>
            <p:nvPr/>
          </p:nvGrpSpPr>
          <p:grpSpPr>
            <a:xfrm rot="5400000">
              <a:off x="-212013" y="283583"/>
              <a:ext cx="595111" cy="171084"/>
              <a:chOff x="0" y="0"/>
              <a:chExt cx="150893" cy="43379"/>
            </a:xfrm>
          </p:grpSpPr>
          <p:sp>
            <p:nvSpPr>
              <p:cNvPr id="199" name="Freeform 199"/>
              <p:cNvSpPr/>
              <p:nvPr/>
            </p:nvSpPr>
            <p:spPr>
              <a:xfrm>
                <a:off x="0" y="0"/>
                <a:ext cx="150893" cy="43379"/>
              </a:xfrm>
              <a:custGeom>
                <a:avLst/>
                <a:gdLst/>
                <a:ahLst/>
                <a:cxnLst/>
                <a:rect l="l" t="t" r="r" b="b"/>
                <a:pathLst>
                  <a:path w="150893" h="43379">
                    <a:moveTo>
                      <a:pt x="21690" y="0"/>
                    </a:moveTo>
                    <a:lnTo>
                      <a:pt x="129203" y="0"/>
                    </a:lnTo>
                    <a:cubicBezTo>
                      <a:pt x="134956" y="0"/>
                      <a:pt x="140472" y="2285"/>
                      <a:pt x="144540" y="6353"/>
                    </a:cubicBezTo>
                    <a:cubicBezTo>
                      <a:pt x="148607" y="10420"/>
                      <a:pt x="150893" y="15937"/>
                      <a:pt x="150893" y="21690"/>
                    </a:cubicBezTo>
                    <a:lnTo>
                      <a:pt x="150893" y="21690"/>
                    </a:lnTo>
                    <a:cubicBezTo>
                      <a:pt x="150893" y="27442"/>
                      <a:pt x="148607" y="32959"/>
                      <a:pt x="144540" y="37026"/>
                    </a:cubicBezTo>
                    <a:cubicBezTo>
                      <a:pt x="140472" y="41094"/>
                      <a:pt x="134956" y="43379"/>
                      <a:pt x="129203" y="43379"/>
                    </a:cubicBezTo>
                    <a:lnTo>
                      <a:pt x="21690" y="43379"/>
                    </a:lnTo>
                    <a:cubicBezTo>
                      <a:pt x="15937" y="43379"/>
                      <a:pt x="10420" y="41094"/>
                      <a:pt x="6353" y="37026"/>
                    </a:cubicBezTo>
                    <a:cubicBezTo>
                      <a:pt x="2285" y="32959"/>
                      <a:pt x="0" y="27442"/>
                      <a:pt x="0" y="21690"/>
                    </a:cubicBezTo>
                    <a:lnTo>
                      <a:pt x="0" y="21690"/>
                    </a:lnTo>
                    <a:cubicBezTo>
                      <a:pt x="0" y="15937"/>
                      <a:pt x="2285" y="10420"/>
                      <a:pt x="6353" y="6353"/>
                    </a:cubicBezTo>
                    <a:cubicBezTo>
                      <a:pt x="10420" y="2285"/>
                      <a:pt x="15937" y="0"/>
                      <a:pt x="21690" y="0"/>
                    </a:cubicBezTo>
                    <a:close/>
                  </a:path>
                </a:pathLst>
              </a:custGeom>
              <a:solidFill>
                <a:srgbClr val="F7DBFF"/>
              </a:solidFill>
              <a:ln w="19050" cap="sq">
                <a:solidFill>
                  <a:srgbClr val="8C52FF"/>
                </a:solidFill>
                <a:prstDash val="solid"/>
                <a:miter/>
              </a:ln>
            </p:spPr>
          </p:sp>
          <p:sp>
            <p:nvSpPr>
              <p:cNvPr id="200" name="TextBox 200"/>
              <p:cNvSpPr txBox="1"/>
              <p:nvPr/>
            </p:nvSpPr>
            <p:spPr>
              <a:xfrm>
                <a:off x="0" y="-47625"/>
                <a:ext cx="150893" cy="91004"/>
              </a:xfrm>
              <a:prstGeom prst="rect">
                <a:avLst/>
              </a:prstGeom>
            </p:spPr>
            <p:txBody>
              <a:bodyPr lIns="45566" tIns="45566" rIns="45566" bIns="45566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01" name="TextBox 201"/>
            <p:cNvSpPr txBox="1"/>
            <p:nvPr/>
          </p:nvSpPr>
          <p:spPr>
            <a:xfrm>
              <a:off x="266700" y="117407"/>
              <a:ext cx="1746873" cy="451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>
                  <a:solidFill>
                    <a:srgbClr val="1578D9"/>
                  </a:solidFill>
                  <a:latin typeface="Arimo"/>
                  <a:ea typeface="Arimo"/>
                  <a:cs typeface="Arimo"/>
                  <a:sym typeface="Arimo"/>
                </a:rPr>
                <a:t>Valida restricciones de calidad y politicas RLS</a:t>
              </a:r>
            </a:p>
          </p:txBody>
        </p:sp>
      </p:grpSp>
      <p:sp>
        <p:nvSpPr>
          <p:cNvPr id="202" name="Freeform 202"/>
          <p:cNvSpPr/>
          <p:nvPr/>
        </p:nvSpPr>
        <p:spPr>
          <a:xfrm>
            <a:off x="6692112" y="5518125"/>
            <a:ext cx="2353012" cy="211319"/>
          </a:xfrm>
          <a:custGeom>
            <a:avLst/>
            <a:gdLst/>
            <a:ahLst/>
            <a:cxnLst/>
            <a:rect l="l" t="t" r="r" b="b"/>
            <a:pathLst>
              <a:path w="2353012" h="211319">
                <a:moveTo>
                  <a:pt x="0" y="0"/>
                </a:moveTo>
                <a:lnTo>
                  <a:pt x="1182121" y="0"/>
                </a:lnTo>
                <a:cubicBezTo>
                  <a:pt x="1210144" y="0"/>
                  <a:pt x="1237019" y="11132"/>
                  <a:pt x="1256834" y="30947"/>
                </a:cubicBezTo>
                <a:cubicBezTo>
                  <a:pt x="1276649" y="50762"/>
                  <a:pt x="1287781" y="77637"/>
                  <a:pt x="1287781" y="105659"/>
                </a:cubicBezTo>
                <a:lnTo>
                  <a:pt x="1287781" y="105659"/>
                </a:lnTo>
                <a:cubicBezTo>
                  <a:pt x="1287781" y="133682"/>
                  <a:pt x="1298913" y="160557"/>
                  <a:pt x="1318728" y="180372"/>
                </a:cubicBezTo>
                <a:cubicBezTo>
                  <a:pt x="1338543" y="200187"/>
                  <a:pt x="1365418" y="211319"/>
                  <a:pt x="1393440" y="211319"/>
                </a:cubicBezTo>
                <a:lnTo>
                  <a:pt x="2353013" y="211319"/>
                </a:lnTo>
              </a:path>
            </a:pathLst>
          </a:custGeom>
          <a:ln w="19050" cap="flat">
            <a:solidFill>
              <a:srgbClr val="1578D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3" name="Freeform 203"/>
          <p:cNvSpPr/>
          <p:nvPr/>
        </p:nvSpPr>
        <p:spPr>
          <a:xfrm>
            <a:off x="9229622" y="5810617"/>
            <a:ext cx="5013374" cy="106537"/>
          </a:xfrm>
          <a:custGeom>
            <a:avLst/>
            <a:gdLst/>
            <a:ahLst/>
            <a:cxnLst/>
            <a:rect l="l" t="t" r="r" b="b"/>
            <a:pathLst>
              <a:path w="5013374" h="106537">
                <a:moveTo>
                  <a:pt x="5013374" y="0"/>
                </a:moveTo>
                <a:lnTo>
                  <a:pt x="4871830" y="0"/>
                </a:lnTo>
                <a:cubicBezTo>
                  <a:pt x="4857703" y="0"/>
                  <a:pt x="4844155" y="5612"/>
                  <a:pt x="4834165" y="15602"/>
                </a:cubicBezTo>
                <a:cubicBezTo>
                  <a:pt x="4824174" y="25591"/>
                  <a:pt x="4818562" y="39141"/>
                  <a:pt x="4818562" y="53268"/>
                </a:cubicBezTo>
                <a:lnTo>
                  <a:pt x="4818562" y="53268"/>
                </a:lnTo>
                <a:cubicBezTo>
                  <a:pt x="4818562" y="67396"/>
                  <a:pt x="4812950" y="80945"/>
                  <a:pt x="4802960" y="90935"/>
                </a:cubicBezTo>
                <a:cubicBezTo>
                  <a:pt x="4792970" y="100925"/>
                  <a:pt x="4779422" y="106537"/>
                  <a:pt x="4765294" y="106537"/>
                </a:cubicBezTo>
                <a:lnTo>
                  <a:pt x="0" y="106537"/>
                </a:lnTo>
              </a:path>
            </a:pathLst>
          </a:custGeom>
          <a:ln w="19050" cap="flat">
            <a:solidFill>
              <a:srgbClr val="90CDFC"/>
            </a:solidFill>
            <a:prstDash val="lgDash"/>
            <a:headEnd type="none" w="sm" len="sm"/>
            <a:tailEnd type="triangle" w="lg" len="med"/>
          </a:ln>
        </p:spPr>
      </p:sp>
      <p:sp>
        <p:nvSpPr>
          <p:cNvPr id="204" name="Freeform 204"/>
          <p:cNvSpPr/>
          <p:nvPr/>
        </p:nvSpPr>
        <p:spPr>
          <a:xfrm>
            <a:off x="9582100" y="5581557"/>
            <a:ext cx="4667447" cy="335597"/>
          </a:xfrm>
          <a:custGeom>
            <a:avLst/>
            <a:gdLst/>
            <a:ahLst/>
            <a:cxnLst/>
            <a:rect l="l" t="t" r="r" b="b"/>
            <a:pathLst>
              <a:path w="4667447" h="335597">
                <a:moveTo>
                  <a:pt x="4667447" y="9525"/>
                </a:moveTo>
                <a:lnTo>
                  <a:pt x="4667447" y="4762"/>
                </a:lnTo>
                <a:cubicBezTo>
                  <a:pt x="4667447" y="3499"/>
                  <a:pt x="4666945" y="2288"/>
                  <a:pt x="4666052" y="1395"/>
                </a:cubicBezTo>
                <a:cubicBezTo>
                  <a:pt x="4665159" y="502"/>
                  <a:pt x="4663948" y="0"/>
                  <a:pt x="4662685" y="0"/>
                </a:cubicBezTo>
                <a:lnTo>
                  <a:pt x="313629" y="0"/>
                </a:lnTo>
                <a:cubicBezTo>
                  <a:pt x="220956" y="0"/>
                  <a:pt x="145830" y="75126"/>
                  <a:pt x="145830" y="167799"/>
                </a:cubicBezTo>
                <a:lnTo>
                  <a:pt x="145830" y="262682"/>
                </a:lnTo>
                <a:cubicBezTo>
                  <a:pt x="145830" y="302952"/>
                  <a:pt x="113185" y="335597"/>
                  <a:pt x="72915" y="335597"/>
                </a:cubicBezTo>
                <a:lnTo>
                  <a:pt x="0" y="335597"/>
                </a:lnTo>
              </a:path>
            </a:pathLst>
          </a:custGeom>
          <a:ln w="19050" cap="flat">
            <a:solidFill>
              <a:srgbClr val="90CDFC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05" name="Freeform 205"/>
          <p:cNvSpPr/>
          <p:nvPr/>
        </p:nvSpPr>
        <p:spPr>
          <a:xfrm>
            <a:off x="9208935" y="5518125"/>
            <a:ext cx="5067850" cy="63432"/>
          </a:xfrm>
          <a:custGeom>
            <a:avLst/>
            <a:gdLst/>
            <a:ahLst/>
            <a:cxnLst/>
            <a:rect l="l" t="t" r="r" b="b"/>
            <a:pathLst>
              <a:path w="5067850" h="63432">
                <a:moveTo>
                  <a:pt x="0" y="0"/>
                </a:moveTo>
                <a:lnTo>
                  <a:pt x="196884" y="0"/>
                </a:lnTo>
                <a:cubicBezTo>
                  <a:pt x="205295" y="0"/>
                  <a:pt x="213363" y="3341"/>
                  <a:pt x="219310" y="9289"/>
                </a:cubicBezTo>
                <a:cubicBezTo>
                  <a:pt x="225258" y="15237"/>
                  <a:pt x="228600" y="23304"/>
                  <a:pt x="228600" y="31716"/>
                </a:cubicBezTo>
                <a:lnTo>
                  <a:pt x="228600" y="31716"/>
                </a:lnTo>
                <a:cubicBezTo>
                  <a:pt x="228600" y="40128"/>
                  <a:pt x="231941" y="48195"/>
                  <a:pt x="237889" y="54143"/>
                </a:cubicBezTo>
                <a:cubicBezTo>
                  <a:pt x="243837" y="60090"/>
                  <a:pt x="251905" y="63432"/>
                  <a:pt x="260316" y="63432"/>
                </a:cubicBezTo>
                <a:lnTo>
                  <a:pt x="5067849" y="63432"/>
                </a:lnTo>
              </a:path>
            </a:pathLst>
          </a:custGeom>
          <a:ln w="19050" cap="flat">
            <a:solidFill>
              <a:srgbClr val="1578D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6" name="Freeform 206"/>
          <p:cNvSpPr/>
          <p:nvPr/>
        </p:nvSpPr>
        <p:spPr>
          <a:xfrm>
            <a:off x="9214946" y="8264215"/>
            <a:ext cx="6579367" cy="68074"/>
          </a:xfrm>
          <a:custGeom>
            <a:avLst/>
            <a:gdLst/>
            <a:ahLst/>
            <a:cxnLst/>
            <a:rect l="l" t="t" r="r" b="b"/>
            <a:pathLst>
              <a:path w="3274305">
                <a:moveTo>
                  <a:pt x="0" y="0"/>
                </a:moveTo>
                <a:lnTo>
                  <a:pt x="3274305" y="0"/>
                </a:lnTo>
              </a:path>
            </a:pathLst>
          </a:custGeom>
          <a:ln w="19050" cap="flat">
            <a:solidFill>
              <a:srgbClr val="1578D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7" name="Freeform 207"/>
          <p:cNvSpPr/>
          <p:nvPr/>
        </p:nvSpPr>
        <p:spPr>
          <a:xfrm>
            <a:off x="9208935" y="8399337"/>
            <a:ext cx="6596688" cy="344671"/>
          </a:xfrm>
          <a:custGeom>
            <a:avLst/>
            <a:gdLst/>
            <a:ahLst/>
            <a:cxnLst/>
            <a:rect l="l" t="t" r="r" b="b"/>
            <a:pathLst>
              <a:path w="6596688" h="344671">
                <a:moveTo>
                  <a:pt x="6596688" y="0"/>
                </a:moveTo>
                <a:lnTo>
                  <a:pt x="6499283" y="0"/>
                </a:lnTo>
                <a:cubicBezTo>
                  <a:pt x="6445486" y="0"/>
                  <a:pt x="6401876" y="43610"/>
                  <a:pt x="6401876" y="97406"/>
                </a:cubicBezTo>
                <a:lnTo>
                  <a:pt x="6401876" y="172336"/>
                </a:lnTo>
                <a:cubicBezTo>
                  <a:pt x="6401876" y="267514"/>
                  <a:pt x="6324720" y="344671"/>
                  <a:pt x="6229541" y="344671"/>
                </a:cubicBezTo>
                <a:lnTo>
                  <a:pt x="0" y="344671"/>
                </a:lnTo>
              </a:path>
            </a:pathLst>
          </a:custGeom>
          <a:ln w="19050" cap="flat">
            <a:solidFill>
              <a:srgbClr val="90CDFC"/>
            </a:solidFill>
            <a:prstDash val="lgDash"/>
            <a:headEnd type="none" w="sm" len="sm"/>
            <a:tailEnd type="triangle" w="lg" len="med"/>
          </a:ln>
        </p:spPr>
      </p:sp>
      <p:sp>
        <p:nvSpPr>
          <p:cNvPr id="208" name="Freeform 208"/>
          <p:cNvSpPr/>
          <p:nvPr/>
        </p:nvSpPr>
        <p:spPr>
          <a:xfrm flipV="1">
            <a:off x="6693725" y="8641080"/>
            <a:ext cx="2367184" cy="45719"/>
          </a:xfrm>
          <a:custGeom>
            <a:avLst/>
            <a:gdLst/>
            <a:ahLst/>
            <a:cxnLst/>
            <a:rect l="l" t="t" r="r" b="b"/>
            <a:pathLst>
              <a:path w="1192670">
                <a:moveTo>
                  <a:pt x="1192670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90CDFC"/>
            </a:solidFill>
            <a:prstDash val="lgDash"/>
            <a:headEnd type="none" w="sm" len="sm"/>
            <a:tailEnd type="triangle" w="lg" len="med"/>
          </a:ln>
        </p:spPr>
      </p:sp>
      <p:sp>
        <p:nvSpPr>
          <p:cNvPr id="209" name="Freeform 209"/>
          <p:cNvSpPr/>
          <p:nvPr/>
        </p:nvSpPr>
        <p:spPr>
          <a:xfrm>
            <a:off x="9208935" y="6644615"/>
            <a:ext cx="5018325" cy="346821"/>
          </a:xfrm>
          <a:custGeom>
            <a:avLst/>
            <a:gdLst/>
            <a:ahLst/>
            <a:cxnLst/>
            <a:rect l="l" t="t" r="r" b="b"/>
            <a:pathLst>
              <a:path w="5018325" h="346821">
                <a:moveTo>
                  <a:pt x="0" y="346821"/>
                </a:moveTo>
                <a:lnTo>
                  <a:pt x="4590310" y="346821"/>
                </a:lnTo>
                <a:cubicBezTo>
                  <a:pt x="4636302" y="346821"/>
                  <a:pt x="4680409" y="328551"/>
                  <a:pt x="4712930" y="296030"/>
                </a:cubicBezTo>
                <a:cubicBezTo>
                  <a:pt x="4745450" y="263509"/>
                  <a:pt x="4763721" y="219402"/>
                  <a:pt x="4763721" y="173411"/>
                </a:cubicBezTo>
                <a:lnTo>
                  <a:pt x="4763721" y="127302"/>
                </a:lnTo>
                <a:cubicBezTo>
                  <a:pt x="4763721" y="93540"/>
                  <a:pt x="4777132" y="61159"/>
                  <a:pt x="4801007" y="37286"/>
                </a:cubicBezTo>
                <a:cubicBezTo>
                  <a:pt x="4824880" y="13412"/>
                  <a:pt x="4857261" y="0"/>
                  <a:pt x="4891023" y="0"/>
                </a:cubicBezTo>
                <a:lnTo>
                  <a:pt x="5018325" y="0"/>
                </a:lnTo>
              </a:path>
            </a:pathLst>
          </a:custGeom>
          <a:ln w="19050" cap="flat">
            <a:solidFill>
              <a:srgbClr val="90CDFC"/>
            </a:solidFill>
            <a:prstDash val="lgDash"/>
            <a:headEnd type="triangle" w="lg" len="med"/>
            <a:tailEnd type="none" w="sm" len="sm"/>
          </a:ln>
        </p:spPr>
      </p:sp>
      <p:sp>
        <p:nvSpPr>
          <p:cNvPr id="210" name="Freeform 210"/>
          <p:cNvSpPr/>
          <p:nvPr/>
        </p:nvSpPr>
        <p:spPr>
          <a:xfrm>
            <a:off x="9208935" y="7429255"/>
            <a:ext cx="4999846" cy="203733"/>
          </a:xfrm>
          <a:custGeom>
            <a:avLst/>
            <a:gdLst/>
            <a:ahLst/>
            <a:cxnLst/>
            <a:rect l="l" t="t" r="r" b="b"/>
            <a:pathLst>
              <a:path w="4999846" h="203733">
                <a:moveTo>
                  <a:pt x="0" y="203733"/>
                </a:moveTo>
                <a:lnTo>
                  <a:pt x="4508783" y="203733"/>
                </a:lnTo>
                <a:cubicBezTo>
                  <a:pt x="4535800" y="203733"/>
                  <a:pt x="4561710" y="193001"/>
                  <a:pt x="4580814" y="173897"/>
                </a:cubicBezTo>
                <a:cubicBezTo>
                  <a:pt x="4599917" y="154794"/>
                  <a:pt x="4610649" y="128884"/>
                  <a:pt x="4610649" y="101867"/>
                </a:cubicBezTo>
                <a:lnTo>
                  <a:pt x="4610649" y="101867"/>
                </a:lnTo>
                <a:cubicBezTo>
                  <a:pt x="4610649" y="74850"/>
                  <a:pt x="4621382" y="48940"/>
                  <a:pt x="4640485" y="29836"/>
                </a:cubicBezTo>
                <a:cubicBezTo>
                  <a:pt x="4659589" y="10733"/>
                  <a:pt x="4685499" y="0"/>
                  <a:pt x="4712516" y="0"/>
                </a:cubicBezTo>
                <a:lnTo>
                  <a:pt x="4999846" y="0"/>
                </a:lnTo>
              </a:path>
            </a:pathLst>
          </a:custGeom>
          <a:ln w="19050" cap="flat">
            <a:solidFill>
              <a:srgbClr val="90CDFC"/>
            </a:solidFill>
            <a:prstDash val="lgDash"/>
            <a:headEnd type="triangle" w="lg" len="med"/>
            <a:tailEnd type="none" w="sm" len="sm"/>
          </a:ln>
        </p:spPr>
      </p:sp>
      <p:sp>
        <p:nvSpPr>
          <p:cNvPr id="211" name="Freeform 211"/>
          <p:cNvSpPr/>
          <p:nvPr/>
        </p:nvSpPr>
        <p:spPr>
          <a:xfrm>
            <a:off x="9208935" y="6415074"/>
            <a:ext cx="5061619" cy="561673"/>
          </a:xfrm>
          <a:custGeom>
            <a:avLst/>
            <a:gdLst/>
            <a:ahLst/>
            <a:cxnLst/>
            <a:rect l="l" t="t" r="r" b="b"/>
            <a:pathLst>
              <a:path w="5061619" h="561673">
                <a:moveTo>
                  <a:pt x="0" y="561674"/>
                </a:moveTo>
                <a:lnTo>
                  <a:pt x="252598" y="561674"/>
                </a:lnTo>
                <a:cubicBezTo>
                  <a:pt x="319185" y="561674"/>
                  <a:pt x="373165" y="507693"/>
                  <a:pt x="373165" y="441106"/>
                </a:cubicBezTo>
                <a:lnTo>
                  <a:pt x="373165" y="441106"/>
                </a:lnTo>
                <a:cubicBezTo>
                  <a:pt x="373165" y="409129"/>
                  <a:pt x="385868" y="378462"/>
                  <a:pt x="408479" y="355851"/>
                </a:cubicBezTo>
                <a:cubicBezTo>
                  <a:pt x="431090" y="333240"/>
                  <a:pt x="461757" y="320537"/>
                  <a:pt x="493734" y="320537"/>
                </a:cubicBezTo>
                <a:lnTo>
                  <a:pt x="4307783" y="320537"/>
                </a:lnTo>
                <a:cubicBezTo>
                  <a:pt x="4350287" y="320537"/>
                  <a:pt x="4391052" y="303652"/>
                  <a:pt x="4421109" y="273596"/>
                </a:cubicBezTo>
                <a:cubicBezTo>
                  <a:pt x="4451165" y="243540"/>
                  <a:pt x="4468050" y="202775"/>
                  <a:pt x="4468050" y="160269"/>
                </a:cubicBezTo>
                <a:lnTo>
                  <a:pt x="4468050" y="160269"/>
                </a:lnTo>
                <a:cubicBezTo>
                  <a:pt x="4468050" y="117763"/>
                  <a:pt x="4484936" y="76998"/>
                  <a:pt x="4514992" y="46942"/>
                </a:cubicBezTo>
                <a:cubicBezTo>
                  <a:pt x="4545049" y="16886"/>
                  <a:pt x="4585814" y="0"/>
                  <a:pt x="4628320" y="0"/>
                </a:cubicBezTo>
                <a:lnTo>
                  <a:pt x="5061619" y="0"/>
                </a:lnTo>
              </a:path>
            </a:pathLst>
          </a:custGeom>
          <a:ln w="19050" cap="flat">
            <a:solidFill>
              <a:srgbClr val="1578D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2" name="Freeform 212"/>
          <p:cNvSpPr/>
          <p:nvPr/>
        </p:nvSpPr>
        <p:spPr>
          <a:xfrm>
            <a:off x="9208935" y="7193558"/>
            <a:ext cx="5040612" cy="408393"/>
          </a:xfrm>
          <a:custGeom>
            <a:avLst/>
            <a:gdLst/>
            <a:ahLst/>
            <a:cxnLst/>
            <a:rect l="l" t="t" r="r" b="b"/>
            <a:pathLst>
              <a:path w="5040612" h="408393">
                <a:moveTo>
                  <a:pt x="0" y="408393"/>
                </a:moveTo>
                <a:lnTo>
                  <a:pt x="257384" y="408393"/>
                </a:lnTo>
                <a:cubicBezTo>
                  <a:pt x="329219" y="408393"/>
                  <a:pt x="387453" y="350159"/>
                  <a:pt x="387453" y="278324"/>
                </a:cubicBezTo>
                <a:lnTo>
                  <a:pt x="387453" y="278324"/>
                </a:lnTo>
                <a:cubicBezTo>
                  <a:pt x="387453" y="243827"/>
                  <a:pt x="401157" y="210744"/>
                  <a:pt x="425549" y="186350"/>
                </a:cubicBezTo>
                <a:cubicBezTo>
                  <a:pt x="449942" y="161958"/>
                  <a:pt x="483025" y="148254"/>
                  <a:pt x="517522" y="148254"/>
                </a:cubicBezTo>
                <a:lnTo>
                  <a:pt x="4321616" y="148254"/>
                </a:lnTo>
                <a:cubicBezTo>
                  <a:pt x="4341275" y="148254"/>
                  <a:pt x="4360130" y="140445"/>
                  <a:pt x="4374031" y="126543"/>
                </a:cubicBezTo>
                <a:cubicBezTo>
                  <a:pt x="4387933" y="112642"/>
                  <a:pt x="4395743" y="93787"/>
                  <a:pt x="4395743" y="74127"/>
                </a:cubicBezTo>
                <a:lnTo>
                  <a:pt x="4395743" y="74127"/>
                </a:lnTo>
                <a:cubicBezTo>
                  <a:pt x="4395743" y="54467"/>
                  <a:pt x="4403553" y="35612"/>
                  <a:pt x="4417455" y="21711"/>
                </a:cubicBezTo>
                <a:cubicBezTo>
                  <a:pt x="4431356" y="7809"/>
                  <a:pt x="4450211" y="0"/>
                  <a:pt x="4469870" y="0"/>
                </a:cubicBezTo>
                <a:lnTo>
                  <a:pt x="5040612" y="0"/>
                </a:lnTo>
              </a:path>
            </a:pathLst>
          </a:custGeom>
          <a:ln w="19050" cap="flat">
            <a:solidFill>
              <a:srgbClr val="1578D9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3" name="TextBox 213"/>
          <p:cNvSpPr txBox="1"/>
          <p:nvPr/>
        </p:nvSpPr>
        <p:spPr>
          <a:xfrm>
            <a:off x="1478065" y="230762"/>
            <a:ext cx="15341395" cy="78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34"/>
              </a:lnSpc>
              <a:spcBef>
                <a:spcPct val="0"/>
              </a:spcBef>
            </a:pPr>
            <a:r>
              <a:rPr lang="en-US" sz="4642" b="1" u="none" strike="noStrike">
                <a:solidFill>
                  <a:srgbClr val="11233C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DIAGRAMA DE SECUENCIA - CREACION CONDUCTOR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83167" y="4099762"/>
            <a:ext cx="11921665" cy="200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50"/>
              </a:lnSpc>
              <a:spcBef>
                <a:spcPct val="0"/>
              </a:spcBef>
            </a:pPr>
            <a:r>
              <a:rPr lang="en-US" sz="110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GRACIAS</a:t>
            </a:r>
          </a:p>
        </p:txBody>
      </p:sp>
      <p:sp>
        <p:nvSpPr>
          <p:cNvPr id="4" name="Freeform 4"/>
          <p:cNvSpPr/>
          <p:nvPr/>
        </p:nvSpPr>
        <p:spPr>
          <a:xfrm>
            <a:off x="-119537" y="7988579"/>
            <a:ext cx="5078884" cy="2539442"/>
          </a:xfrm>
          <a:custGeom>
            <a:avLst/>
            <a:gdLst/>
            <a:ahLst/>
            <a:cxnLst/>
            <a:rect l="l" t="t" r="r" b="b"/>
            <a:pathLst>
              <a:path w="5078884" h="2539442">
                <a:moveTo>
                  <a:pt x="0" y="0"/>
                </a:moveTo>
                <a:lnTo>
                  <a:pt x="5078884" y="0"/>
                </a:lnTo>
                <a:lnTo>
                  <a:pt x="5078884" y="2539442"/>
                </a:lnTo>
                <a:lnTo>
                  <a:pt x="0" y="2539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389427" y="-697002"/>
            <a:ext cx="5950008" cy="3478275"/>
          </a:xfrm>
          <a:custGeom>
            <a:avLst/>
            <a:gdLst/>
            <a:ahLst/>
            <a:cxnLst/>
            <a:rect l="l" t="t" r="r" b="b"/>
            <a:pathLst>
              <a:path w="5950008" h="3478275">
                <a:moveTo>
                  <a:pt x="0" y="0"/>
                </a:moveTo>
                <a:lnTo>
                  <a:pt x="5950008" y="0"/>
                </a:lnTo>
                <a:lnTo>
                  <a:pt x="5950008" y="3478276"/>
                </a:lnTo>
                <a:lnTo>
                  <a:pt x="0" y="3478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029186" y="3828145"/>
            <a:ext cx="8229627" cy="2859289"/>
            <a:chOff x="0" y="0"/>
            <a:chExt cx="2167474" cy="753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67474" cy="753064"/>
            </a:xfrm>
            <a:custGeom>
              <a:avLst/>
              <a:gdLst/>
              <a:ahLst/>
              <a:cxnLst/>
              <a:rect l="l" t="t" r="r" b="b"/>
              <a:pathLst>
                <a:path w="2167474" h="753064">
                  <a:moveTo>
                    <a:pt x="21637" y="0"/>
                  </a:moveTo>
                  <a:lnTo>
                    <a:pt x="2145837" y="0"/>
                  </a:lnTo>
                  <a:cubicBezTo>
                    <a:pt x="2151575" y="0"/>
                    <a:pt x="2157079" y="2280"/>
                    <a:pt x="2161136" y="6337"/>
                  </a:cubicBezTo>
                  <a:cubicBezTo>
                    <a:pt x="2165194" y="10395"/>
                    <a:pt x="2167474" y="15898"/>
                    <a:pt x="2167474" y="21637"/>
                  </a:cubicBezTo>
                  <a:lnTo>
                    <a:pt x="2167474" y="731427"/>
                  </a:lnTo>
                  <a:cubicBezTo>
                    <a:pt x="2167474" y="743377"/>
                    <a:pt x="2157787" y="753064"/>
                    <a:pt x="2145837" y="753064"/>
                  </a:cubicBezTo>
                  <a:lnTo>
                    <a:pt x="21637" y="753064"/>
                  </a:lnTo>
                  <a:cubicBezTo>
                    <a:pt x="15898" y="753064"/>
                    <a:pt x="10395" y="750784"/>
                    <a:pt x="6337" y="746727"/>
                  </a:cubicBezTo>
                  <a:cubicBezTo>
                    <a:pt x="2280" y="742669"/>
                    <a:pt x="0" y="737165"/>
                    <a:pt x="0" y="731427"/>
                  </a:cubicBezTo>
                  <a:lnTo>
                    <a:pt x="0" y="21637"/>
                  </a:lnTo>
                  <a:cubicBezTo>
                    <a:pt x="0" y="15898"/>
                    <a:pt x="2280" y="10395"/>
                    <a:pt x="6337" y="6337"/>
                  </a:cubicBezTo>
                  <a:cubicBezTo>
                    <a:pt x="10395" y="2280"/>
                    <a:pt x="15898" y="0"/>
                    <a:pt x="21637" y="0"/>
                  </a:cubicBezTo>
                  <a:close/>
                </a:path>
              </a:pathLst>
            </a:custGeom>
            <a:ln w="38100" cap="rnd">
              <a:solidFill>
                <a:srgbClr val="EBF3FC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167474" cy="800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89033">
            <a:off x="13875580" y="6337636"/>
            <a:ext cx="4605259" cy="4622067"/>
          </a:xfrm>
          <a:custGeom>
            <a:avLst/>
            <a:gdLst/>
            <a:ahLst/>
            <a:cxnLst/>
            <a:rect l="l" t="t" r="r" b="b"/>
            <a:pathLst>
              <a:path w="4605259" h="4622067">
                <a:moveTo>
                  <a:pt x="0" y="0"/>
                </a:moveTo>
                <a:lnTo>
                  <a:pt x="4605260" y="0"/>
                </a:lnTo>
                <a:lnTo>
                  <a:pt x="4605260" y="4622067"/>
                </a:lnTo>
                <a:lnTo>
                  <a:pt x="0" y="46220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135446" y="2366212"/>
            <a:ext cx="3823023" cy="4114800"/>
          </a:xfrm>
          <a:custGeom>
            <a:avLst/>
            <a:gdLst/>
            <a:ahLst/>
            <a:cxnLst/>
            <a:rect l="l" t="t" r="r" b="b"/>
            <a:pathLst>
              <a:path w="3823023" h="4114800">
                <a:moveTo>
                  <a:pt x="0" y="0"/>
                </a:moveTo>
                <a:lnTo>
                  <a:pt x="3823023" y="0"/>
                </a:lnTo>
                <a:lnTo>
                  <a:pt x="3823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56" y="9258300"/>
            <a:ext cx="18288206" cy="755117"/>
            <a:chOff x="0" y="0"/>
            <a:chExt cx="24384275" cy="1006823"/>
          </a:xfrm>
        </p:grpSpPr>
        <p:sp>
          <p:nvSpPr>
            <p:cNvPr id="12" name="Freeform 12"/>
            <p:cNvSpPr/>
            <p:nvPr/>
          </p:nvSpPr>
          <p:spPr>
            <a:xfrm>
              <a:off x="8070437" y="168119"/>
              <a:ext cx="4882640" cy="838704"/>
            </a:xfrm>
            <a:custGeom>
              <a:avLst/>
              <a:gdLst/>
              <a:ahLst/>
              <a:cxnLst/>
              <a:rect l="l" t="t" r="r" b="b"/>
              <a:pathLst>
                <a:path w="4882640" h="838704">
                  <a:moveTo>
                    <a:pt x="0" y="0"/>
                  </a:moveTo>
                  <a:lnTo>
                    <a:pt x="4882640" y="0"/>
                  </a:lnTo>
                  <a:lnTo>
                    <a:pt x="4882640" y="838704"/>
                  </a:lnTo>
                  <a:lnTo>
                    <a:pt x="0" y="838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7083" t="-522387" r="-25606" b="-114608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3305058" y="0"/>
              <a:ext cx="3008655" cy="748403"/>
            </a:xfrm>
            <a:custGeom>
              <a:avLst/>
              <a:gdLst/>
              <a:ahLst/>
              <a:cxnLst/>
              <a:rect l="l" t="t" r="r" b="b"/>
              <a:pathLst>
                <a:path w="3008655" h="748403">
                  <a:moveTo>
                    <a:pt x="0" y="0"/>
                  </a:moveTo>
                  <a:lnTo>
                    <a:pt x="3008655" y="0"/>
                  </a:lnTo>
                  <a:lnTo>
                    <a:pt x="3008655" y="748403"/>
                  </a:lnTo>
                  <a:lnTo>
                    <a:pt x="0" y="74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4" name="AutoShape 14"/>
            <p:cNvSpPr/>
            <p:nvPr/>
          </p:nvSpPr>
          <p:spPr>
            <a:xfrm flipV="1">
              <a:off x="75" y="5557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 flipV="1">
              <a:off x="16313838" y="492221"/>
              <a:ext cx="8070362" cy="31750"/>
            </a:xfrm>
            <a:prstGeom prst="line">
              <a:avLst/>
            </a:prstGeom>
            <a:ln w="38100" cap="flat">
              <a:solidFill>
                <a:srgbClr val="D97534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1066</Words>
  <Application>Microsoft Office PowerPoint</Application>
  <PresentationFormat>Personalizado</PresentationFormat>
  <Paragraphs>228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Poppins</vt:lpstr>
      <vt:lpstr>Arimo</vt:lpstr>
      <vt:lpstr>Poppins Bold</vt:lpstr>
      <vt:lpstr>Arimo Bold</vt:lpstr>
      <vt:lpstr>Arial</vt:lpstr>
      <vt:lpstr>Calibri</vt:lpstr>
      <vt:lpstr>Open Sauce Bold</vt:lpstr>
      <vt:lpstr>Open Sans</vt:lpstr>
      <vt:lpstr>Open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Fase 2 Avance Capstone</dc:title>
  <cp:lastModifiedBy>Jorge Lorca</cp:lastModifiedBy>
  <cp:revision>2</cp:revision>
  <dcterms:created xsi:type="dcterms:W3CDTF">2006-08-16T00:00:00Z</dcterms:created>
  <dcterms:modified xsi:type="dcterms:W3CDTF">2026-10-13T15:45:01Z</dcterms:modified>
  <dc:identifier>DAHX1Y1uk4A</dc:identifier>
</cp:coreProperties>
</file>
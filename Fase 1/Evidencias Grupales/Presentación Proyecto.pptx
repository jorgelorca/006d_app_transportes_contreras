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mo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</p:embeddedFont>
    <p:embeddedFont>
      <p:font typeface="Poppi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0.sv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6.svg"/><Relationship Id="rId5" Type="http://schemas.openxmlformats.org/officeDocument/2006/relationships/image" Target="../media/image7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12" Type="http://schemas.openxmlformats.org/officeDocument/2006/relationships/image" Target="../media/image45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9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5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5.png"/><Relationship Id="rId3" Type="http://schemas.openxmlformats.org/officeDocument/2006/relationships/image" Target="../media/image9.png"/><Relationship Id="rId7" Type="http://schemas.openxmlformats.org/officeDocument/2006/relationships/image" Target="../media/image61.png"/><Relationship Id="rId12" Type="http://schemas.openxmlformats.org/officeDocument/2006/relationships/hyperlink" Target="https://app.visily.ai/projects/bf866962-eec2-4218-aa6c-8459b5acc11b/boards/2706766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pp.visily.ai/projects/f9ae1981-f2d4-4675-a5b7-4a0ba5f1ce55/boards/2705786" TargetMode="External"/><Relationship Id="rId11" Type="http://schemas.openxmlformats.org/officeDocument/2006/relationships/image" Target="../media/image64.svg"/><Relationship Id="rId5" Type="http://schemas.openxmlformats.org/officeDocument/2006/relationships/image" Target="../media/image60.png"/><Relationship Id="rId10" Type="http://schemas.openxmlformats.org/officeDocument/2006/relationships/image" Target="../media/image63.png"/><Relationship Id="rId4" Type="http://schemas.openxmlformats.org/officeDocument/2006/relationships/image" Target="../media/image59.png"/><Relationship Id="rId9" Type="http://schemas.openxmlformats.org/officeDocument/2006/relationships/hyperlink" Target="https://app.visily.ai/projects/8411177e-2c40-47ae-88ac-c4ac4cbafcee/boards/2706663" TargetMode="External"/><Relationship Id="rId14" Type="http://schemas.openxmlformats.org/officeDocument/2006/relationships/image" Target="../media/image6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9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svg"/><Relationship Id="rId11" Type="http://schemas.openxmlformats.org/officeDocument/2006/relationships/image" Target="../media/image7.png"/><Relationship Id="rId5" Type="http://schemas.openxmlformats.org/officeDocument/2006/relationships/image" Target="../media/image73.png"/><Relationship Id="rId10" Type="http://schemas.openxmlformats.org/officeDocument/2006/relationships/image" Target="../media/image78.svg"/><Relationship Id="rId4" Type="http://schemas.openxmlformats.org/officeDocument/2006/relationships/image" Target="../media/image72.sv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19034" y="4790063"/>
            <a:ext cx="2574905" cy="821186"/>
            <a:chOff x="0" y="0"/>
            <a:chExt cx="956238" cy="3049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6239" cy="304963"/>
            </a:xfrm>
            <a:custGeom>
              <a:avLst/>
              <a:gdLst/>
              <a:ahLst/>
              <a:cxnLst/>
              <a:rect l="l" t="t" r="r" b="b"/>
              <a:pathLst>
                <a:path w="956239" h="304963">
                  <a:moveTo>
                    <a:pt x="0" y="0"/>
                  </a:moveTo>
                  <a:lnTo>
                    <a:pt x="956239" y="0"/>
                  </a:lnTo>
                  <a:lnTo>
                    <a:pt x="95623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6238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44665" y="4154470"/>
            <a:ext cx="912794" cy="828743"/>
            <a:chOff x="0" y="0"/>
            <a:chExt cx="338983" cy="307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8983" cy="307769"/>
            </a:xfrm>
            <a:custGeom>
              <a:avLst/>
              <a:gdLst/>
              <a:ahLst/>
              <a:cxnLst/>
              <a:rect l="l" t="t" r="r" b="b"/>
              <a:pathLst>
                <a:path w="338983" h="307769">
                  <a:moveTo>
                    <a:pt x="0" y="0"/>
                  </a:moveTo>
                  <a:lnTo>
                    <a:pt x="338983" y="0"/>
                  </a:lnTo>
                  <a:lnTo>
                    <a:pt x="338983" y="307769"/>
                  </a:lnTo>
                  <a:lnTo>
                    <a:pt x="0" y="307769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38983" cy="355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818" y="4446230"/>
            <a:ext cx="7542654" cy="1494918"/>
            <a:chOff x="0" y="0"/>
            <a:chExt cx="1809784" cy="358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9784" cy="358691"/>
            </a:xfrm>
            <a:custGeom>
              <a:avLst/>
              <a:gdLst/>
              <a:ahLst/>
              <a:cxnLst/>
              <a:rect l="l" t="t" r="r" b="b"/>
              <a:pathLst>
                <a:path w="1809784" h="358691">
                  <a:moveTo>
                    <a:pt x="0" y="0"/>
                  </a:moveTo>
                  <a:lnTo>
                    <a:pt x="1809784" y="0"/>
                  </a:lnTo>
                  <a:lnTo>
                    <a:pt x="1809784" y="358691"/>
                  </a:lnTo>
                  <a:lnTo>
                    <a:pt x="0" y="358691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09784" cy="40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9239250"/>
            <a:ext cx="18288000" cy="0"/>
          </a:xfrm>
          <a:prstGeom prst="line">
            <a:avLst/>
          </a:prstGeom>
          <a:ln w="19050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8201698"/>
            <a:ext cx="18288000" cy="0"/>
          </a:xfrm>
          <a:prstGeom prst="line">
            <a:avLst/>
          </a:prstGeom>
          <a:ln w="19050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-10800000">
            <a:off x="14463720" y="0"/>
            <a:ext cx="3169951" cy="1584976"/>
          </a:xfrm>
          <a:custGeom>
            <a:avLst/>
            <a:gdLst/>
            <a:ahLst/>
            <a:cxnLst/>
            <a:rect l="l" t="t" r="r" b="b"/>
            <a:pathLst>
              <a:path w="3169951" h="1584976">
                <a:moveTo>
                  <a:pt x="0" y="0"/>
                </a:moveTo>
                <a:lnTo>
                  <a:pt x="3169952" y="0"/>
                </a:lnTo>
                <a:lnTo>
                  <a:pt x="3169952" y="1584976"/>
                </a:lnTo>
                <a:lnTo>
                  <a:pt x="0" y="158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301034">
            <a:off x="792827" y="3095295"/>
            <a:ext cx="2602839" cy="3336973"/>
          </a:xfrm>
          <a:custGeom>
            <a:avLst/>
            <a:gdLst/>
            <a:ahLst/>
            <a:cxnLst/>
            <a:rect l="l" t="t" r="r" b="b"/>
            <a:pathLst>
              <a:path w="2602839" h="3336973">
                <a:moveTo>
                  <a:pt x="0" y="0"/>
                </a:moveTo>
                <a:lnTo>
                  <a:pt x="2602839" y="0"/>
                </a:lnTo>
                <a:lnTo>
                  <a:pt x="2602839" y="3336973"/>
                </a:lnTo>
                <a:lnTo>
                  <a:pt x="0" y="3336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714660" y="-1950753"/>
            <a:ext cx="3901506" cy="3901506"/>
          </a:xfrm>
          <a:custGeom>
            <a:avLst/>
            <a:gdLst/>
            <a:ahLst/>
            <a:cxnLst/>
            <a:rect l="l" t="t" r="r" b="b"/>
            <a:pathLst>
              <a:path w="3901506" h="3901506">
                <a:moveTo>
                  <a:pt x="0" y="0"/>
                </a:moveTo>
                <a:lnTo>
                  <a:pt x="3901507" y="0"/>
                </a:lnTo>
                <a:lnTo>
                  <a:pt x="3901507" y="3901506"/>
                </a:lnTo>
                <a:lnTo>
                  <a:pt x="0" y="3901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097882" y="8433317"/>
            <a:ext cx="4691862" cy="805933"/>
          </a:xfrm>
          <a:custGeom>
            <a:avLst/>
            <a:gdLst/>
            <a:ahLst/>
            <a:cxnLst/>
            <a:rect l="l" t="t" r="r" b="b"/>
            <a:pathLst>
              <a:path w="4691862" h="805933">
                <a:moveTo>
                  <a:pt x="0" y="0"/>
                </a:moveTo>
                <a:lnTo>
                  <a:pt x="4691862" y="0"/>
                </a:lnTo>
                <a:lnTo>
                  <a:pt x="4691862" y="805933"/>
                </a:lnTo>
                <a:lnTo>
                  <a:pt x="0" y="805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083" t="-522387" r="-25606" b="-11460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24285" y="8019590"/>
            <a:ext cx="1773597" cy="1141677"/>
          </a:xfrm>
          <a:custGeom>
            <a:avLst/>
            <a:gdLst/>
            <a:ahLst/>
            <a:cxnLst/>
            <a:rect l="l" t="t" r="r" b="b"/>
            <a:pathLst>
              <a:path w="1773597" h="1141677">
                <a:moveTo>
                  <a:pt x="0" y="0"/>
                </a:moveTo>
                <a:lnTo>
                  <a:pt x="1773597" y="0"/>
                </a:lnTo>
                <a:lnTo>
                  <a:pt x="1773597" y="1141677"/>
                </a:lnTo>
                <a:lnTo>
                  <a:pt x="0" y="11416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764" t="-34749" r="-13742" b="-5711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552518" y="8201698"/>
            <a:ext cx="3411197" cy="848535"/>
          </a:xfrm>
          <a:custGeom>
            <a:avLst/>
            <a:gdLst/>
            <a:ahLst/>
            <a:cxnLst/>
            <a:rect l="l" t="t" r="r" b="b"/>
            <a:pathLst>
              <a:path w="3411197" h="848535">
                <a:moveTo>
                  <a:pt x="0" y="0"/>
                </a:moveTo>
                <a:lnTo>
                  <a:pt x="3411197" y="0"/>
                </a:lnTo>
                <a:lnTo>
                  <a:pt x="3411197" y="848535"/>
                </a:lnTo>
                <a:lnTo>
                  <a:pt x="0" y="848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350298" y="3972258"/>
            <a:ext cx="6806388" cy="248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36"/>
              </a:lnSpc>
              <a:spcBef>
                <a:spcPct val="0"/>
              </a:spcBef>
            </a:pPr>
            <a:r>
              <a:rPr lang="en-US" sz="13668" b="1" dirty="0">
                <a:solidFill>
                  <a:srgbClr val="F6F6F1"/>
                </a:solidFill>
                <a:latin typeface="Poppins Bold"/>
                <a:ea typeface="Poppins Bold"/>
                <a:cs typeface="Poppins Bold"/>
                <a:sym typeface="Poppins Bold"/>
              </a:rPr>
              <a:t>APT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6847" y="2013035"/>
            <a:ext cx="13809392" cy="248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36"/>
              </a:lnSpc>
              <a:spcBef>
                <a:spcPct val="0"/>
              </a:spcBef>
            </a:pPr>
            <a:r>
              <a:rPr lang="en-US" sz="13668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9034" y="6179007"/>
            <a:ext cx="9835971" cy="37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2"/>
              </a:lnSpc>
            </a:pPr>
            <a:r>
              <a:rPr lang="en-US" sz="2101" spc="4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Valentina Cisterna | Lucas Contreras | Jorge Lorca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8158" y="551338"/>
            <a:ext cx="12370691" cy="1371085"/>
          </a:xfrm>
          <a:custGeom>
            <a:avLst/>
            <a:gdLst/>
            <a:ahLst/>
            <a:cxnLst/>
            <a:rect l="l" t="t" r="r" b="b"/>
            <a:pathLst>
              <a:path w="12370691" h="1371085">
                <a:moveTo>
                  <a:pt x="0" y="0"/>
                </a:moveTo>
                <a:lnTo>
                  <a:pt x="12370691" y="0"/>
                </a:lnTo>
                <a:lnTo>
                  <a:pt x="12370691" y="1371084"/>
                </a:lnTo>
                <a:lnTo>
                  <a:pt x="0" y="1371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962633" y="2761075"/>
          <a:ext cx="3987247" cy="5944648"/>
        </p:xfrm>
        <a:graphic>
          <a:graphicData uri="http://schemas.openxmlformats.org/drawingml/2006/table">
            <a:tbl>
              <a:tblPr/>
              <a:tblGrid>
                <a:gridCol w="3987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750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Introducción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5468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Contexto/Problematica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68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Solución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91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Metodología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91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Plan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291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Roles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291925" y="2895603"/>
            <a:ext cx="670708" cy="670997"/>
            <a:chOff x="0" y="0"/>
            <a:chExt cx="812800" cy="8131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925" y="3888671"/>
            <a:ext cx="670708" cy="670997"/>
            <a:chOff x="0" y="0"/>
            <a:chExt cx="812800" cy="8131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91925" y="4888285"/>
            <a:ext cx="670708" cy="670997"/>
            <a:chOff x="0" y="0"/>
            <a:chExt cx="812800" cy="813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91925" y="5892257"/>
            <a:ext cx="670708" cy="670997"/>
            <a:chOff x="0" y="0"/>
            <a:chExt cx="812800" cy="813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90700" y="670737"/>
            <a:ext cx="10522547" cy="104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F6F6F1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91925" y="6896228"/>
            <a:ext cx="670708" cy="670997"/>
            <a:chOff x="0" y="0"/>
            <a:chExt cx="812800" cy="8131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91925" y="7900200"/>
            <a:ext cx="670708" cy="670997"/>
            <a:chOff x="0" y="0"/>
            <a:chExt cx="812800" cy="8131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9636421" y="2820350"/>
          <a:ext cx="3987247" cy="6086547"/>
        </p:xfrm>
        <a:graphic>
          <a:graphicData uri="http://schemas.openxmlformats.org/drawingml/2006/table">
            <a:tbl>
              <a:tblPr/>
              <a:tblGrid>
                <a:gridCol w="3987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750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Mapa Tecnológico/Arquitectura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5468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Competencias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68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Riesgos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91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Seguridad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33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91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Mockup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2915">
                <a:tc>
                  <a:txBody>
                    <a:bodyPr/>
                    <a:lstStyle/>
                    <a:p>
                      <a:pPr algn="l">
                        <a:lnSpc>
                          <a:spcPts val="2557"/>
                        </a:lnSpc>
                        <a:defRPr/>
                      </a:pPr>
                      <a:r>
                        <a:rPr lang="en-US" sz="1827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Conclusión</a:t>
                      </a:r>
                      <a:endParaRPr lang="en-US" sz="1100"/>
                    </a:p>
                  </a:txBody>
                  <a:tcPr marL="226332" marR="226332" marT="226332" marB="226332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2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8965712" y="2954879"/>
            <a:ext cx="670708" cy="670997"/>
            <a:chOff x="0" y="0"/>
            <a:chExt cx="812800" cy="81315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65712" y="3947947"/>
            <a:ext cx="670708" cy="670997"/>
            <a:chOff x="0" y="0"/>
            <a:chExt cx="812800" cy="81315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965712" y="4947561"/>
            <a:ext cx="670708" cy="670997"/>
            <a:chOff x="0" y="0"/>
            <a:chExt cx="812800" cy="8131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65712" y="5951532"/>
            <a:ext cx="670708" cy="670997"/>
            <a:chOff x="0" y="0"/>
            <a:chExt cx="812800" cy="81315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965712" y="6955504"/>
            <a:ext cx="670708" cy="670997"/>
            <a:chOff x="0" y="0"/>
            <a:chExt cx="812800" cy="81315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965712" y="7959475"/>
            <a:ext cx="670708" cy="670997"/>
            <a:chOff x="0" y="0"/>
            <a:chExt cx="812800" cy="81315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12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083" t="-522387" r="-25606" b="-114608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4" name="AutoShape 4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Freeform 46"/>
          <p:cNvSpPr/>
          <p:nvPr/>
        </p:nvSpPr>
        <p:spPr>
          <a:xfrm>
            <a:off x="4928826" y="313941"/>
            <a:ext cx="1635744" cy="1608481"/>
          </a:xfrm>
          <a:custGeom>
            <a:avLst/>
            <a:gdLst/>
            <a:ahLst/>
            <a:cxnLst/>
            <a:rect l="l" t="t" r="r" b="b"/>
            <a:pathLst>
              <a:path w="1635744" h="1608481">
                <a:moveTo>
                  <a:pt x="0" y="0"/>
                </a:moveTo>
                <a:lnTo>
                  <a:pt x="1635744" y="0"/>
                </a:lnTo>
                <a:lnTo>
                  <a:pt x="1635744" y="1608481"/>
                </a:lnTo>
                <a:lnTo>
                  <a:pt x="0" y="1608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46434" y="2280576"/>
            <a:ext cx="11082984" cy="6553200"/>
            <a:chOff x="0" y="0"/>
            <a:chExt cx="2918975" cy="1725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8975" cy="1725946"/>
            </a:xfrm>
            <a:custGeom>
              <a:avLst/>
              <a:gdLst/>
              <a:ahLst/>
              <a:cxnLst/>
              <a:rect l="l" t="t" r="r" b="b"/>
              <a:pathLst>
                <a:path w="2918975" h="1725946">
                  <a:moveTo>
                    <a:pt x="13971" y="0"/>
                  </a:moveTo>
                  <a:lnTo>
                    <a:pt x="2905004" y="0"/>
                  </a:lnTo>
                  <a:cubicBezTo>
                    <a:pt x="2912720" y="0"/>
                    <a:pt x="2918975" y="6255"/>
                    <a:pt x="2918975" y="13971"/>
                  </a:cubicBezTo>
                  <a:lnTo>
                    <a:pt x="2918975" y="1711975"/>
                  </a:lnTo>
                  <a:cubicBezTo>
                    <a:pt x="2918975" y="1715680"/>
                    <a:pt x="2917503" y="1719234"/>
                    <a:pt x="2914883" y="1721854"/>
                  </a:cubicBezTo>
                  <a:cubicBezTo>
                    <a:pt x="2912263" y="1724474"/>
                    <a:pt x="2908710" y="1725946"/>
                    <a:pt x="2905004" y="1725946"/>
                  </a:cubicBezTo>
                  <a:lnTo>
                    <a:pt x="13971" y="1725946"/>
                  </a:lnTo>
                  <a:cubicBezTo>
                    <a:pt x="6255" y="1725946"/>
                    <a:pt x="0" y="1719691"/>
                    <a:pt x="0" y="1711975"/>
                  </a:cubicBezTo>
                  <a:lnTo>
                    <a:pt x="0" y="13971"/>
                  </a:lnTo>
                  <a:cubicBezTo>
                    <a:pt x="0" y="10266"/>
                    <a:pt x="1472" y="6712"/>
                    <a:pt x="4092" y="4092"/>
                  </a:cubicBezTo>
                  <a:cubicBezTo>
                    <a:pt x="6712" y="1472"/>
                    <a:pt x="10266" y="0"/>
                    <a:pt x="13971" y="0"/>
                  </a:cubicBezTo>
                  <a:close/>
                </a:path>
              </a:pathLst>
            </a:custGeom>
            <a:solidFill>
              <a:srgbClr val="1D4686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918975" cy="177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90700" y="2558504"/>
            <a:ext cx="5345921" cy="5953243"/>
            <a:chOff x="0" y="0"/>
            <a:chExt cx="812800" cy="9051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05138"/>
            </a:xfrm>
            <a:custGeom>
              <a:avLst/>
              <a:gdLst/>
              <a:ahLst/>
              <a:cxnLst/>
              <a:rect l="l" t="t" r="r" b="b"/>
              <a:pathLst>
                <a:path w="812800" h="905138">
                  <a:moveTo>
                    <a:pt x="33308" y="0"/>
                  </a:moveTo>
                  <a:lnTo>
                    <a:pt x="779492" y="0"/>
                  </a:lnTo>
                  <a:cubicBezTo>
                    <a:pt x="797887" y="0"/>
                    <a:pt x="812800" y="14913"/>
                    <a:pt x="812800" y="33308"/>
                  </a:cubicBezTo>
                  <a:lnTo>
                    <a:pt x="812800" y="871830"/>
                  </a:lnTo>
                  <a:cubicBezTo>
                    <a:pt x="812800" y="880663"/>
                    <a:pt x="809291" y="889136"/>
                    <a:pt x="803044" y="895382"/>
                  </a:cubicBezTo>
                  <a:cubicBezTo>
                    <a:pt x="796798" y="901629"/>
                    <a:pt x="788326" y="905138"/>
                    <a:pt x="779492" y="905138"/>
                  </a:cubicBezTo>
                  <a:lnTo>
                    <a:pt x="33308" y="905138"/>
                  </a:lnTo>
                  <a:cubicBezTo>
                    <a:pt x="14913" y="905138"/>
                    <a:pt x="0" y="890225"/>
                    <a:pt x="0" y="871830"/>
                  </a:cubicBezTo>
                  <a:lnTo>
                    <a:pt x="0" y="33308"/>
                  </a:lnTo>
                  <a:cubicBezTo>
                    <a:pt x="0" y="14913"/>
                    <a:pt x="14913" y="0"/>
                    <a:pt x="33308" y="0"/>
                  </a:cubicBezTo>
                  <a:close/>
                </a:path>
              </a:pathLst>
            </a:custGeom>
            <a:blipFill>
              <a:blip r:embed="rId2"/>
              <a:stretch>
                <a:fillRect l="-3770" r="-5788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83" t="-522387" r="-25606" b="-11460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5479629" y="7481238"/>
            <a:ext cx="1046202" cy="1030509"/>
          </a:xfrm>
          <a:custGeom>
            <a:avLst/>
            <a:gdLst/>
            <a:ahLst/>
            <a:cxnLst/>
            <a:rect l="l" t="t" r="r" b="b"/>
            <a:pathLst>
              <a:path w="1046202" h="1030509">
                <a:moveTo>
                  <a:pt x="0" y="0"/>
                </a:moveTo>
                <a:lnTo>
                  <a:pt x="1046202" y="0"/>
                </a:lnTo>
                <a:lnTo>
                  <a:pt x="1046202" y="1030508"/>
                </a:lnTo>
                <a:lnTo>
                  <a:pt x="0" y="1030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82727" y="684715"/>
            <a:ext cx="10522547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22493" y="3149745"/>
            <a:ext cx="9103338" cy="4613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Transportes Contreras es una empresa con más de 20 años de experiencia, pero su escalabilidad se ve frenada por una logística tradicional. La dependencia de planillas físicas, documentos Excel y coordinación por WhatsApp genera errores humanos y cuellos de botella administrativos. 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66"/>
              </a:lnSpc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Como equipo de desarrollo, diseñamos la App Transportes Contreras, un ecosistema digital a medida que moderniza su operación a través de: 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18618" lvl="1" indent="-159309" algn="l">
              <a:lnSpc>
                <a:spcPts val="2066"/>
              </a:lnSpc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Arquitectura Offline-First: Garantiza el registro ininterrumpido de viajes y comprobantes en carreteras sin conexión a internet. 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18618" lvl="1" indent="-159309" algn="l">
              <a:lnSpc>
                <a:spcPts val="2066"/>
              </a:lnSpc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Operación Automatizada: Los conductores utilizan botones de estado rápidos, eliminando el tipeo manual y autogenerando sus planillas de rendición mensual. 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18618" lvl="1" indent="-159309" algn="l">
              <a:lnSpc>
                <a:spcPts val="2066"/>
              </a:lnSpc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Control Centralizado: Un panel web exclusivo que le devuelve a la gerencia la visibilidad total de la flota y la auditoría financiera en tiempo real.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66"/>
              </a:lnSpc>
              <a:spcBef>
                <a:spcPct val="0"/>
              </a:spcBef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9898" y="2826749"/>
            <a:ext cx="8469008" cy="5936251"/>
            <a:chOff x="0" y="0"/>
            <a:chExt cx="2230521" cy="1563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0521" cy="1563457"/>
            </a:xfrm>
            <a:custGeom>
              <a:avLst/>
              <a:gdLst/>
              <a:ahLst/>
              <a:cxnLst/>
              <a:rect l="l" t="t" r="r" b="b"/>
              <a:pathLst>
                <a:path w="2230521" h="1563457">
                  <a:moveTo>
                    <a:pt x="18283" y="0"/>
                  </a:moveTo>
                  <a:lnTo>
                    <a:pt x="2212238" y="0"/>
                  </a:lnTo>
                  <a:cubicBezTo>
                    <a:pt x="2222335" y="0"/>
                    <a:pt x="2230521" y="8186"/>
                    <a:pt x="2230521" y="18283"/>
                  </a:cubicBezTo>
                  <a:lnTo>
                    <a:pt x="2230521" y="1545174"/>
                  </a:lnTo>
                  <a:cubicBezTo>
                    <a:pt x="2230521" y="1555272"/>
                    <a:pt x="2222335" y="1563457"/>
                    <a:pt x="2212238" y="1563457"/>
                  </a:cubicBezTo>
                  <a:lnTo>
                    <a:pt x="18283" y="1563457"/>
                  </a:lnTo>
                  <a:cubicBezTo>
                    <a:pt x="8186" y="1563457"/>
                    <a:pt x="0" y="1555272"/>
                    <a:pt x="0" y="1545174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30521" cy="161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72948" y="-397056"/>
            <a:ext cx="7832983" cy="9160056"/>
            <a:chOff x="0" y="0"/>
            <a:chExt cx="1147768" cy="13422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7768" cy="1342224"/>
            </a:xfrm>
            <a:custGeom>
              <a:avLst/>
              <a:gdLst/>
              <a:ahLst/>
              <a:cxnLst/>
              <a:rect l="l" t="t" r="r" b="b"/>
              <a:pathLst>
                <a:path w="1147768" h="1342224">
                  <a:moveTo>
                    <a:pt x="22733" y="0"/>
                  </a:moveTo>
                  <a:lnTo>
                    <a:pt x="1125035" y="0"/>
                  </a:lnTo>
                  <a:cubicBezTo>
                    <a:pt x="1137590" y="0"/>
                    <a:pt x="1147768" y="10178"/>
                    <a:pt x="1147768" y="22733"/>
                  </a:cubicBezTo>
                  <a:lnTo>
                    <a:pt x="1147768" y="1319491"/>
                  </a:lnTo>
                  <a:cubicBezTo>
                    <a:pt x="1147768" y="1332046"/>
                    <a:pt x="1137590" y="1342224"/>
                    <a:pt x="1125035" y="1342224"/>
                  </a:cubicBezTo>
                  <a:lnTo>
                    <a:pt x="22733" y="1342224"/>
                  </a:lnTo>
                  <a:cubicBezTo>
                    <a:pt x="10178" y="1342224"/>
                    <a:pt x="0" y="1332046"/>
                    <a:pt x="0" y="1319491"/>
                  </a:cubicBezTo>
                  <a:lnTo>
                    <a:pt x="0" y="22733"/>
                  </a:lnTo>
                  <a:cubicBezTo>
                    <a:pt x="0" y="10178"/>
                    <a:pt x="10178" y="0"/>
                    <a:pt x="22733" y="0"/>
                  </a:cubicBezTo>
                  <a:close/>
                </a:path>
              </a:pathLst>
            </a:custGeom>
            <a:blipFill>
              <a:blip r:embed="rId2"/>
              <a:stretch>
                <a:fillRect l="-37597" r="-3759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83" t="-522387" r="-25606" b="-11460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5908174" y="855988"/>
            <a:ext cx="2006145" cy="962950"/>
          </a:xfrm>
          <a:custGeom>
            <a:avLst/>
            <a:gdLst/>
            <a:ahLst/>
            <a:cxnLst/>
            <a:rect l="l" t="t" r="r" b="b"/>
            <a:pathLst>
              <a:path w="2006145" h="962950">
                <a:moveTo>
                  <a:pt x="0" y="0"/>
                </a:moveTo>
                <a:lnTo>
                  <a:pt x="2006145" y="0"/>
                </a:lnTo>
                <a:lnTo>
                  <a:pt x="2006145" y="962950"/>
                </a:lnTo>
                <a:lnTo>
                  <a:pt x="0" y="962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897358" y="3292182"/>
            <a:ext cx="7499437" cy="566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2"/>
              </a:lnSpc>
            </a:pPr>
            <a:r>
              <a:rPr lang="en-US" sz="1909" b="1">
                <a:solidFill>
                  <a:srgbClr val="FEFDFC"/>
                </a:solidFill>
                <a:latin typeface="Poppins Bold"/>
                <a:ea typeface="Poppins Bold"/>
                <a:cs typeface="Poppins Bold"/>
                <a:sym typeface="Poppins Bold"/>
              </a:rPr>
              <a:t>Transportes Contreras</a:t>
            </a:r>
            <a:r>
              <a:rPr lang="en-US" sz="1909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 es una empresa chilena dedicada al transporte terrestre de carga, realizando viajes intercomunales e interregionales.</a:t>
            </a:r>
          </a:p>
          <a:p>
            <a:pPr algn="just">
              <a:lnSpc>
                <a:spcPts val="2672"/>
              </a:lnSpc>
            </a:pPr>
            <a:endParaRPr lang="en-US" sz="1909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72"/>
              </a:lnSpc>
            </a:pPr>
            <a:r>
              <a:rPr lang="en-US" sz="1909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Actualmente, la gestión de viajes, asistencia de conductores y rendición de gastos se realiza principalmente mediante papel, planillas, WhatsApp y llamadas, generando errores de digitación, pérdida de comprobantes, retrasos administrativos y falta de trazabilidad.</a:t>
            </a:r>
          </a:p>
          <a:p>
            <a:pPr algn="just">
              <a:lnSpc>
                <a:spcPts val="2672"/>
              </a:lnSpc>
            </a:pPr>
            <a:endParaRPr lang="en-US" sz="1909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72"/>
              </a:lnSpc>
            </a:pPr>
            <a:r>
              <a:rPr lang="en-US" sz="1909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Esta situación se ve agravada por las rutas que atraviesan zonas con baja o nula conectividad, dificultando el registro y comunicación de información durante la operación.</a:t>
            </a:r>
          </a:p>
          <a:p>
            <a:pPr algn="just">
              <a:lnSpc>
                <a:spcPts val="2672"/>
              </a:lnSpc>
            </a:pPr>
            <a:endParaRPr lang="en-US" sz="1909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72"/>
              </a:lnSpc>
            </a:pPr>
            <a:endParaRPr lang="en-US" sz="1909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72"/>
              </a:lnSpc>
            </a:pPr>
            <a:endParaRPr lang="en-US" sz="1909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72"/>
              </a:lnSpc>
              <a:spcBef>
                <a:spcPct val="0"/>
              </a:spcBef>
            </a:pPr>
            <a:endParaRPr lang="en-US" sz="1909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39898" y="866775"/>
            <a:ext cx="8469008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</a:t>
            </a:r>
          </a:p>
        </p:txBody>
      </p:sp>
    </p:spTree>
  </p:cSld>
  <p:clrMapOvr>
    <a:masterClrMapping/>
  </p:clrMapOvr>
  <p:transition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33762" y="2762250"/>
            <a:ext cx="876300" cy="8763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16707" y="5917154"/>
            <a:ext cx="876300" cy="8763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60883" y="2762250"/>
            <a:ext cx="876300" cy="8763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92984" y="5858416"/>
            <a:ext cx="876300" cy="8763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449335" y="2874311"/>
            <a:ext cx="3260476" cy="3422256"/>
          </a:xfrm>
          <a:custGeom>
            <a:avLst/>
            <a:gdLst/>
            <a:ahLst/>
            <a:cxnLst/>
            <a:rect l="l" t="t" r="r" b="b"/>
            <a:pathLst>
              <a:path w="3260476" h="3422256">
                <a:moveTo>
                  <a:pt x="0" y="0"/>
                </a:moveTo>
                <a:lnTo>
                  <a:pt x="3260476" y="0"/>
                </a:lnTo>
                <a:lnTo>
                  <a:pt x="3260476" y="3422255"/>
                </a:lnTo>
                <a:lnTo>
                  <a:pt x="0" y="3422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2079878" y="3386773"/>
            <a:ext cx="2979752" cy="0"/>
          </a:xfrm>
          <a:prstGeom prst="line">
            <a:avLst/>
          </a:prstGeom>
          <a:ln w="19050" cap="flat">
            <a:solidFill>
              <a:srgbClr val="312F8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6" name="AutoShape 16"/>
          <p:cNvSpPr/>
          <p:nvPr/>
        </p:nvSpPr>
        <p:spPr>
          <a:xfrm>
            <a:off x="13223718" y="3386773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3223718" y="6463889"/>
            <a:ext cx="2979752" cy="0"/>
          </a:xfrm>
          <a:prstGeom prst="line">
            <a:avLst/>
          </a:prstGeom>
          <a:ln w="19050" cap="flat">
            <a:solidFill>
              <a:srgbClr val="32316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2079878" y="6568552"/>
            <a:ext cx="2979752" cy="0"/>
          </a:xfrm>
          <a:prstGeom prst="line">
            <a:avLst/>
          </a:prstGeom>
          <a:ln w="19050" cap="flat">
            <a:solidFill>
              <a:srgbClr val="32316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9" name="Freeform 19"/>
          <p:cNvSpPr/>
          <p:nvPr/>
        </p:nvSpPr>
        <p:spPr>
          <a:xfrm>
            <a:off x="5433762" y="2540999"/>
            <a:ext cx="1022691" cy="951103"/>
          </a:xfrm>
          <a:custGeom>
            <a:avLst/>
            <a:gdLst/>
            <a:ahLst/>
            <a:cxnLst/>
            <a:rect l="l" t="t" r="r" b="b"/>
            <a:pathLst>
              <a:path w="1022691" h="951103">
                <a:moveTo>
                  <a:pt x="0" y="0"/>
                </a:moveTo>
                <a:lnTo>
                  <a:pt x="1022691" y="0"/>
                </a:lnTo>
                <a:lnTo>
                  <a:pt x="1022691" y="951103"/>
                </a:lnTo>
                <a:lnTo>
                  <a:pt x="0" y="951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83" t="-522387" r="-25606" b="-114608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5565867" y="6108217"/>
            <a:ext cx="577982" cy="494174"/>
          </a:xfrm>
          <a:custGeom>
            <a:avLst/>
            <a:gdLst/>
            <a:ahLst/>
            <a:cxnLst/>
            <a:rect l="l" t="t" r="r" b="b"/>
            <a:pathLst>
              <a:path w="577982" h="494174">
                <a:moveTo>
                  <a:pt x="0" y="0"/>
                </a:moveTo>
                <a:lnTo>
                  <a:pt x="577981" y="0"/>
                </a:lnTo>
                <a:lnTo>
                  <a:pt x="577981" y="494174"/>
                </a:lnTo>
                <a:lnTo>
                  <a:pt x="0" y="494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138732" y="2937939"/>
            <a:ext cx="520603" cy="581679"/>
          </a:xfrm>
          <a:custGeom>
            <a:avLst/>
            <a:gdLst/>
            <a:ahLst/>
            <a:cxnLst/>
            <a:rect l="l" t="t" r="r" b="b"/>
            <a:pathLst>
              <a:path w="520603" h="581679">
                <a:moveTo>
                  <a:pt x="0" y="0"/>
                </a:moveTo>
                <a:lnTo>
                  <a:pt x="520603" y="0"/>
                </a:lnTo>
                <a:lnTo>
                  <a:pt x="520603" y="581680"/>
                </a:lnTo>
                <a:lnTo>
                  <a:pt x="0" y="5816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154909" y="6016102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0" y="0"/>
                </a:moveTo>
                <a:lnTo>
                  <a:pt x="552450" y="0"/>
                </a:lnTo>
                <a:lnTo>
                  <a:pt x="55245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988200" y="684715"/>
            <a:ext cx="12311600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SOLUCIÓN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79878" y="3537585"/>
            <a:ext cx="2979752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Creación de Aplicación móvil para conductores: registro de viajes, asistencia, combustible y comprobantes.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23718" y="3537585"/>
            <a:ext cx="2979752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macena y administra la información de forma segura mediante una base de datos centralizada.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9878" y="6692489"/>
            <a:ext cx="2979752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Creación de panel administrativo web: gestión y monitoreo de viajes, conductores, gastos y reportes.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23718" y="6616289"/>
            <a:ext cx="2979752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Pe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rmite registrar información sin Internet y sincronizarla automáticamente al recuperar la conexión.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09267" y="2880789"/>
            <a:ext cx="2129195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APP MOVIL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23718" y="2880789"/>
            <a:ext cx="352430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CENTRALIZADA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23718" y="5963508"/>
            <a:ext cx="352430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OFFLINE-FIRST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9898" y="6072093"/>
            <a:ext cx="3498564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PANEL ADMINISTRATIVO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0" y="4732907"/>
            <a:ext cx="1287452" cy="821186"/>
            <a:chOff x="0" y="0"/>
            <a:chExt cx="478119" cy="30496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94082" y="4643082"/>
            <a:ext cx="4316074" cy="3574347"/>
            <a:chOff x="0" y="0"/>
            <a:chExt cx="1136744" cy="9413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6744" cy="941392"/>
            </a:xfrm>
            <a:custGeom>
              <a:avLst/>
              <a:gdLst/>
              <a:ahLst/>
              <a:cxnLst/>
              <a:rect l="l" t="t" r="r" b="b"/>
              <a:pathLst>
                <a:path w="1136744" h="941392">
                  <a:moveTo>
                    <a:pt x="17937" y="0"/>
                  </a:moveTo>
                  <a:lnTo>
                    <a:pt x="1118806" y="0"/>
                  </a:lnTo>
                  <a:cubicBezTo>
                    <a:pt x="1128713" y="0"/>
                    <a:pt x="1136744" y="8031"/>
                    <a:pt x="1136744" y="17937"/>
                  </a:cubicBezTo>
                  <a:lnTo>
                    <a:pt x="1136744" y="923454"/>
                  </a:lnTo>
                  <a:cubicBezTo>
                    <a:pt x="1136744" y="933361"/>
                    <a:pt x="1128713" y="941392"/>
                    <a:pt x="1118806" y="941392"/>
                  </a:cubicBezTo>
                  <a:lnTo>
                    <a:pt x="17937" y="941392"/>
                  </a:lnTo>
                  <a:cubicBezTo>
                    <a:pt x="8031" y="941392"/>
                    <a:pt x="0" y="933361"/>
                    <a:pt x="0" y="923454"/>
                  </a:cubicBezTo>
                  <a:lnTo>
                    <a:pt x="0" y="17937"/>
                  </a:lnTo>
                  <a:cubicBezTo>
                    <a:pt x="0" y="8031"/>
                    <a:pt x="8031" y="0"/>
                    <a:pt x="17937" y="0"/>
                  </a:cubicBezTo>
                  <a:close/>
                </a:path>
              </a:pathLst>
            </a:custGeom>
            <a:solidFill>
              <a:srgbClr val="1D4686"/>
            </a:solidFill>
            <a:ln w="19050" cap="sq">
              <a:solidFill>
                <a:srgbClr val="1D468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36744" cy="9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12353" y="3306205"/>
            <a:ext cx="2479533" cy="247953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468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85963" y="4643082"/>
            <a:ext cx="4316074" cy="3574347"/>
            <a:chOff x="0" y="0"/>
            <a:chExt cx="1136744" cy="9413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6744" cy="941392"/>
            </a:xfrm>
            <a:custGeom>
              <a:avLst/>
              <a:gdLst/>
              <a:ahLst/>
              <a:cxnLst/>
              <a:rect l="l" t="t" r="r" b="b"/>
              <a:pathLst>
                <a:path w="1136744" h="941392">
                  <a:moveTo>
                    <a:pt x="17937" y="0"/>
                  </a:moveTo>
                  <a:lnTo>
                    <a:pt x="1118806" y="0"/>
                  </a:lnTo>
                  <a:cubicBezTo>
                    <a:pt x="1128713" y="0"/>
                    <a:pt x="1136744" y="8031"/>
                    <a:pt x="1136744" y="17937"/>
                  </a:cubicBezTo>
                  <a:lnTo>
                    <a:pt x="1136744" y="923454"/>
                  </a:lnTo>
                  <a:cubicBezTo>
                    <a:pt x="1136744" y="933361"/>
                    <a:pt x="1128713" y="941392"/>
                    <a:pt x="1118806" y="941392"/>
                  </a:cubicBezTo>
                  <a:lnTo>
                    <a:pt x="17937" y="941392"/>
                  </a:lnTo>
                  <a:cubicBezTo>
                    <a:pt x="8031" y="941392"/>
                    <a:pt x="0" y="933361"/>
                    <a:pt x="0" y="923454"/>
                  </a:cubicBezTo>
                  <a:lnTo>
                    <a:pt x="0" y="17937"/>
                  </a:lnTo>
                  <a:cubicBezTo>
                    <a:pt x="0" y="8031"/>
                    <a:pt x="8031" y="0"/>
                    <a:pt x="17937" y="0"/>
                  </a:cubicBezTo>
                  <a:close/>
                </a:path>
              </a:pathLst>
            </a:custGeom>
            <a:solidFill>
              <a:srgbClr val="D97534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136744" cy="9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00950" y="2792953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753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83087" y="4643082"/>
            <a:ext cx="4316074" cy="3574347"/>
            <a:chOff x="0" y="0"/>
            <a:chExt cx="1136744" cy="9413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6744" cy="941392"/>
            </a:xfrm>
            <a:custGeom>
              <a:avLst/>
              <a:gdLst/>
              <a:ahLst/>
              <a:cxnLst/>
              <a:rect l="l" t="t" r="r" b="b"/>
              <a:pathLst>
                <a:path w="1136744" h="941392">
                  <a:moveTo>
                    <a:pt x="17937" y="0"/>
                  </a:moveTo>
                  <a:lnTo>
                    <a:pt x="1118806" y="0"/>
                  </a:lnTo>
                  <a:cubicBezTo>
                    <a:pt x="1128713" y="0"/>
                    <a:pt x="1136744" y="8031"/>
                    <a:pt x="1136744" y="17937"/>
                  </a:cubicBezTo>
                  <a:lnTo>
                    <a:pt x="1136744" y="923454"/>
                  </a:lnTo>
                  <a:cubicBezTo>
                    <a:pt x="1136744" y="933361"/>
                    <a:pt x="1128713" y="941392"/>
                    <a:pt x="1118806" y="941392"/>
                  </a:cubicBezTo>
                  <a:lnTo>
                    <a:pt x="17937" y="941392"/>
                  </a:lnTo>
                  <a:cubicBezTo>
                    <a:pt x="8031" y="941392"/>
                    <a:pt x="0" y="933361"/>
                    <a:pt x="0" y="923454"/>
                  </a:cubicBezTo>
                  <a:lnTo>
                    <a:pt x="0" y="17937"/>
                  </a:lnTo>
                  <a:cubicBezTo>
                    <a:pt x="0" y="8031"/>
                    <a:pt x="8031" y="0"/>
                    <a:pt x="17937" y="0"/>
                  </a:cubicBezTo>
                  <a:close/>
                </a:path>
              </a:pathLst>
            </a:custGeom>
            <a:solidFill>
              <a:srgbClr val="1D4686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136744" cy="989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73662" y="3306205"/>
            <a:ext cx="2479533" cy="247953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468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2194082" y="6449306"/>
            <a:ext cx="431607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6985963" y="6449306"/>
            <a:ext cx="431607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2083087" y="6449306"/>
            <a:ext cx="431607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8365509" y="3474243"/>
            <a:ext cx="1556982" cy="1556982"/>
          </a:xfrm>
          <a:custGeom>
            <a:avLst/>
            <a:gdLst/>
            <a:ahLst/>
            <a:cxnLst/>
            <a:rect l="l" t="t" r="r" b="b"/>
            <a:pathLst>
              <a:path w="1556982" h="1556982">
                <a:moveTo>
                  <a:pt x="0" y="0"/>
                </a:moveTo>
                <a:lnTo>
                  <a:pt x="1556982" y="0"/>
                </a:lnTo>
                <a:lnTo>
                  <a:pt x="1556982" y="1556982"/>
                </a:lnTo>
                <a:lnTo>
                  <a:pt x="0" y="155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521289" y="3844669"/>
            <a:ext cx="1395591" cy="1402604"/>
          </a:xfrm>
          <a:custGeom>
            <a:avLst/>
            <a:gdLst/>
            <a:ahLst/>
            <a:cxnLst/>
            <a:rect l="l" t="t" r="r" b="b"/>
            <a:pathLst>
              <a:path w="1395591" h="1402604">
                <a:moveTo>
                  <a:pt x="0" y="0"/>
                </a:moveTo>
                <a:lnTo>
                  <a:pt x="1395591" y="0"/>
                </a:lnTo>
                <a:lnTo>
                  <a:pt x="1395591" y="1402604"/>
                </a:lnTo>
                <a:lnTo>
                  <a:pt x="0" y="140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789761" y="3969194"/>
            <a:ext cx="1124716" cy="1153555"/>
          </a:xfrm>
          <a:custGeom>
            <a:avLst/>
            <a:gdLst/>
            <a:ahLst/>
            <a:cxnLst/>
            <a:rect l="l" t="t" r="r" b="b"/>
            <a:pathLst>
              <a:path w="1124716" h="1153555">
                <a:moveTo>
                  <a:pt x="0" y="0"/>
                </a:moveTo>
                <a:lnTo>
                  <a:pt x="1124716" y="0"/>
                </a:lnTo>
                <a:lnTo>
                  <a:pt x="1124716" y="1153555"/>
                </a:lnTo>
                <a:lnTo>
                  <a:pt x="0" y="1153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882727" y="684715"/>
            <a:ext cx="10522547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06647" y="5945728"/>
            <a:ext cx="3490945" cy="44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48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Sprints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98528" y="5945728"/>
            <a:ext cx="3490945" cy="44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48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SCRUM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95652" y="5890090"/>
            <a:ext cx="3490945" cy="44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48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06647" y="6658856"/>
            <a:ext cx="3490945" cy="9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82"/>
              </a:lnSpc>
              <a:spcBef>
                <a:spcPct val="0"/>
              </a:spcBef>
            </a:pPr>
            <a:r>
              <a:rPr lang="en-US" sz="1468" spc="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68" u="none" spc="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 desarrollo se dividirá en 5 Sprints de 2 semanas, seguidos de una semana de estabilización e integración.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68556" y="6681833"/>
            <a:ext cx="3750888" cy="107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54"/>
              </a:lnSpc>
              <a:spcBef>
                <a:spcPct val="0"/>
              </a:spcBef>
            </a:pPr>
            <a:r>
              <a:rPr lang="en-US" sz="1595" spc="95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95" u="none" spc="95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e utilizará el marco de trabajo ágil Scrum para organizar el desarrollo en iteraciones cortas y entregar avances funcionales.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73612" y="6658856"/>
            <a:ext cx="3490945" cy="123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82"/>
              </a:lnSpc>
              <a:spcBef>
                <a:spcPct val="0"/>
              </a:spcBef>
            </a:pPr>
            <a:r>
              <a:rPr lang="en-US" sz="1468" u="none" spc="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planificación y seguimiento de tareas se realizará mediante Jira y GitHub, incorporando Sprint Planning, Daily, Reviews y Retrospectives.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34" name="Freeform 34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83" t="-522387" r="-25606" b="-114608"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36" name="AutoShape 36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-1287452" y="4732907"/>
            <a:ext cx="2574905" cy="821186"/>
            <a:chOff x="0" y="0"/>
            <a:chExt cx="956238" cy="30496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56239" cy="304963"/>
            </a:xfrm>
            <a:custGeom>
              <a:avLst/>
              <a:gdLst/>
              <a:ahLst/>
              <a:cxnLst/>
              <a:rect l="l" t="t" r="r" b="b"/>
              <a:pathLst>
                <a:path w="956239" h="304963">
                  <a:moveTo>
                    <a:pt x="0" y="0"/>
                  </a:moveTo>
                  <a:lnTo>
                    <a:pt x="956239" y="0"/>
                  </a:lnTo>
                  <a:lnTo>
                    <a:pt x="95623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56238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  <p:transition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935740">
            <a:off x="4745516" y="2875932"/>
            <a:ext cx="2669641" cy="2667144"/>
            <a:chOff x="0" y="0"/>
            <a:chExt cx="522732" cy="522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2732" cy="522243"/>
            </a:xfrm>
            <a:custGeom>
              <a:avLst/>
              <a:gdLst/>
              <a:ahLst/>
              <a:cxnLst/>
              <a:rect l="l" t="t" r="r" b="b"/>
              <a:pathLst>
                <a:path w="522732" h="522243">
                  <a:moveTo>
                    <a:pt x="37700" y="0"/>
                  </a:moveTo>
                  <a:lnTo>
                    <a:pt x="485032" y="0"/>
                  </a:lnTo>
                  <a:cubicBezTo>
                    <a:pt x="495031" y="0"/>
                    <a:pt x="504620" y="3972"/>
                    <a:pt x="511690" y="11042"/>
                  </a:cubicBezTo>
                  <a:cubicBezTo>
                    <a:pt x="518760" y="18112"/>
                    <a:pt x="522732" y="27701"/>
                    <a:pt x="522732" y="37700"/>
                  </a:cubicBezTo>
                  <a:lnTo>
                    <a:pt x="522732" y="484543"/>
                  </a:lnTo>
                  <a:cubicBezTo>
                    <a:pt x="522732" y="494542"/>
                    <a:pt x="518760" y="504131"/>
                    <a:pt x="511690" y="511201"/>
                  </a:cubicBezTo>
                  <a:cubicBezTo>
                    <a:pt x="504620" y="518271"/>
                    <a:pt x="495031" y="522243"/>
                    <a:pt x="485032" y="522243"/>
                  </a:cubicBezTo>
                  <a:lnTo>
                    <a:pt x="37700" y="522243"/>
                  </a:lnTo>
                  <a:cubicBezTo>
                    <a:pt x="27701" y="522243"/>
                    <a:pt x="18112" y="518271"/>
                    <a:pt x="11042" y="511201"/>
                  </a:cubicBezTo>
                  <a:cubicBezTo>
                    <a:pt x="3972" y="504131"/>
                    <a:pt x="0" y="494542"/>
                    <a:pt x="0" y="484543"/>
                  </a:cubicBezTo>
                  <a:lnTo>
                    <a:pt x="0" y="37700"/>
                  </a:lnTo>
                  <a:cubicBezTo>
                    <a:pt x="0" y="27701"/>
                    <a:pt x="3972" y="18112"/>
                    <a:pt x="11042" y="11042"/>
                  </a:cubicBezTo>
                  <a:cubicBezTo>
                    <a:pt x="18112" y="3972"/>
                    <a:pt x="27701" y="0"/>
                    <a:pt x="37700" y="0"/>
                  </a:cubicBezTo>
                  <a:close/>
                </a:path>
              </a:pathLst>
            </a:custGeom>
            <a:solidFill>
              <a:srgbClr val="8282DB">
                <a:alpha val="7882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2732" cy="569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935740">
            <a:off x="7649937" y="2884792"/>
            <a:ext cx="2691290" cy="2688773"/>
            <a:chOff x="0" y="0"/>
            <a:chExt cx="526971" cy="5264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971" cy="526478"/>
            </a:xfrm>
            <a:custGeom>
              <a:avLst/>
              <a:gdLst/>
              <a:ahLst/>
              <a:cxnLst/>
              <a:rect l="l" t="t" r="r" b="b"/>
              <a:pathLst>
                <a:path w="526971" h="526478">
                  <a:moveTo>
                    <a:pt x="37397" y="0"/>
                  </a:moveTo>
                  <a:lnTo>
                    <a:pt x="489575" y="0"/>
                  </a:lnTo>
                  <a:cubicBezTo>
                    <a:pt x="510228" y="0"/>
                    <a:pt x="526971" y="16743"/>
                    <a:pt x="526971" y="37397"/>
                  </a:cubicBezTo>
                  <a:lnTo>
                    <a:pt x="526971" y="489082"/>
                  </a:lnTo>
                  <a:cubicBezTo>
                    <a:pt x="526971" y="509735"/>
                    <a:pt x="510228" y="526478"/>
                    <a:pt x="489575" y="526478"/>
                  </a:cubicBezTo>
                  <a:lnTo>
                    <a:pt x="37397" y="526478"/>
                  </a:lnTo>
                  <a:cubicBezTo>
                    <a:pt x="16743" y="526478"/>
                    <a:pt x="0" y="509735"/>
                    <a:pt x="0" y="489082"/>
                  </a:cubicBezTo>
                  <a:lnTo>
                    <a:pt x="0" y="37397"/>
                  </a:lnTo>
                  <a:cubicBezTo>
                    <a:pt x="0" y="16743"/>
                    <a:pt x="16743" y="0"/>
                    <a:pt x="37397" y="0"/>
                  </a:cubicBezTo>
                  <a:close/>
                </a:path>
              </a:pathLst>
            </a:custGeom>
            <a:solidFill>
              <a:srgbClr val="FC898D">
                <a:alpha val="8000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6971" cy="574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0697355" y="2845428"/>
            <a:ext cx="2691302" cy="2688784"/>
            <a:chOff x="0" y="0"/>
            <a:chExt cx="526974" cy="5264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6974" cy="526481"/>
            </a:xfrm>
            <a:custGeom>
              <a:avLst/>
              <a:gdLst/>
              <a:ahLst/>
              <a:cxnLst/>
              <a:rect l="l" t="t" r="r" b="b"/>
              <a:pathLst>
                <a:path w="526974" h="526481">
                  <a:moveTo>
                    <a:pt x="37396" y="0"/>
                  </a:moveTo>
                  <a:lnTo>
                    <a:pt x="489577" y="0"/>
                  </a:lnTo>
                  <a:cubicBezTo>
                    <a:pt x="510231" y="0"/>
                    <a:pt x="526974" y="16743"/>
                    <a:pt x="526974" y="37396"/>
                  </a:cubicBezTo>
                  <a:lnTo>
                    <a:pt x="526974" y="489084"/>
                  </a:lnTo>
                  <a:cubicBezTo>
                    <a:pt x="526974" y="509738"/>
                    <a:pt x="510231" y="526481"/>
                    <a:pt x="489577" y="526481"/>
                  </a:cubicBezTo>
                  <a:lnTo>
                    <a:pt x="37396" y="526481"/>
                  </a:lnTo>
                  <a:cubicBezTo>
                    <a:pt x="16743" y="526481"/>
                    <a:pt x="0" y="509738"/>
                    <a:pt x="0" y="489084"/>
                  </a:cubicBezTo>
                  <a:lnTo>
                    <a:pt x="0" y="37396"/>
                  </a:lnTo>
                  <a:cubicBezTo>
                    <a:pt x="0" y="16743"/>
                    <a:pt x="16743" y="0"/>
                    <a:pt x="37396" y="0"/>
                  </a:cubicBezTo>
                  <a:close/>
                </a:path>
              </a:pathLst>
            </a:custGeom>
            <a:solidFill>
              <a:srgbClr val="32316B">
                <a:alpha val="8000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26974" cy="574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274080" y="5732543"/>
            <a:ext cx="1135441" cy="103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56"/>
              </a:lnSpc>
              <a:spcBef>
                <a:spcPct val="0"/>
              </a:spcBef>
            </a:pPr>
            <a:r>
              <a:rPr lang="en-US" sz="5825" b="1" u="none" strike="noStrike">
                <a:solidFill>
                  <a:srgbClr val="312F84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17684" y="5925716"/>
            <a:ext cx="0" cy="436021"/>
          </a:xfrm>
          <a:prstGeom prst="line">
            <a:avLst/>
          </a:prstGeom>
          <a:ln w="38100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043006" y="5962994"/>
            <a:ext cx="0" cy="436021"/>
          </a:xfrm>
          <a:prstGeom prst="line">
            <a:avLst/>
          </a:prstGeom>
          <a:ln w="38100" cap="flat">
            <a:solidFill>
              <a:srgbClr val="DA7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9103074" y="5925716"/>
            <a:ext cx="0" cy="436021"/>
          </a:xfrm>
          <a:prstGeom prst="line">
            <a:avLst/>
          </a:prstGeom>
          <a:ln w="38100" cap="flat">
            <a:solidFill>
              <a:srgbClr val="FC898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>
            <a:off x="4197993" y="6342687"/>
            <a:ext cx="2038741" cy="0"/>
          </a:xfrm>
          <a:prstGeom prst="line">
            <a:avLst/>
          </a:prstGeom>
          <a:ln w="38100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>
            <a:off x="12016296" y="6387639"/>
            <a:ext cx="2038741" cy="0"/>
          </a:xfrm>
          <a:prstGeom prst="line">
            <a:avLst/>
          </a:prstGeom>
          <a:ln w="38100" cap="flat">
            <a:solidFill>
              <a:srgbClr val="DA722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4197993" y="6254289"/>
            <a:ext cx="152400" cy="1524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05156" y="6285537"/>
            <a:ext cx="152400" cy="15240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26874" y="6330489"/>
            <a:ext cx="152400" cy="15240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898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626258" y="-158620"/>
            <a:ext cx="18914258" cy="2239545"/>
            <a:chOff x="0" y="0"/>
            <a:chExt cx="6055655" cy="71702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55655" cy="717021"/>
            </a:xfrm>
            <a:custGeom>
              <a:avLst/>
              <a:gdLst/>
              <a:ahLst/>
              <a:cxnLst/>
              <a:rect l="l" t="t" r="r" b="b"/>
              <a:pathLst>
                <a:path w="6055655" h="717021">
                  <a:moveTo>
                    <a:pt x="3275" y="0"/>
                  </a:moveTo>
                  <a:lnTo>
                    <a:pt x="6052380" y="0"/>
                  </a:lnTo>
                  <a:cubicBezTo>
                    <a:pt x="6053249" y="0"/>
                    <a:pt x="6054082" y="345"/>
                    <a:pt x="6054696" y="959"/>
                  </a:cubicBezTo>
                  <a:cubicBezTo>
                    <a:pt x="6055310" y="1573"/>
                    <a:pt x="6055655" y="2406"/>
                    <a:pt x="6055655" y="3275"/>
                  </a:cubicBezTo>
                  <a:lnTo>
                    <a:pt x="6055655" y="713746"/>
                  </a:lnTo>
                  <a:cubicBezTo>
                    <a:pt x="6055655" y="714615"/>
                    <a:pt x="6055310" y="715448"/>
                    <a:pt x="6054696" y="716062"/>
                  </a:cubicBezTo>
                  <a:cubicBezTo>
                    <a:pt x="6054082" y="716676"/>
                    <a:pt x="6053249" y="717021"/>
                    <a:pt x="6052380" y="717021"/>
                  </a:cubicBezTo>
                  <a:lnTo>
                    <a:pt x="3275" y="717021"/>
                  </a:lnTo>
                  <a:cubicBezTo>
                    <a:pt x="2406" y="717021"/>
                    <a:pt x="1573" y="716676"/>
                    <a:pt x="959" y="716062"/>
                  </a:cubicBezTo>
                  <a:cubicBezTo>
                    <a:pt x="345" y="715448"/>
                    <a:pt x="0" y="714615"/>
                    <a:pt x="0" y="713746"/>
                  </a:cubicBezTo>
                  <a:lnTo>
                    <a:pt x="0" y="3275"/>
                  </a:lnTo>
                  <a:cubicBezTo>
                    <a:pt x="0" y="2406"/>
                    <a:pt x="345" y="1573"/>
                    <a:pt x="959" y="959"/>
                  </a:cubicBezTo>
                  <a:cubicBezTo>
                    <a:pt x="1573" y="345"/>
                    <a:pt x="2406" y="0"/>
                    <a:pt x="3275" y="0"/>
                  </a:cubicBezTo>
                  <a:close/>
                </a:path>
              </a:pathLst>
            </a:custGeom>
            <a:solidFill>
              <a:srgbClr val="DA722E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055655" cy="764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5351726" y="3733969"/>
            <a:ext cx="1457221" cy="1067746"/>
          </a:xfrm>
          <a:custGeom>
            <a:avLst/>
            <a:gdLst/>
            <a:ahLst/>
            <a:cxnLst/>
            <a:rect l="l" t="t" r="r" b="b"/>
            <a:pathLst>
              <a:path w="1457221" h="1067746">
                <a:moveTo>
                  <a:pt x="0" y="0"/>
                </a:moveTo>
                <a:lnTo>
                  <a:pt x="1457221" y="0"/>
                </a:lnTo>
                <a:lnTo>
                  <a:pt x="1457221" y="1067746"/>
                </a:lnTo>
                <a:lnTo>
                  <a:pt x="0" y="106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400267" y="3552943"/>
            <a:ext cx="1190631" cy="1429797"/>
          </a:xfrm>
          <a:custGeom>
            <a:avLst/>
            <a:gdLst/>
            <a:ahLst/>
            <a:cxnLst/>
            <a:rect l="l" t="t" r="r" b="b"/>
            <a:pathLst>
              <a:path w="1190631" h="1429797">
                <a:moveTo>
                  <a:pt x="0" y="0"/>
                </a:moveTo>
                <a:lnTo>
                  <a:pt x="1190631" y="0"/>
                </a:lnTo>
                <a:lnTo>
                  <a:pt x="1190631" y="1429798"/>
                </a:lnTo>
                <a:lnTo>
                  <a:pt x="0" y="1429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631200" y="3585118"/>
            <a:ext cx="1153411" cy="1248772"/>
          </a:xfrm>
          <a:custGeom>
            <a:avLst/>
            <a:gdLst/>
            <a:ahLst/>
            <a:cxnLst/>
            <a:rect l="l" t="t" r="r" b="b"/>
            <a:pathLst>
              <a:path w="1153411" h="1248772">
                <a:moveTo>
                  <a:pt x="0" y="0"/>
                </a:moveTo>
                <a:lnTo>
                  <a:pt x="1153411" y="0"/>
                </a:lnTo>
                <a:lnTo>
                  <a:pt x="1153411" y="1248771"/>
                </a:lnTo>
                <a:lnTo>
                  <a:pt x="0" y="1248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3882727" y="684715"/>
            <a:ext cx="10522547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ETAPAS DEL PROYECTO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35354" y="6306393"/>
            <a:ext cx="1135441" cy="103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312F84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081356" y="5744741"/>
            <a:ext cx="1135441" cy="103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312F84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95244" y="6783601"/>
            <a:ext cx="3093114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312F84"/>
                </a:solidFill>
                <a:latin typeface="Poppins Bold"/>
                <a:ea typeface="Poppins Bold"/>
                <a:cs typeface="Poppins Bold"/>
                <a:sym typeface="Poppins Bold"/>
              </a:rPr>
              <a:t>Primer etapa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97443" y="7233182"/>
            <a:ext cx="3093114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312F84"/>
                </a:solidFill>
                <a:latin typeface="Poppins Bold"/>
                <a:ea typeface="Poppins Bold"/>
                <a:cs typeface="Poppins Bold"/>
                <a:sym typeface="Poppins Bold"/>
              </a:rPr>
              <a:t>Segunda etapa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120547" y="6758836"/>
            <a:ext cx="335401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312F84"/>
                </a:solidFill>
                <a:latin typeface="Poppins Bold"/>
                <a:ea typeface="Poppins Bold"/>
                <a:cs typeface="Poppins Bold"/>
                <a:sym typeface="Poppins Bold"/>
              </a:rPr>
              <a:t>Tercer etapa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904421" y="7311786"/>
            <a:ext cx="3874760" cy="153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5"/>
              </a:lnSpc>
              <a:spcBef>
                <a:spcPct val="0"/>
              </a:spcBef>
            </a:pPr>
            <a:r>
              <a:rPr lang="en-US" sz="1300" spc="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Módul</a:t>
            </a:r>
            <a:r>
              <a:rPr lang="en-US" sz="1300" u="none" spc="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exclusivo para la gerencia que permite la creación y asignación centralizada de viajes. Incluye un flujo de auditoría financiera para revisar las planillas mensuales, validar comprobantes y gestionar la base de datos de la flota de forma segura.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20547" y="7280807"/>
            <a:ext cx="3874760" cy="153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5"/>
              </a:lnSpc>
              <a:spcBef>
                <a:spcPct val="0"/>
              </a:spcBef>
            </a:pPr>
            <a:r>
              <a:rPr lang="en-US" sz="1300" spc="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Núcl</a:t>
            </a:r>
            <a:r>
              <a:rPr lang="en-US" sz="1300" u="none" spc="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eo técnico del sistema desarrollado bajo una lógica Offline-First, garantizando que la captura de datos de la flota no se interrumpa en zonas sin internet. Incorpora seguridad de acceso RLS para asegurar el aislamiento y privacidad de la información.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5579" y="7786131"/>
            <a:ext cx="4596841" cy="131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5"/>
              </a:lnSpc>
              <a:spcBef>
                <a:spcPct val="0"/>
              </a:spcBef>
            </a:pPr>
            <a:r>
              <a:rPr lang="en-US" sz="1300" spc="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</a:t>
            </a:r>
            <a:r>
              <a:rPr lang="en-US" sz="1300" u="none" spc="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rfaz operativa simplificada que elimina el tipeo manual mediante botones de estado rápidos. Permite consolidar automáticamente las planillas de los choferes y llevar un control georreferenciado de su asistencia y cargas de combustible en ruta.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42" name="Freeform 42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7083" t="-522387" r="-25606" b="-114608"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44" name="AutoShape 44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" name="AutoShape 45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62842" y="2735902"/>
            <a:ext cx="3946959" cy="5777349"/>
            <a:chOff x="0" y="0"/>
            <a:chExt cx="1039528" cy="1521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9528" cy="1521606"/>
            </a:xfrm>
            <a:custGeom>
              <a:avLst/>
              <a:gdLst/>
              <a:ahLst/>
              <a:cxnLst/>
              <a:rect l="l" t="t" r="r" b="b"/>
              <a:pathLst>
                <a:path w="1039528" h="1521606">
                  <a:moveTo>
                    <a:pt x="33345" y="0"/>
                  </a:moveTo>
                  <a:lnTo>
                    <a:pt x="1006183" y="0"/>
                  </a:lnTo>
                  <a:cubicBezTo>
                    <a:pt x="1015027" y="0"/>
                    <a:pt x="1023508" y="3513"/>
                    <a:pt x="1029762" y="9767"/>
                  </a:cubicBezTo>
                  <a:cubicBezTo>
                    <a:pt x="1036015" y="16020"/>
                    <a:pt x="1039528" y="24502"/>
                    <a:pt x="1039528" y="33345"/>
                  </a:cubicBezTo>
                  <a:lnTo>
                    <a:pt x="1039528" y="1488261"/>
                  </a:lnTo>
                  <a:cubicBezTo>
                    <a:pt x="1039528" y="1497105"/>
                    <a:pt x="1036015" y="1505586"/>
                    <a:pt x="1029762" y="1511840"/>
                  </a:cubicBezTo>
                  <a:cubicBezTo>
                    <a:pt x="1023508" y="1518093"/>
                    <a:pt x="1015027" y="1521606"/>
                    <a:pt x="1006183" y="1521606"/>
                  </a:cubicBezTo>
                  <a:lnTo>
                    <a:pt x="33345" y="1521606"/>
                  </a:lnTo>
                  <a:cubicBezTo>
                    <a:pt x="24502" y="1521606"/>
                    <a:pt x="16020" y="1518093"/>
                    <a:pt x="9767" y="1511840"/>
                  </a:cubicBezTo>
                  <a:cubicBezTo>
                    <a:pt x="3513" y="1505586"/>
                    <a:pt x="0" y="1497105"/>
                    <a:pt x="0" y="1488261"/>
                  </a:cubicBezTo>
                  <a:lnTo>
                    <a:pt x="0" y="33345"/>
                  </a:lnTo>
                  <a:cubicBezTo>
                    <a:pt x="0" y="24502"/>
                    <a:pt x="3513" y="16020"/>
                    <a:pt x="9767" y="9767"/>
                  </a:cubicBezTo>
                  <a:cubicBezTo>
                    <a:pt x="16020" y="3513"/>
                    <a:pt x="24502" y="0"/>
                    <a:pt x="33345" y="0"/>
                  </a:cubicBez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39528" cy="1559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61366" y="2944782"/>
            <a:ext cx="1949911" cy="1949911"/>
            <a:chOff x="0" y="0"/>
            <a:chExt cx="13716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70521" y="2735902"/>
            <a:ext cx="3946959" cy="5777349"/>
            <a:chOff x="0" y="0"/>
            <a:chExt cx="1039528" cy="1521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9528" cy="1521606"/>
            </a:xfrm>
            <a:custGeom>
              <a:avLst/>
              <a:gdLst/>
              <a:ahLst/>
              <a:cxnLst/>
              <a:rect l="l" t="t" r="r" b="b"/>
              <a:pathLst>
                <a:path w="1039528" h="1521606">
                  <a:moveTo>
                    <a:pt x="33345" y="0"/>
                  </a:moveTo>
                  <a:lnTo>
                    <a:pt x="1006183" y="0"/>
                  </a:lnTo>
                  <a:cubicBezTo>
                    <a:pt x="1015027" y="0"/>
                    <a:pt x="1023508" y="3513"/>
                    <a:pt x="1029762" y="9767"/>
                  </a:cubicBezTo>
                  <a:cubicBezTo>
                    <a:pt x="1036015" y="16020"/>
                    <a:pt x="1039528" y="24502"/>
                    <a:pt x="1039528" y="33345"/>
                  </a:cubicBezTo>
                  <a:lnTo>
                    <a:pt x="1039528" y="1488261"/>
                  </a:lnTo>
                  <a:cubicBezTo>
                    <a:pt x="1039528" y="1497105"/>
                    <a:pt x="1036015" y="1505586"/>
                    <a:pt x="1029762" y="1511840"/>
                  </a:cubicBezTo>
                  <a:cubicBezTo>
                    <a:pt x="1023508" y="1518093"/>
                    <a:pt x="1015027" y="1521606"/>
                    <a:pt x="1006183" y="1521606"/>
                  </a:cubicBezTo>
                  <a:lnTo>
                    <a:pt x="33345" y="1521606"/>
                  </a:lnTo>
                  <a:cubicBezTo>
                    <a:pt x="24502" y="1521606"/>
                    <a:pt x="16020" y="1518093"/>
                    <a:pt x="9767" y="1511840"/>
                  </a:cubicBezTo>
                  <a:cubicBezTo>
                    <a:pt x="3513" y="1505586"/>
                    <a:pt x="0" y="1497105"/>
                    <a:pt x="0" y="1488261"/>
                  </a:cubicBezTo>
                  <a:lnTo>
                    <a:pt x="0" y="33345"/>
                  </a:lnTo>
                  <a:cubicBezTo>
                    <a:pt x="0" y="24502"/>
                    <a:pt x="3513" y="16020"/>
                    <a:pt x="9767" y="9767"/>
                  </a:cubicBezTo>
                  <a:cubicBezTo>
                    <a:pt x="16020" y="3513"/>
                    <a:pt x="24502" y="0"/>
                    <a:pt x="33345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39528" cy="1559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67322" y="2944782"/>
            <a:ext cx="1949911" cy="1949911"/>
            <a:chOff x="0" y="0"/>
            <a:chExt cx="13716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78303" r="-78303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174754" y="2735902"/>
            <a:ext cx="3946959" cy="5614800"/>
            <a:chOff x="0" y="0"/>
            <a:chExt cx="1039528" cy="14787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39528" cy="1478795"/>
            </a:xfrm>
            <a:custGeom>
              <a:avLst/>
              <a:gdLst/>
              <a:ahLst/>
              <a:cxnLst/>
              <a:rect l="l" t="t" r="r" b="b"/>
              <a:pathLst>
                <a:path w="1039528" h="1478795">
                  <a:moveTo>
                    <a:pt x="33345" y="0"/>
                  </a:moveTo>
                  <a:lnTo>
                    <a:pt x="1006183" y="0"/>
                  </a:lnTo>
                  <a:cubicBezTo>
                    <a:pt x="1015027" y="0"/>
                    <a:pt x="1023508" y="3513"/>
                    <a:pt x="1029762" y="9767"/>
                  </a:cubicBezTo>
                  <a:cubicBezTo>
                    <a:pt x="1036015" y="16020"/>
                    <a:pt x="1039528" y="24502"/>
                    <a:pt x="1039528" y="33345"/>
                  </a:cubicBezTo>
                  <a:lnTo>
                    <a:pt x="1039528" y="1445450"/>
                  </a:lnTo>
                  <a:cubicBezTo>
                    <a:pt x="1039528" y="1454294"/>
                    <a:pt x="1036015" y="1462775"/>
                    <a:pt x="1029762" y="1469029"/>
                  </a:cubicBezTo>
                  <a:cubicBezTo>
                    <a:pt x="1023508" y="1475282"/>
                    <a:pt x="1015027" y="1478795"/>
                    <a:pt x="1006183" y="1478795"/>
                  </a:cubicBezTo>
                  <a:lnTo>
                    <a:pt x="33345" y="1478795"/>
                  </a:lnTo>
                  <a:cubicBezTo>
                    <a:pt x="24502" y="1478795"/>
                    <a:pt x="16020" y="1475282"/>
                    <a:pt x="9767" y="1469029"/>
                  </a:cubicBezTo>
                  <a:cubicBezTo>
                    <a:pt x="3513" y="1462775"/>
                    <a:pt x="0" y="1454294"/>
                    <a:pt x="0" y="1445450"/>
                  </a:cubicBezTo>
                  <a:lnTo>
                    <a:pt x="0" y="33345"/>
                  </a:lnTo>
                  <a:cubicBezTo>
                    <a:pt x="0" y="24502"/>
                    <a:pt x="3513" y="16020"/>
                    <a:pt x="9767" y="9767"/>
                  </a:cubicBezTo>
                  <a:cubicBezTo>
                    <a:pt x="16020" y="3513"/>
                    <a:pt x="24502" y="0"/>
                    <a:pt x="33345" y="0"/>
                  </a:cubicBez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39528" cy="1516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73278" y="2944782"/>
            <a:ext cx="1949911" cy="1949911"/>
            <a:chOff x="0" y="0"/>
            <a:chExt cx="13716000" cy="1371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7" name="AutoShape 17"/>
          <p:cNvSpPr/>
          <p:nvPr/>
        </p:nvSpPr>
        <p:spPr>
          <a:xfrm>
            <a:off x="2969988" y="6138812"/>
            <a:ext cx="2332666" cy="0"/>
          </a:xfrm>
          <a:prstGeom prst="line">
            <a:avLst/>
          </a:prstGeom>
          <a:ln w="38100" cap="rnd">
            <a:solidFill>
              <a:srgbClr val="EBF3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2981689" y="6138812"/>
            <a:ext cx="2332666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7975945" y="6138812"/>
            <a:ext cx="2332666" cy="0"/>
          </a:xfrm>
          <a:prstGeom prst="line">
            <a:avLst/>
          </a:prstGeom>
          <a:ln w="38100" cap="rnd">
            <a:solidFill>
              <a:srgbClr val="02020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2401179" y="6345754"/>
            <a:ext cx="421661" cy="308963"/>
          </a:xfrm>
          <a:custGeom>
            <a:avLst/>
            <a:gdLst/>
            <a:ahLst/>
            <a:cxnLst/>
            <a:rect l="l" t="t" r="r" b="b"/>
            <a:pathLst>
              <a:path w="421661" h="308963">
                <a:moveTo>
                  <a:pt x="0" y="0"/>
                </a:moveTo>
                <a:lnTo>
                  <a:pt x="421661" y="0"/>
                </a:lnTo>
                <a:lnTo>
                  <a:pt x="421661" y="308963"/>
                </a:lnTo>
                <a:lnTo>
                  <a:pt x="0" y="308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412879" y="6345754"/>
            <a:ext cx="421661" cy="308963"/>
          </a:xfrm>
          <a:custGeom>
            <a:avLst/>
            <a:gdLst/>
            <a:ahLst/>
            <a:cxnLst/>
            <a:rect l="l" t="t" r="r" b="b"/>
            <a:pathLst>
              <a:path w="421661" h="308963">
                <a:moveTo>
                  <a:pt x="0" y="0"/>
                </a:moveTo>
                <a:lnTo>
                  <a:pt x="421662" y="0"/>
                </a:lnTo>
                <a:lnTo>
                  <a:pt x="421662" y="308963"/>
                </a:lnTo>
                <a:lnTo>
                  <a:pt x="0" y="308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407135" y="6345754"/>
            <a:ext cx="421661" cy="308963"/>
          </a:xfrm>
          <a:custGeom>
            <a:avLst/>
            <a:gdLst/>
            <a:ahLst/>
            <a:cxnLst/>
            <a:rect l="l" t="t" r="r" b="b"/>
            <a:pathLst>
              <a:path w="421661" h="308963">
                <a:moveTo>
                  <a:pt x="0" y="0"/>
                </a:moveTo>
                <a:lnTo>
                  <a:pt x="421661" y="0"/>
                </a:lnTo>
                <a:lnTo>
                  <a:pt x="421661" y="308963"/>
                </a:lnTo>
                <a:lnTo>
                  <a:pt x="0" y="3089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5449803" y="7672288"/>
            <a:ext cx="421661" cy="308963"/>
          </a:xfrm>
          <a:custGeom>
            <a:avLst/>
            <a:gdLst/>
            <a:ahLst/>
            <a:cxnLst/>
            <a:rect l="l" t="t" r="r" b="b"/>
            <a:pathLst>
              <a:path w="421661" h="308963">
                <a:moveTo>
                  <a:pt x="421661" y="0"/>
                </a:moveTo>
                <a:lnTo>
                  <a:pt x="0" y="0"/>
                </a:lnTo>
                <a:lnTo>
                  <a:pt x="0" y="308962"/>
                </a:lnTo>
                <a:lnTo>
                  <a:pt x="421661" y="308962"/>
                </a:lnTo>
                <a:lnTo>
                  <a:pt x="42166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15461504" y="7672288"/>
            <a:ext cx="421661" cy="308963"/>
          </a:xfrm>
          <a:custGeom>
            <a:avLst/>
            <a:gdLst/>
            <a:ahLst/>
            <a:cxnLst/>
            <a:rect l="l" t="t" r="r" b="b"/>
            <a:pathLst>
              <a:path w="421661" h="308963">
                <a:moveTo>
                  <a:pt x="421661" y="0"/>
                </a:moveTo>
                <a:lnTo>
                  <a:pt x="0" y="0"/>
                </a:lnTo>
                <a:lnTo>
                  <a:pt x="0" y="308962"/>
                </a:lnTo>
                <a:lnTo>
                  <a:pt x="421661" y="308962"/>
                </a:lnTo>
                <a:lnTo>
                  <a:pt x="42166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H="1">
            <a:off x="10455759" y="7672288"/>
            <a:ext cx="421661" cy="308963"/>
          </a:xfrm>
          <a:custGeom>
            <a:avLst/>
            <a:gdLst/>
            <a:ahLst/>
            <a:cxnLst/>
            <a:rect l="l" t="t" r="r" b="b"/>
            <a:pathLst>
              <a:path w="421661" h="308963">
                <a:moveTo>
                  <a:pt x="421662" y="0"/>
                </a:moveTo>
                <a:lnTo>
                  <a:pt x="0" y="0"/>
                </a:lnTo>
                <a:lnTo>
                  <a:pt x="0" y="308962"/>
                </a:lnTo>
                <a:lnTo>
                  <a:pt x="421662" y="308962"/>
                </a:lnTo>
                <a:lnTo>
                  <a:pt x="42166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-1287452" y="4732907"/>
            <a:ext cx="2574905" cy="821186"/>
            <a:chOff x="0" y="0"/>
            <a:chExt cx="956238" cy="30496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56239" cy="304963"/>
            </a:xfrm>
            <a:custGeom>
              <a:avLst/>
              <a:gdLst/>
              <a:ahLst/>
              <a:cxnLst/>
              <a:rect l="l" t="t" r="r" b="b"/>
              <a:pathLst>
                <a:path w="956239" h="304963">
                  <a:moveTo>
                    <a:pt x="0" y="0"/>
                  </a:moveTo>
                  <a:lnTo>
                    <a:pt x="956239" y="0"/>
                  </a:lnTo>
                  <a:lnTo>
                    <a:pt x="95623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56238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083" t="-522387" r="-25606" b="-114608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4" name="AutoShape 3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reeform 36"/>
          <p:cNvSpPr/>
          <p:nvPr/>
        </p:nvSpPr>
        <p:spPr>
          <a:xfrm>
            <a:off x="8239217" y="3016677"/>
            <a:ext cx="1806121" cy="1806121"/>
          </a:xfrm>
          <a:custGeom>
            <a:avLst/>
            <a:gdLst/>
            <a:ahLst/>
            <a:cxnLst/>
            <a:rect l="l" t="t" r="r" b="b"/>
            <a:pathLst>
              <a:path w="1806121" h="1806121">
                <a:moveTo>
                  <a:pt x="0" y="0"/>
                </a:moveTo>
                <a:lnTo>
                  <a:pt x="1806121" y="0"/>
                </a:lnTo>
                <a:lnTo>
                  <a:pt x="1806121" y="1806121"/>
                </a:lnTo>
                <a:lnTo>
                  <a:pt x="0" y="18061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3882727" y="684715"/>
            <a:ext cx="10522547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ROLES DEL EQUIPO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69988" y="6481185"/>
            <a:ext cx="2479815" cy="83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2"/>
              </a:lnSpc>
            </a:pPr>
            <a:r>
              <a:rPr lang="en-US" sz="13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Gestiona y prioriza el Product Backlog, valida los incrementos y participa en el desarrollo.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81689" y="6490710"/>
            <a:ext cx="2573970" cy="7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7"/>
              </a:lnSpc>
            </a:pP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Lidera el diseño de interfaces, desarrolla componentes y realiza las pruebas funcionales y de usabilidad.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75945" y="6490710"/>
            <a:ext cx="2573970" cy="7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7"/>
              </a:lnSpc>
            </a:pPr>
            <a:r>
              <a:rPr lang="en-US"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 Scrum, lidera la arquitectura y desarrolla la infraestructura y servicios principales.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72569" y="5576951"/>
            <a:ext cx="2988064" cy="308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2"/>
              </a:lnSpc>
            </a:pPr>
            <a:r>
              <a:rPr lang="en-US" sz="17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Owner / Full-Stack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01179" y="5131816"/>
            <a:ext cx="34702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EFDFC"/>
                </a:solidFill>
                <a:latin typeface="Poppins Bold"/>
                <a:ea typeface="Poppins Bold"/>
                <a:cs typeface="Poppins Bold"/>
                <a:sym typeface="Poppins Bold"/>
              </a:rPr>
              <a:t>LUCAS CONTRERAS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12879" y="5131816"/>
            <a:ext cx="3470286" cy="441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EFDFC"/>
                </a:solidFill>
                <a:latin typeface="Poppins Bold"/>
                <a:ea typeface="Poppins Bold"/>
                <a:cs typeface="Poppins Bold"/>
                <a:sym typeface="Poppins Bold"/>
              </a:rPr>
              <a:t>VALENTINA CISTERNA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07135" y="5131816"/>
            <a:ext cx="34702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JORGE LORCA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44552" y="5576951"/>
            <a:ext cx="3198895" cy="290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3"/>
              </a:lnSpc>
            </a:pPr>
            <a:r>
              <a:rPr lang="en-US" sz="15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Scrum Master / Lead Developer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623710" y="5576951"/>
            <a:ext cx="2988064" cy="308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2"/>
              </a:lnSpc>
            </a:pPr>
            <a:r>
              <a:rPr lang="en-US" sz="171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/ QA &amp; UX</a:t>
            </a:r>
          </a:p>
        </p:txBody>
      </p:sp>
    </p:spTree>
  </p:cSld>
  <p:clrMapOvr>
    <a:masterClrMapping/>
  </p:clrMapOvr>
  <p:transition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6258" y="-158620"/>
            <a:ext cx="18914258" cy="2239545"/>
            <a:chOff x="0" y="0"/>
            <a:chExt cx="6055655" cy="717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55655" cy="717021"/>
            </a:xfrm>
            <a:custGeom>
              <a:avLst/>
              <a:gdLst/>
              <a:ahLst/>
              <a:cxnLst/>
              <a:rect l="l" t="t" r="r" b="b"/>
              <a:pathLst>
                <a:path w="6055655" h="717021">
                  <a:moveTo>
                    <a:pt x="3275" y="0"/>
                  </a:moveTo>
                  <a:lnTo>
                    <a:pt x="6052380" y="0"/>
                  </a:lnTo>
                  <a:cubicBezTo>
                    <a:pt x="6053249" y="0"/>
                    <a:pt x="6054082" y="345"/>
                    <a:pt x="6054696" y="959"/>
                  </a:cubicBezTo>
                  <a:cubicBezTo>
                    <a:pt x="6055310" y="1573"/>
                    <a:pt x="6055655" y="2406"/>
                    <a:pt x="6055655" y="3275"/>
                  </a:cubicBezTo>
                  <a:lnTo>
                    <a:pt x="6055655" y="713746"/>
                  </a:lnTo>
                  <a:cubicBezTo>
                    <a:pt x="6055655" y="714615"/>
                    <a:pt x="6055310" y="715448"/>
                    <a:pt x="6054696" y="716062"/>
                  </a:cubicBezTo>
                  <a:cubicBezTo>
                    <a:pt x="6054082" y="716676"/>
                    <a:pt x="6053249" y="717021"/>
                    <a:pt x="6052380" y="717021"/>
                  </a:cubicBezTo>
                  <a:lnTo>
                    <a:pt x="3275" y="717021"/>
                  </a:lnTo>
                  <a:cubicBezTo>
                    <a:pt x="2406" y="717021"/>
                    <a:pt x="1573" y="716676"/>
                    <a:pt x="959" y="716062"/>
                  </a:cubicBezTo>
                  <a:cubicBezTo>
                    <a:pt x="345" y="715448"/>
                    <a:pt x="0" y="714615"/>
                    <a:pt x="0" y="713746"/>
                  </a:cubicBezTo>
                  <a:lnTo>
                    <a:pt x="0" y="3275"/>
                  </a:lnTo>
                  <a:cubicBezTo>
                    <a:pt x="0" y="2406"/>
                    <a:pt x="345" y="1573"/>
                    <a:pt x="959" y="959"/>
                  </a:cubicBezTo>
                  <a:cubicBezTo>
                    <a:pt x="1573" y="345"/>
                    <a:pt x="2406" y="0"/>
                    <a:pt x="3275" y="0"/>
                  </a:cubicBezTo>
                  <a:close/>
                </a:path>
              </a:pathLst>
            </a:custGeom>
            <a:solidFill>
              <a:srgbClr val="1D4686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055655" cy="764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1192" y="3198972"/>
            <a:ext cx="876300" cy="8763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2524026" y="3823495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261192" y="5143500"/>
            <a:ext cx="876300" cy="8763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2524026" y="5768023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261192" y="7086600"/>
            <a:ext cx="876300" cy="87630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2524026" y="7711123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9879282" y="3266492"/>
            <a:ext cx="876300" cy="8763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1142116" y="3891015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9879282" y="5211020"/>
            <a:ext cx="876300" cy="8763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11142116" y="5835543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9879282" y="7154120"/>
            <a:ext cx="876300" cy="87630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11142116" y="7778643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9" name="Freeform 29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AutoShape 31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1350545" y="3305289"/>
            <a:ext cx="697594" cy="697594"/>
          </a:xfrm>
          <a:custGeom>
            <a:avLst/>
            <a:gdLst/>
            <a:ahLst/>
            <a:cxnLst/>
            <a:rect l="l" t="t" r="r" b="b"/>
            <a:pathLst>
              <a:path w="697594" h="697594">
                <a:moveTo>
                  <a:pt x="0" y="0"/>
                </a:moveTo>
                <a:lnTo>
                  <a:pt x="697594" y="0"/>
                </a:lnTo>
                <a:lnTo>
                  <a:pt x="697594" y="697593"/>
                </a:lnTo>
                <a:lnTo>
                  <a:pt x="0" y="697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39898" y="5319189"/>
            <a:ext cx="548428" cy="548428"/>
          </a:xfrm>
          <a:custGeom>
            <a:avLst/>
            <a:gdLst/>
            <a:ahLst/>
            <a:cxnLst/>
            <a:rect l="l" t="t" r="r" b="b"/>
            <a:pathLst>
              <a:path w="548428" h="548428">
                <a:moveTo>
                  <a:pt x="0" y="0"/>
                </a:moveTo>
                <a:lnTo>
                  <a:pt x="548428" y="0"/>
                </a:lnTo>
                <a:lnTo>
                  <a:pt x="548428" y="548428"/>
                </a:lnTo>
                <a:lnTo>
                  <a:pt x="0" y="548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359428" y="7162800"/>
            <a:ext cx="709368" cy="709368"/>
          </a:xfrm>
          <a:custGeom>
            <a:avLst/>
            <a:gdLst/>
            <a:ahLst/>
            <a:cxnLst/>
            <a:rect l="l" t="t" r="r" b="b"/>
            <a:pathLst>
              <a:path w="709368" h="709368">
                <a:moveTo>
                  <a:pt x="0" y="0"/>
                </a:moveTo>
                <a:lnTo>
                  <a:pt x="709368" y="0"/>
                </a:lnTo>
                <a:lnTo>
                  <a:pt x="709368" y="709368"/>
                </a:lnTo>
                <a:lnTo>
                  <a:pt x="0" y="709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054429" y="3442182"/>
            <a:ext cx="526006" cy="540457"/>
          </a:xfrm>
          <a:custGeom>
            <a:avLst/>
            <a:gdLst/>
            <a:ahLst/>
            <a:cxnLst/>
            <a:rect l="l" t="t" r="r" b="b"/>
            <a:pathLst>
              <a:path w="526006" h="540457">
                <a:moveTo>
                  <a:pt x="0" y="0"/>
                </a:moveTo>
                <a:lnTo>
                  <a:pt x="526006" y="0"/>
                </a:lnTo>
                <a:lnTo>
                  <a:pt x="526006" y="540457"/>
                </a:lnTo>
                <a:lnTo>
                  <a:pt x="0" y="540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022321" y="5386710"/>
            <a:ext cx="590221" cy="590221"/>
          </a:xfrm>
          <a:custGeom>
            <a:avLst/>
            <a:gdLst/>
            <a:ahLst/>
            <a:cxnLst/>
            <a:rect l="l" t="t" r="r" b="b"/>
            <a:pathLst>
              <a:path w="590221" h="590221">
                <a:moveTo>
                  <a:pt x="0" y="0"/>
                </a:moveTo>
                <a:lnTo>
                  <a:pt x="590221" y="0"/>
                </a:lnTo>
                <a:lnTo>
                  <a:pt x="590221" y="590220"/>
                </a:lnTo>
                <a:lnTo>
                  <a:pt x="0" y="590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101976" y="7344620"/>
            <a:ext cx="430911" cy="495300"/>
          </a:xfrm>
          <a:custGeom>
            <a:avLst/>
            <a:gdLst/>
            <a:ahLst/>
            <a:cxnLst/>
            <a:rect l="l" t="t" r="r" b="b"/>
            <a:pathLst>
              <a:path w="430911" h="495300">
                <a:moveTo>
                  <a:pt x="0" y="0"/>
                </a:moveTo>
                <a:lnTo>
                  <a:pt x="430911" y="0"/>
                </a:lnTo>
                <a:lnTo>
                  <a:pt x="430911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3882727" y="684715"/>
            <a:ext cx="10522547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MAPA TECNOLÓGICO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524026" y="3974307"/>
            <a:ext cx="39203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Aplic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ación móvil para conductores y panel administrativo web mediante un stack multiplataforma.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24026" y="3317511"/>
            <a:ext cx="438094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- FLUTTER / DART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24026" y="5918835"/>
            <a:ext cx="39203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Alm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acena temporalmente la información en el dispositivo para permitir la operación sin conexión.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24026" y="5262039"/>
            <a:ext cx="438094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PERSISTENCIA LOCAL - SQLITE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24026" y="7861935"/>
            <a:ext cx="39203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Sincro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niza los datos entre el almacenamiento local y la base de datos central al recuperar la conectividad.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524026" y="7205139"/>
            <a:ext cx="468329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SINCRONIZACIÓN — POWERSYNC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42116" y="4041827"/>
            <a:ext cx="39203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Gestiona autentic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ación, servicios backend, almacenamiento de archivos y conexión con la base de datos.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142116" y="3385032"/>
            <a:ext cx="438094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— SUPABASE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42116" y="5986355"/>
            <a:ext cx="39203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entraliza la información del sistema, aplicando seguridad mediante Row-Level Security (RLS).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2116" y="5329560"/>
            <a:ext cx="438094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 — POSTGRESQL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142116" y="7929455"/>
            <a:ext cx="39203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r>
              <a:rPr lang="en-US" sz="1200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Contro</a:t>
            </a:r>
            <a:r>
              <a:rPr lang="en-US" sz="1200" u="none" spc="72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la el acceso a la información según el tipo de usuario, diferenciando principalmente conductores y administradores.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42116" y="7272660"/>
            <a:ext cx="468329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SEGURIDAD — ROLES + RLS</a:t>
            </a:r>
          </a:p>
        </p:txBody>
      </p:sp>
    </p:spTree>
  </p:cSld>
  <p:clrMapOvr>
    <a:masterClrMapping/>
  </p:clrMapOvr>
  <p:transition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902600" y="2240946"/>
            <a:ext cx="9441946" cy="8199844"/>
            <a:chOff x="0" y="0"/>
            <a:chExt cx="7091802" cy="615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91801" cy="6158909"/>
            </a:xfrm>
            <a:custGeom>
              <a:avLst/>
              <a:gdLst/>
              <a:ahLst/>
              <a:cxnLst/>
              <a:rect l="l" t="t" r="r" b="b"/>
              <a:pathLst>
                <a:path w="7091801" h="6158909">
                  <a:moveTo>
                    <a:pt x="6765579" y="0"/>
                  </a:moveTo>
                  <a:cubicBezTo>
                    <a:pt x="6945001" y="0"/>
                    <a:pt x="7091801" y="131445"/>
                    <a:pt x="7091801" y="292100"/>
                  </a:cubicBezTo>
                  <a:lnTo>
                    <a:pt x="7091801" y="5922391"/>
                  </a:lnTo>
                  <a:cubicBezTo>
                    <a:pt x="7091801" y="6083046"/>
                    <a:pt x="6948405" y="6186551"/>
                    <a:pt x="6773096" y="6152388"/>
                  </a:cubicBezTo>
                  <a:lnTo>
                    <a:pt x="318706" y="4894072"/>
                  </a:lnTo>
                  <a:cubicBezTo>
                    <a:pt x="143396" y="4859782"/>
                    <a:pt x="0" y="4700397"/>
                    <a:pt x="0" y="4539742"/>
                  </a:cubicBezTo>
                  <a:lnTo>
                    <a:pt x="0" y="292100"/>
                  </a:lnTo>
                  <a:cubicBezTo>
                    <a:pt x="0" y="131445"/>
                    <a:pt x="146800" y="0"/>
                    <a:pt x="326223" y="0"/>
                  </a:cubicBezTo>
                  <a:lnTo>
                    <a:pt x="6765579" y="0"/>
                  </a:lnTo>
                  <a:close/>
                </a:path>
              </a:pathLst>
            </a:custGeom>
            <a:blipFill>
              <a:blip r:embed="rId2"/>
              <a:stretch>
                <a:fillRect l="-15174" r="-15174"/>
              </a:stretch>
            </a:blipFill>
          </p:spPr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654358" y="3469468"/>
          <a:ext cx="5414815" cy="4664342"/>
        </p:xfrm>
        <a:graphic>
          <a:graphicData uri="http://schemas.openxmlformats.org/drawingml/2006/table">
            <a:tbl>
              <a:tblPr/>
              <a:tblGrid>
                <a:gridCol w="5414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1318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3534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Diseño de una arquitectura escalable y segura, integrando los distintos componentes tecnológicos de la solución.</a:t>
                      </a:r>
                      <a:endParaRPr lang="en-US" sz="1100"/>
                    </a:p>
                  </a:txBody>
                  <a:tcPr marL="260146" marR="260146" marT="260146" marB="260146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015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421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3534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Diseño y gestión de la estructura de datos, permitiendo su integración y acceso desde entornos cloud y móviles.</a:t>
                      </a:r>
                      <a:endParaRPr lang="en-US" sz="1100"/>
                    </a:p>
                  </a:txBody>
                  <a:tcPr marL="260146" marR="260146" marT="260146" marB="260146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015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015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603"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3534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Planificación, organización y seguimiento del proyecto mediante roles, actividades, hitos y metodologías ágiles.</a:t>
                      </a:r>
                      <a:endParaRPr lang="en-US" sz="1100"/>
                    </a:p>
                  </a:txBody>
                  <a:tcPr marL="260146" marR="260146" marT="260146" marB="260146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015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015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91834" y="1483843"/>
            <a:ext cx="6019873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COMPETENCIAS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89418" y="3412318"/>
            <a:ext cx="458623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DISEÑO DE ARQUITECTURA DE SOFTWARE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9418" y="4905313"/>
            <a:ext cx="722336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MODELAMIENTO E INTEGRACIÓN DE BASES DE DATOS CLOUD/MÓVIL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89418" y="6602861"/>
            <a:ext cx="5056546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PROYECTOS CON MARCOS ÁGILES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60267" y="3772814"/>
            <a:ext cx="438150" cy="4381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2F8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5363489"/>
            <a:ext cx="438150" cy="4381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2F8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6954164"/>
            <a:ext cx="438150" cy="43815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2F8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123401" y="3813992"/>
            <a:ext cx="375016" cy="307982"/>
          </a:xfrm>
          <a:custGeom>
            <a:avLst/>
            <a:gdLst/>
            <a:ahLst/>
            <a:cxnLst/>
            <a:rect l="l" t="t" r="r" b="b"/>
            <a:pathLst>
              <a:path w="375016" h="307982">
                <a:moveTo>
                  <a:pt x="0" y="0"/>
                </a:moveTo>
                <a:lnTo>
                  <a:pt x="375016" y="0"/>
                </a:lnTo>
                <a:lnTo>
                  <a:pt x="375016" y="307982"/>
                </a:lnTo>
                <a:lnTo>
                  <a:pt x="0" y="3079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91834" y="5404667"/>
            <a:ext cx="375016" cy="307982"/>
          </a:xfrm>
          <a:custGeom>
            <a:avLst/>
            <a:gdLst/>
            <a:ahLst/>
            <a:cxnLst/>
            <a:rect l="l" t="t" r="r" b="b"/>
            <a:pathLst>
              <a:path w="375016" h="307982">
                <a:moveTo>
                  <a:pt x="0" y="0"/>
                </a:moveTo>
                <a:lnTo>
                  <a:pt x="375016" y="0"/>
                </a:lnTo>
                <a:lnTo>
                  <a:pt x="375016" y="307982"/>
                </a:lnTo>
                <a:lnTo>
                  <a:pt x="0" y="3079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91834" y="7019248"/>
            <a:ext cx="375016" cy="307982"/>
          </a:xfrm>
          <a:custGeom>
            <a:avLst/>
            <a:gdLst/>
            <a:ahLst/>
            <a:cxnLst/>
            <a:rect l="l" t="t" r="r" b="b"/>
            <a:pathLst>
              <a:path w="375016" h="307982">
                <a:moveTo>
                  <a:pt x="0" y="0"/>
                </a:moveTo>
                <a:lnTo>
                  <a:pt x="375016" y="0"/>
                </a:lnTo>
                <a:lnTo>
                  <a:pt x="375016" y="307982"/>
                </a:lnTo>
                <a:lnTo>
                  <a:pt x="0" y="3079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83" t="-522387" r="-25606" b="-114608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AutoShape 2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3" name="Freeform 3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083" t="-522387" r="-25606" b="-11460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716500" y="0"/>
            <a:ext cx="571500" cy="10287000"/>
            <a:chOff x="0" y="0"/>
            <a:chExt cx="762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000" cy="13716000"/>
            </a:xfrm>
            <a:custGeom>
              <a:avLst/>
              <a:gdLst/>
              <a:ahLst/>
              <a:cxnLst/>
              <a:rect l="l" t="t" r="r" b="b"/>
              <a:pathLst>
                <a:path w="762000" h="13716000">
                  <a:moveTo>
                    <a:pt x="0" y="0"/>
                  </a:moveTo>
                  <a:lnTo>
                    <a:pt x="762000" y="0"/>
                  </a:lnTo>
                  <a:lnTo>
                    <a:pt x="76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62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81500" y="466725"/>
            <a:ext cx="9525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RIESGOS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57750" y="1428750"/>
            <a:ext cx="85725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Factores críticos identificados durante el desarrollo del proyecto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715250" y="1838325"/>
            <a:ext cx="2857500" cy="0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143000" y="2171700"/>
            <a:ext cx="4953000" cy="3124200"/>
            <a:chOff x="0" y="0"/>
            <a:chExt cx="6604000" cy="4165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4000" cy="4165600"/>
            </a:xfrm>
            <a:custGeom>
              <a:avLst/>
              <a:gdLst/>
              <a:ahLst/>
              <a:cxnLst/>
              <a:rect l="l" t="t" r="r" b="b"/>
              <a:pathLst>
                <a:path w="6604000" h="4165600">
                  <a:moveTo>
                    <a:pt x="416560" y="0"/>
                  </a:moveTo>
                  <a:lnTo>
                    <a:pt x="6187440" y="0"/>
                  </a:lnTo>
                  <a:cubicBezTo>
                    <a:pt x="6417500" y="0"/>
                    <a:pt x="6604000" y="186500"/>
                    <a:pt x="6604000" y="416560"/>
                  </a:cubicBezTo>
                  <a:lnTo>
                    <a:pt x="6604000" y="3749040"/>
                  </a:lnTo>
                  <a:cubicBezTo>
                    <a:pt x="6604000" y="3979100"/>
                    <a:pt x="6417500" y="4165600"/>
                    <a:pt x="6187440" y="4165600"/>
                  </a:cubicBezTo>
                  <a:lnTo>
                    <a:pt x="416560" y="4165600"/>
                  </a:lnTo>
                  <a:cubicBezTo>
                    <a:pt x="186500" y="4165600"/>
                    <a:pt x="0" y="3979100"/>
                    <a:pt x="0" y="3749040"/>
                  </a:cubicBezTo>
                  <a:lnTo>
                    <a:pt x="0" y="416560"/>
                  </a:lnTo>
                  <a:cubicBezTo>
                    <a:pt x="0" y="186500"/>
                    <a:pt x="186500" y="0"/>
                    <a:pt x="416560" y="0"/>
                  </a:cubicBezTo>
                  <a:close/>
                </a:path>
              </a:pathLst>
            </a:custGeom>
            <a:solidFill>
              <a:srgbClr val="F5F5F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04000" cy="420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2171700"/>
            <a:ext cx="4953000" cy="47625"/>
            <a:chOff x="0" y="0"/>
            <a:chExt cx="6604000" cy="63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0" cy="63500"/>
            </a:xfrm>
            <a:custGeom>
              <a:avLst/>
              <a:gdLst/>
              <a:ahLst/>
              <a:cxnLst/>
              <a:rect l="l" t="t" r="r" b="b"/>
              <a:pathLst>
                <a:path w="6604000" h="635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1125" y="2409825"/>
            <a:ext cx="476250" cy="476250"/>
            <a:chOff x="0" y="0"/>
            <a:chExt cx="635000" cy="63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81125" y="2419350"/>
            <a:ext cx="4762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000250" y="2505075"/>
            <a:ext cx="1333500" cy="266700"/>
            <a:chOff x="0" y="0"/>
            <a:chExt cx="1778000" cy="355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78000" cy="355600"/>
            </a:xfrm>
            <a:custGeom>
              <a:avLst/>
              <a:gdLst/>
              <a:ahLst/>
              <a:cxnLst/>
              <a:rect l="l" t="t" r="r" b="b"/>
              <a:pathLst>
                <a:path w="1778000" h="3556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9804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000250" y="2514600"/>
            <a:ext cx="1333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Adopción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1125" y="3009900"/>
            <a:ext cx="4476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Resistencia al Cambio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1125" y="3314700"/>
            <a:ext cx="447675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Fricción inicial de los conductores al pasar del papel a lo digital.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381750" y="2171700"/>
            <a:ext cx="4953000" cy="3124200"/>
            <a:chOff x="0" y="0"/>
            <a:chExt cx="6604000" cy="4165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04000" cy="4165600"/>
            </a:xfrm>
            <a:custGeom>
              <a:avLst/>
              <a:gdLst/>
              <a:ahLst/>
              <a:cxnLst/>
              <a:rect l="l" t="t" r="r" b="b"/>
              <a:pathLst>
                <a:path w="6604000" h="4165600">
                  <a:moveTo>
                    <a:pt x="416560" y="0"/>
                  </a:moveTo>
                  <a:lnTo>
                    <a:pt x="6187440" y="0"/>
                  </a:lnTo>
                  <a:cubicBezTo>
                    <a:pt x="6417500" y="0"/>
                    <a:pt x="6604000" y="186500"/>
                    <a:pt x="6604000" y="416560"/>
                  </a:cubicBezTo>
                  <a:lnTo>
                    <a:pt x="6604000" y="3749040"/>
                  </a:lnTo>
                  <a:cubicBezTo>
                    <a:pt x="6604000" y="3979100"/>
                    <a:pt x="6417500" y="4165600"/>
                    <a:pt x="6187440" y="4165600"/>
                  </a:cubicBezTo>
                  <a:lnTo>
                    <a:pt x="416560" y="4165600"/>
                  </a:lnTo>
                  <a:cubicBezTo>
                    <a:pt x="186500" y="4165600"/>
                    <a:pt x="0" y="3979100"/>
                    <a:pt x="0" y="3749040"/>
                  </a:cubicBezTo>
                  <a:lnTo>
                    <a:pt x="0" y="416560"/>
                  </a:lnTo>
                  <a:cubicBezTo>
                    <a:pt x="0" y="186500"/>
                    <a:pt x="186500" y="0"/>
                    <a:pt x="416560" y="0"/>
                  </a:cubicBezTo>
                  <a:close/>
                </a:path>
              </a:pathLst>
            </a:custGeom>
            <a:solidFill>
              <a:srgbClr val="F5F5FA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604000" cy="420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81750" y="2171700"/>
            <a:ext cx="4953000" cy="47625"/>
            <a:chOff x="0" y="0"/>
            <a:chExt cx="6604000" cy="63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04000" cy="63500"/>
            </a:xfrm>
            <a:custGeom>
              <a:avLst/>
              <a:gdLst/>
              <a:ahLst/>
              <a:cxnLst/>
              <a:rect l="l" t="t" r="r" b="b"/>
              <a:pathLst>
                <a:path w="6604000" h="635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19875" y="2409825"/>
            <a:ext cx="476250" cy="476250"/>
            <a:chOff x="0" y="0"/>
            <a:chExt cx="635000" cy="635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619875" y="2419350"/>
            <a:ext cx="4762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239000" y="2505075"/>
            <a:ext cx="1333500" cy="266700"/>
            <a:chOff x="0" y="0"/>
            <a:chExt cx="1778000" cy="355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778000" cy="355600"/>
            </a:xfrm>
            <a:custGeom>
              <a:avLst/>
              <a:gdLst/>
              <a:ahLst/>
              <a:cxnLst/>
              <a:rect l="l" t="t" r="r" b="b"/>
              <a:pathLst>
                <a:path w="1778000" h="3556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9804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7239000" y="2514600"/>
            <a:ext cx="1333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Conectividad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19875" y="3009900"/>
            <a:ext cx="4476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Conflictos de Sincronización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19875" y="3314700"/>
            <a:ext cx="447675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Riesgo de colisión de datos al recuperar señal tras operar Offline-First.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1620500" y="2171700"/>
            <a:ext cx="4953000" cy="3124200"/>
            <a:chOff x="0" y="0"/>
            <a:chExt cx="6604000" cy="4165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604000" cy="4165600"/>
            </a:xfrm>
            <a:custGeom>
              <a:avLst/>
              <a:gdLst/>
              <a:ahLst/>
              <a:cxnLst/>
              <a:rect l="l" t="t" r="r" b="b"/>
              <a:pathLst>
                <a:path w="6604000" h="4165600">
                  <a:moveTo>
                    <a:pt x="416560" y="0"/>
                  </a:moveTo>
                  <a:lnTo>
                    <a:pt x="6187440" y="0"/>
                  </a:lnTo>
                  <a:cubicBezTo>
                    <a:pt x="6417500" y="0"/>
                    <a:pt x="6604000" y="186500"/>
                    <a:pt x="6604000" y="416560"/>
                  </a:cubicBezTo>
                  <a:lnTo>
                    <a:pt x="6604000" y="3749040"/>
                  </a:lnTo>
                  <a:cubicBezTo>
                    <a:pt x="6604000" y="3979100"/>
                    <a:pt x="6417500" y="4165600"/>
                    <a:pt x="6187440" y="4165600"/>
                  </a:cubicBezTo>
                  <a:lnTo>
                    <a:pt x="416560" y="4165600"/>
                  </a:lnTo>
                  <a:cubicBezTo>
                    <a:pt x="186500" y="4165600"/>
                    <a:pt x="0" y="3979100"/>
                    <a:pt x="0" y="3749040"/>
                  </a:cubicBezTo>
                  <a:lnTo>
                    <a:pt x="0" y="416560"/>
                  </a:lnTo>
                  <a:cubicBezTo>
                    <a:pt x="0" y="186500"/>
                    <a:pt x="186500" y="0"/>
                    <a:pt x="416560" y="0"/>
                  </a:cubicBezTo>
                  <a:close/>
                </a:path>
              </a:pathLst>
            </a:custGeom>
            <a:solidFill>
              <a:srgbClr val="F5F5FA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6604000" cy="420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20500" y="2171700"/>
            <a:ext cx="4953000" cy="47625"/>
            <a:chOff x="0" y="0"/>
            <a:chExt cx="6604000" cy="635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604000" cy="63500"/>
            </a:xfrm>
            <a:custGeom>
              <a:avLst/>
              <a:gdLst/>
              <a:ahLst/>
              <a:cxnLst/>
              <a:rect l="l" t="t" r="r" b="b"/>
              <a:pathLst>
                <a:path w="6604000" h="635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858625" y="2409825"/>
            <a:ext cx="476250" cy="476250"/>
            <a:chOff x="0" y="0"/>
            <a:chExt cx="635000" cy="635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858625" y="2419350"/>
            <a:ext cx="4762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477750" y="2505075"/>
            <a:ext cx="1333500" cy="266700"/>
            <a:chOff x="0" y="0"/>
            <a:chExt cx="1778000" cy="355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778000" cy="355600"/>
            </a:xfrm>
            <a:custGeom>
              <a:avLst/>
              <a:gdLst/>
              <a:ahLst/>
              <a:cxnLst/>
              <a:rect l="l" t="t" r="r" b="b"/>
              <a:pathLst>
                <a:path w="1778000" h="3556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9804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2477750" y="2514600"/>
            <a:ext cx="1333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Infraestructura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58625" y="3009900"/>
            <a:ext cx="4476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Dependencia del Backend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858625" y="3314700"/>
            <a:ext cx="447675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Posibles caídas de servidor o saturación de cuotas de almacenamiento.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143000" y="5534025"/>
            <a:ext cx="4953000" cy="3124200"/>
            <a:chOff x="0" y="0"/>
            <a:chExt cx="6604000" cy="4165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604000" cy="4165600"/>
            </a:xfrm>
            <a:custGeom>
              <a:avLst/>
              <a:gdLst/>
              <a:ahLst/>
              <a:cxnLst/>
              <a:rect l="l" t="t" r="r" b="b"/>
              <a:pathLst>
                <a:path w="6604000" h="4165600">
                  <a:moveTo>
                    <a:pt x="416560" y="0"/>
                  </a:moveTo>
                  <a:lnTo>
                    <a:pt x="6187440" y="0"/>
                  </a:lnTo>
                  <a:cubicBezTo>
                    <a:pt x="6417500" y="0"/>
                    <a:pt x="6604000" y="186500"/>
                    <a:pt x="6604000" y="416560"/>
                  </a:cubicBezTo>
                  <a:lnTo>
                    <a:pt x="6604000" y="3749040"/>
                  </a:lnTo>
                  <a:cubicBezTo>
                    <a:pt x="6604000" y="3979100"/>
                    <a:pt x="6417500" y="4165600"/>
                    <a:pt x="6187440" y="4165600"/>
                  </a:cubicBezTo>
                  <a:lnTo>
                    <a:pt x="416560" y="4165600"/>
                  </a:lnTo>
                  <a:cubicBezTo>
                    <a:pt x="186500" y="4165600"/>
                    <a:pt x="0" y="3979100"/>
                    <a:pt x="0" y="3749040"/>
                  </a:cubicBezTo>
                  <a:lnTo>
                    <a:pt x="0" y="416560"/>
                  </a:lnTo>
                  <a:cubicBezTo>
                    <a:pt x="0" y="186500"/>
                    <a:pt x="186500" y="0"/>
                    <a:pt x="416560" y="0"/>
                  </a:cubicBezTo>
                  <a:close/>
                </a:path>
              </a:pathLst>
            </a:custGeom>
            <a:solidFill>
              <a:srgbClr val="F5F5FA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6604000" cy="420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43000" y="5534025"/>
            <a:ext cx="4953000" cy="47625"/>
            <a:chOff x="0" y="0"/>
            <a:chExt cx="6604000" cy="635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604000" cy="63500"/>
            </a:xfrm>
            <a:custGeom>
              <a:avLst/>
              <a:gdLst/>
              <a:ahLst/>
              <a:cxnLst/>
              <a:rect l="l" t="t" r="r" b="b"/>
              <a:pathLst>
                <a:path w="6604000" h="635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81125" y="5772150"/>
            <a:ext cx="476250" cy="476250"/>
            <a:chOff x="0" y="0"/>
            <a:chExt cx="635000" cy="6350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381125" y="5781675"/>
            <a:ext cx="4762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2000250" y="5867400"/>
            <a:ext cx="1333500" cy="266700"/>
            <a:chOff x="0" y="0"/>
            <a:chExt cx="1778000" cy="3556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778000" cy="355600"/>
            </a:xfrm>
            <a:custGeom>
              <a:avLst/>
              <a:gdLst/>
              <a:ahLst/>
              <a:cxnLst/>
              <a:rect l="l" t="t" r="r" b="b"/>
              <a:pathLst>
                <a:path w="1778000" h="3556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9804"/>
              </a:srgbClr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2000250" y="5876925"/>
            <a:ext cx="1333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Rendimiento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81125" y="6372225"/>
            <a:ext cx="4476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Desempeño en Flutter Web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381125" y="6677025"/>
            <a:ext cx="447675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Consumo elevado de memoria en navegadores al cargar mapas y gráficos.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381750" y="5534025"/>
            <a:ext cx="4953000" cy="3124200"/>
            <a:chOff x="0" y="0"/>
            <a:chExt cx="6604000" cy="41656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604000" cy="4165600"/>
            </a:xfrm>
            <a:custGeom>
              <a:avLst/>
              <a:gdLst/>
              <a:ahLst/>
              <a:cxnLst/>
              <a:rect l="l" t="t" r="r" b="b"/>
              <a:pathLst>
                <a:path w="6604000" h="4165600">
                  <a:moveTo>
                    <a:pt x="416560" y="0"/>
                  </a:moveTo>
                  <a:lnTo>
                    <a:pt x="6187440" y="0"/>
                  </a:lnTo>
                  <a:cubicBezTo>
                    <a:pt x="6417500" y="0"/>
                    <a:pt x="6604000" y="186500"/>
                    <a:pt x="6604000" y="416560"/>
                  </a:cubicBezTo>
                  <a:lnTo>
                    <a:pt x="6604000" y="3749040"/>
                  </a:lnTo>
                  <a:cubicBezTo>
                    <a:pt x="6604000" y="3979100"/>
                    <a:pt x="6417500" y="4165600"/>
                    <a:pt x="6187440" y="4165600"/>
                  </a:cubicBezTo>
                  <a:lnTo>
                    <a:pt x="416560" y="4165600"/>
                  </a:lnTo>
                  <a:cubicBezTo>
                    <a:pt x="186500" y="4165600"/>
                    <a:pt x="0" y="3979100"/>
                    <a:pt x="0" y="3749040"/>
                  </a:cubicBezTo>
                  <a:lnTo>
                    <a:pt x="0" y="416560"/>
                  </a:lnTo>
                  <a:cubicBezTo>
                    <a:pt x="0" y="186500"/>
                    <a:pt x="186500" y="0"/>
                    <a:pt x="416560" y="0"/>
                  </a:cubicBezTo>
                  <a:close/>
                </a:path>
              </a:pathLst>
            </a:custGeom>
            <a:solidFill>
              <a:srgbClr val="F5F5FA"/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6604000" cy="420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381750" y="5534025"/>
            <a:ext cx="4953000" cy="47625"/>
            <a:chOff x="0" y="0"/>
            <a:chExt cx="6604000" cy="635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604000" cy="63500"/>
            </a:xfrm>
            <a:custGeom>
              <a:avLst/>
              <a:gdLst/>
              <a:ahLst/>
              <a:cxnLst/>
              <a:rect l="l" t="t" r="r" b="b"/>
              <a:pathLst>
                <a:path w="6604000" h="635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19875" y="5772150"/>
            <a:ext cx="476250" cy="476250"/>
            <a:chOff x="0" y="0"/>
            <a:chExt cx="635000" cy="6350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6619875" y="5781675"/>
            <a:ext cx="4762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7239000" y="5867400"/>
            <a:ext cx="1333500" cy="266700"/>
            <a:chOff x="0" y="0"/>
            <a:chExt cx="1778000" cy="3556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778000" cy="355600"/>
            </a:xfrm>
            <a:custGeom>
              <a:avLst/>
              <a:gdLst/>
              <a:ahLst/>
              <a:cxnLst/>
              <a:rect l="l" t="t" r="r" b="b"/>
              <a:pathLst>
                <a:path w="1778000" h="3556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9804"/>
              </a:srgbClr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7239000" y="5876925"/>
            <a:ext cx="1333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Dispositivos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619875" y="6372225"/>
            <a:ext cx="4476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Limitaciones de Hardware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619875" y="6677025"/>
            <a:ext cx="447675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Imprecisión del GPS o cámara en dispositivos móviles de gama baja.</a:t>
            </a:r>
          </a:p>
        </p:txBody>
      </p:sp>
      <p:grpSp>
        <p:nvGrpSpPr>
          <p:cNvPr id="96" name="Group 96"/>
          <p:cNvGrpSpPr/>
          <p:nvPr/>
        </p:nvGrpSpPr>
        <p:grpSpPr>
          <a:xfrm>
            <a:off x="11620500" y="5534025"/>
            <a:ext cx="4953000" cy="3124200"/>
            <a:chOff x="0" y="0"/>
            <a:chExt cx="6604000" cy="41656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604000" cy="4165600"/>
            </a:xfrm>
            <a:custGeom>
              <a:avLst/>
              <a:gdLst/>
              <a:ahLst/>
              <a:cxnLst/>
              <a:rect l="l" t="t" r="r" b="b"/>
              <a:pathLst>
                <a:path w="6604000" h="4165600">
                  <a:moveTo>
                    <a:pt x="416560" y="0"/>
                  </a:moveTo>
                  <a:lnTo>
                    <a:pt x="6187440" y="0"/>
                  </a:lnTo>
                  <a:cubicBezTo>
                    <a:pt x="6417500" y="0"/>
                    <a:pt x="6604000" y="186500"/>
                    <a:pt x="6604000" y="416560"/>
                  </a:cubicBezTo>
                  <a:lnTo>
                    <a:pt x="6604000" y="3749040"/>
                  </a:lnTo>
                  <a:cubicBezTo>
                    <a:pt x="6604000" y="3979100"/>
                    <a:pt x="6417500" y="4165600"/>
                    <a:pt x="6187440" y="4165600"/>
                  </a:cubicBezTo>
                  <a:lnTo>
                    <a:pt x="416560" y="4165600"/>
                  </a:lnTo>
                  <a:cubicBezTo>
                    <a:pt x="186500" y="4165600"/>
                    <a:pt x="0" y="3979100"/>
                    <a:pt x="0" y="3749040"/>
                  </a:cubicBezTo>
                  <a:lnTo>
                    <a:pt x="0" y="416560"/>
                  </a:lnTo>
                  <a:cubicBezTo>
                    <a:pt x="0" y="186500"/>
                    <a:pt x="186500" y="0"/>
                    <a:pt x="416560" y="0"/>
                  </a:cubicBezTo>
                  <a:close/>
                </a:path>
              </a:pathLst>
            </a:custGeom>
            <a:solidFill>
              <a:srgbClr val="F5F5FA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6604000" cy="420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1620500" y="5534025"/>
            <a:ext cx="4953000" cy="47625"/>
            <a:chOff x="0" y="0"/>
            <a:chExt cx="6604000" cy="635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604000" cy="63500"/>
            </a:xfrm>
            <a:custGeom>
              <a:avLst/>
              <a:gdLst/>
              <a:ahLst/>
              <a:cxnLst/>
              <a:rect l="l" t="t" r="r" b="b"/>
              <a:pathLst>
                <a:path w="6604000" h="635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1858625" y="5772150"/>
            <a:ext cx="476250" cy="476250"/>
            <a:chOff x="0" y="0"/>
            <a:chExt cx="635000" cy="6350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50" y="0"/>
                    <a:pt x="0" y="142150"/>
                    <a:pt x="0" y="317500"/>
                  </a:cubicBezTo>
                  <a:cubicBezTo>
                    <a:pt x="0" y="492850"/>
                    <a:pt x="142150" y="635000"/>
                    <a:pt x="317500" y="635000"/>
                  </a:cubicBezTo>
                  <a:cubicBezTo>
                    <a:pt x="492850" y="635000"/>
                    <a:pt x="635000" y="492850"/>
                    <a:pt x="635000" y="317500"/>
                  </a:cubicBezTo>
                  <a:cubicBezTo>
                    <a:pt x="635000" y="142150"/>
                    <a:pt x="4928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858625" y="5781675"/>
            <a:ext cx="47625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12477750" y="5867400"/>
            <a:ext cx="1333500" cy="266700"/>
            <a:chOff x="0" y="0"/>
            <a:chExt cx="1778000" cy="3556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778000" cy="355600"/>
            </a:xfrm>
            <a:custGeom>
              <a:avLst/>
              <a:gdLst/>
              <a:ahLst/>
              <a:cxnLst/>
              <a:rect l="l" t="t" r="r" b="b"/>
              <a:pathLst>
                <a:path w="1778000" h="3556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9804"/>
              </a:srgbClr>
            </a:solidFill>
          </p:spPr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12477750" y="5876925"/>
            <a:ext cx="1333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Mantenimiento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858625" y="6372225"/>
            <a:ext cx="4476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Obsolescencia de Librerías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858625" y="6677025"/>
            <a:ext cx="447675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Posible pérdida de soporte futuro en dependencias clave de terceros.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1238250" y="619125"/>
            <a:ext cx="428625" cy="428625"/>
            <a:chOff x="0" y="0"/>
            <a:chExt cx="571500" cy="5715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127935" y="0"/>
                    <a:pt x="0" y="127935"/>
                    <a:pt x="0" y="285750"/>
                  </a:cubicBezTo>
                  <a:cubicBezTo>
                    <a:pt x="0" y="443565"/>
                    <a:pt x="127935" y="571500"/>
                    <a:pt x="285750" y="571500"/>
                  </a:cubicBezTo>
                  <a:cubicBezTo>
                    <a:pt x="443565" y="571500"/>
                    <a:pt x="571500" y="443565"/>
                    <a:pt x="571500" y="285750"/>
                  </a:cubicBezTo>
                  <a:cubicBezTo>
                    <a:pt x="571500" y="127935"/>
                    <a:pt x="443565" y="0"/>
                    <a:pt x="285750" y="0"/>
                  </a:cubicBezTo>
                  <a:close/>
                </a:path>
              </a:pathLst>
            </a:custGeom>
            <a:solidFill>
              <a:srgbClr val="DA722E">
                <a:alpha val="14902"/>
              </a:srgbClr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571500" cy="60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6002000" y="8382000"/>
            <a:ext cx="285750" cy="285750"/>
            <a:chOff x="0" y="0"/>
            <a:chExt cx="381000" cy="3810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1D4686">
                <a:alpha val="14902"/>
              </a:srgbClr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8" name="AutoShape 118"/>
          <p:cNvSpPr/>
          <p:nvPr/>
        </p:nvSpPr>
        <p:spPr>
          <a:xfrm>
            <a:off x="1143000" y="8763000"/>
            <a:ext cx="16002000" cy="0"/>
          </a:xfrm>
          <a:prstGeom prst="line">
            <a:avLst/>
          </a:prstGeom>
          <a:ln w="9525" cap="flat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9" name="Group 119"/>
          <p:cNvGrpSpPr/>
          <p:nvPr/>
        </p:nvGrpSpPr>
        <p:grpSpPr>
          <a:xfrm>
            <a:off x="-723900" y="4286250"/>
            <a:ext cx="1295400" cy="828675"/>
            <a:chOff x="0" y="0"/>
            <a:chExt cx="1727200" cy="11049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727200" cy="1104900"/>
            </a:xfrm>
            <a:custGeom>
              <a:avLst/>
              <a:gdLst/>
              <a:ahLst/>
              <a:cxnLst/>
              <a:rect l="l" t="t" r="r" b="b"/>
              <a:pathLst>
                <a:path w="1727200" h="1104900">
                  <a:moveTo>
                    <a:pt x="0" y="0"/>
                  </a:moveTo>
                  <a:lnTo>
                    <a:pt x="1727200" y="0"/>
                  </a:lnTo>
                  <a:lnTo>
                    <a:pt x="17272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21" name="TextBox 121"/>
            <p:cNvSpPr txBox="1"/>
            <p:nvPr/>
          </p:nvSpPr>
          <p:spPr>
            <a:xfrm>
              <a:off x="0" y="-38100"/>
              <a:ext cx="1727200" cy="114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  <p:transition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3" name="Freeform 3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083" t="-522387" r="-25606" b="-11460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571500" cy="10287000"/>
            <a:chOff x="0" y="0"/>
            <a:chExt cx="762000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0" cy="13716000"/>
            </a:xfrm>
            <a:custGeom>
              <a:avLst/>
              <a:gdLst/>
              <a:ahLst/>
              <a:cxnLst/>
              <a:rect l="l" t="t" r="r" b="b"/>
              <a:pathLst>
                <a:path w="762000" h="13716000">
                  <a:moveTo>
                    <a:pt x="0" y="0"/>
                  </a:moveTo>
                  <a:lnTo>
                    <a:pt x="762000" y="0"/>
                  </a:lnTo>
                  <a:lnTo>
                    <a:pt x="76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62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002125" y="4733925"/>
            <a:ext cx="1295400" cy="828675"/>
            <a:chOff x="0" y="0"/>
            <a:chExt cx="1727200" cy="1104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7200" cy="1104900"/>
            </a:xfrm>
            <a:custGeom>
              <a:avLst/>
              <a:gdLst/>
              <a:ahLst/>
              <a:cxnLst/>
              <a:rect l="l" t="t" r="r" b="b"/>
              <a:pathLst>
                <a:path w="1727200" h="1104900">
                  <a:moveTo>
                    <a:pt x="0" y="0"/>
                  </a:moveTo>
                  <a:lnTo>
                    <a:pt x="1727200" y="0"/>
                  </a:lnTo>
                  <a:lnTo>
                    <a:pt x="17272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27200" cy="114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723900" y="4733925"/>
            <a:ext cx="1295400" cy="828675"/>
            <a:chOff x="0" y="0"/>
            <a:chExt cx="1727200" cy="1104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27200" cy="1104900"/>
            </a:xfrm>
            <a:custGeom>
              <a:avLst/>
              <a:gdLst/>
              <a:ahLst/>
              <a:cxnLst/>
              <a:rect l="l" t="t" r="r" b="b"/>
              <a:pathLst>
                <a:path w="1727200" h="1104900">
                  <a:moveTo>
                    <a:pt x="0" y="0"/>
                  </a:moveTo>
                  <a:lnTo>
                    <a:pt x="1727200" y="0"/>
                  </a:lnTo>
                  <a:lnTo>
                    <a:pt x="17272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27200" cy="114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17913" y="542925"/>
            <a:ext cx="1238250" cy="1238250"/>
            <a:chOff x="0" y="0"/>
            <a:chExt cx="1651000" cy="165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51000" cy="1651000"/>
            </a:xfrm>
            <a:custGeom>
              <a:avLst/>
              <a:gdLst/>
              <a:ahLst/>
              <a:cxnLst/>
              <a:rect l="l" t="t" r="r" b="b"/>
              <a:pathLst>
                <a:path w="1651000" h="1651000">
                  <a:moveTo>
                    <a:pt x="825500" y="0"/>
                  </a:moveTo>
                  <a:cubicBezTo>
                    <a:pt x="369589" y="0"/>
                    <a:pt x="0" y="369589"/>
                    <a:pt x="0" y="825500"/>
                  </a:cubicBezTo>
                  <a:cubicBezTo>
                    <a:pt x="0" y="1281411"/>
                    <a:pt x="369589" y="1651000"/>
                    <a:pt x="825500" y="1651000"/>
                  </a:cubicBezTo>
                  <a:cubicBezTo>
                    <a:pt x="1281411" y="1651000"/>
                    <a:pt x="1651000" y="1281411"/>
                    <a:pt x="1651000" y="825500"/>
                  </a:cubicBezTo>
                  <a:cubicBezTo>
                    <a:pt x="1651000" y="369589"/>
                    <a:pt x="1281411" y="0"/>
                    <a:pt x="825500" y="0"/>
                  </a:cubicBezTo>
                  <a:close/>
                </a:path>
              </a:pathLst>
            </a:custGeom>
            <a:solidFill>
              <a:srgbClr val="DA722E">
                <a:alpha val="14902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876675" y="742950"/>
            <a:ext cx="10525125" cy="104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61"/>
              </a:lnSpc>
            </a:pPr>
            <a:r>
              <a:rPr lang="en-US" sz="5829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SEGURIDAD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34000" y="1790700"/>
            <a:ext cx="76200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Capas de protección integradas en la arquitectura del sistema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715250" y="2219325"/>
            <a:ext cx="2857500" cy="0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333500" y="2762250"/>
            <a:ext cx="7143750" cy="2381250"/>
            <a:chOff x="0" y="0"/>
            <a:chExt cx="9525000" cy="317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25000" cy="3175000"/>
            </a:xfrm>
            <a:custGeom>
              <a:avLst/>
              <a:gdLst/>
              <a:ahLst/>
              <a:cxnLst/>
              <a:rect l="l" t="t" r="r" b="b"/>
              <a:pathLst>
                <a:path w="9525000" h="3175000">
                  <a:moveTo>
                    <a:pt x="317500" y="0"/>
                  </a:moveTo>
                  <a:lnTo>
                    <a:pt x="9207500" y="0"/>
                  </a:lnTo>
                  <a:cubicBezTo>
                    <a:pt x="9382851" y="0"/>
                    <a:pt x="9525000" y="142150"/>
                    <a:pt x="9525000" y="317500"/>
                  </a:cubicBezTo>
                  <a:lnTo>
                    <a:pt x="9525000" y="2857500"/>
                  </a:lnTo>
                  <a:cubicBezTo>
                    <a:pt x="9525000" y="3032850"/>
                    <a:pt x="9382851" y="3175000"/>
                    <a:pt x="9207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525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33500" y="2952750"/>
            <a:ext cx="47625" cy="2000250"/>
            <a:chOff x="0" y="0"/>
            <a:chExt cx="63500" cy="2667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" cy="2667000"/>
            </a:xfrm>
            <a:custGeom>
              <a:avLst/>
              <a:gdLst/>
              <a:ahLst/>
              <a:cxnLst/>
              <a:rect l="l" t="t" r="r" b="b"/>
              <a:pathLst>
                <a:path w="63500" h="2667000">
                  <a:moveTo>
                    <a:pt x="0" y="0"/>
                  </a:moveTo>
                  <a:lnTo>
                    <a:pt x="63500" y="0"/>
                  </a:lnTo>
                  <a:lnTo>
                    <a:pt x="63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35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76375" y="3619500"/>
            <a:ext cx="571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9" name="AutoShape 29"/>
          <p:cNvSpPr/>
          <p:nvPr/>
        </p:nvSpPr>
        <p:spPr>
          <a:xfrm>
            <a:off x="2238375" y="3048000"/>
            <a:ext cx="0" cy="180975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2428875" y="3000375"/>
            <a:ext cx="1524000" cy="266700"/>
            <a:chOff x="0" y="0"/>
            <a:chExt cx="2032000" cy="355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32000" cy="355600"/>
            </a:xfrm>
            <a:custGeom>
              <a:avLst/>
              <a:gdLst/>
              <a:ahLst/>
              <a:cxnLst/>
              <a:rect l="l" t="t" r="r" b="b"/>
              <a:pathLst>
                <a:path w="2032000" h="355600">
                  <a:moveTo>
                    <a:pt x="1854200" y="0"/>
                  </a:moveTo>
                  <a:cubicBezTo>
                    <a:pt x="1952396" y="0"/>
                    <a:pt x="2032000" y="79604"/>
                    <a:pt x="2032000" y="177800"/>
                  </a:cubicBezTo>
                  <a:cubicBezTo>
                    <a:pt x="2032000" y="275996"/>
                    <a:pt x="1952396" y="355600"/>
                    <a:pt x="1854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11765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032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28875" y="3028950"/>
            <a:ext cx="1524000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Supabase Auth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28875" y="3324225"/>
            <a:ext cx="58578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Autenticación y Roles Estrictos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28875" y="3657600"/>
            <a:ext cx="5762625" cy="52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Acceso segmentado donde los conductores solo ingresan a la app móvil y el administrador tiene control exclusivo del panel web.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524000" y="5095875"/>
            <a:ext cx="952500" cy="0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9429750" y="2762250"/>
            <a:ext cx="7143750" cy="2381250"/>
            <a:chOff x="0" y="0"/>
            <a:chExt cx="9525000" cy="3175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25000" cy="3175000"/>
            </a:xfrm>
            <a:custGeom>
              <a:avLst/>
              <a:gdLst/>
              <a:ahLst/>
              <a:cxnLst/>
              <a:rect l="l" t="t" r="r" b="b"/>
              <a:pathLst>
                <a:path w="9525000" h="3175000">
                  <a:moveTo>
                    <a:pt x="317500" y="0"/>
                  </a:moveTo>
                  <a:lnTo>
                    <a:pt x="9207500" y="0"/>
                  </a:lnTo>
                  <a:cubicBezTo>
                    <a:pt x="9382851" y="0"/>
                    <a:pt x="9525000" y="142150"/>
                    <a:pt x="9525000" y="317500"/>
                  </a:cubicBezTo>
                  <a:lnTo>
                    <a:pt x="9525000" y="2857500"/>
                  </a:lnTo>
                  <a:cubicBezTo>
                    <a:pt x="9525000" y="3032850"/>
                    <a:pt x="9382851" y="3175000"/>
                    <a:pt x="9207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9525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29750" y="2952750"/>
            <a:ext cx="47625" cy="2000250"/>
            <a:chOff x="0" y="0"/>
            <a:chExt cx="63500" cy="2667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500" cy="2667000"/>
            </a:xfrm>
            <a:custGeom>
              <a:avLst/>
              <a:gdLst/>
              <a:ahLst/>
              <a:cxnLst/>
              <a:rect l="l" t="t" r="r" b="b"/>
              <a:pathLst>
                <a:path w="63500" h="2667000">
                  <a:moveTo>
                    <a:pt x="0" y="0"/>
                  </a:moveTo>
                  <a:lnTo>
                    <a:pt x="63500" y="0"/>
                  </a:lnTo>
                  <a:lnTo>
                    <a:pt x="63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35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572625" y="3619500"/>
            <a:ext cx="571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44" name="AutoShape 44"/>
          <p:cNvSpPr/>
          <p:nvPr/>
        </p:nvSpPr>
        <p:spPr>
          <a:xfrm>
            <a:off x="10334625" y="3048000"/>
            <a:ext cx="0" cy="180975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5" name="Group 45"/>
          <p:cNvGrpSpPr/>
          <p:nvPr/>
        </p:nvGrpSpPr>
        <p:grpSpPr>
          <a:xfrm>
            <a:off x="10525125" y="3000375"/>
            <a:ext cx="1524000" cy="266700"/>
            <a:chOff x="0" y="0"/>
            <a:chExt cx="2032000" cy="355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32000" cy="355600"/>
            </a:xfrm>
            <a:custGeom>
              <a:avLst/>
              <a:gdLst/>
              <a:ahLst/>
              <a:cxnLst/>
              <a:rect l="l" t="t" r="r" b="b"/>
              <a:pathLst>
                <a:path w="2032000" h="355600">
                  <a:moveTo>
                    <a:pt x="1854200" y="0"/>
                  </a:moveTo>
                  <a:cubicBezTo>
                    <a:pt x="1952396" y="0"/>
                    <a:pt x="2032000" y="79604"/>
                    <a:pt x="2032000" y="177800"/>
                  </a:cubicBezTo>
                  <a:cubicBezTo>
                    <a:pt x="2032000" y="275996"/>
                    <a:pt x="1952396" y="355600"/>
                    <a:pt x="1854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11765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032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525125" y="3028950"/>
            <a:ext cx="1524000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Row-Level Security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525125" y="3324225"/>
            <a:ext cx="58578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Privacidad y Aislamiento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525125" y="3657600"/>
            <a:ext cx="5762625" cy="52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Políticas de seguridad a nivel de fila (RLS), garantizando que cada conductor vea únicamente sus propios viajes y rendiciones.</a:t>
            </a:r>
          </a:p>
        </p:txBody>
      </p:sp>
      <p:sp>
        <p:nvSpPr>
          <p:cNvPr id="51" name="AutoShape 51"/>
          <p:cNvSpPr/>
          <p:nvPr/>
        </p:nvSpPr>
        <p:spPr>
          <a:xfrm>
            <a:off x="9620250" y="5095875"/>
            <a:ext cx="952500" cy="0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1333500" y="5619750"/>
            <a:ext cx="7143750" cy="2381250"/>
            <a:chOff x="0" y="0"/>
            <a:chExt cx="9525000" cy="3175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525000" cy="3175000"/>
            </a:xfrm>
            <a:custGeom>
              <a:avLst/>
              <a:gdLst/>
              <a:ahLst/>
              <a:cxnLst/>
              <a:rect l="l" t="t" r="r" b="b"/>
              <a:pathLst>
                <a:path w="9525000" h="3175000">
                  <a:moveTo>
                    <a:pt x="317500" y="0"/>
                  </a:moveTo>
                  <a:lnTo>
                    <a:pt x="9207500" y="0"/>
                  </a:lnTo>
                  <a:cubicBezTo>
                    <a:pt x="9382851" y="0"/>
                    <a:pt x="9525000" y="142150"/>
                    <a:pt x="9525000" y="317500"/>
                  </a:cubicBezTo>
                  <a:lnTo>
                    <a:pt x="9525000" y="2857500"/>
                  </a:lnTo>
                  <a:cubicBezTo>
                    <a:pt x="9525000" y="3032850"/>
                    <a:pt x="9382851" y="3175000"/>
                    <a:pt x="9207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9525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33500" y="5810250"/>
            <a:ext cx="47625" cy="2000250"/>
            <a:chOff x="0" y="0"/>
            <a:chExt cx="63500" cy="2667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3500" cy="2667000"/>
            </a:xfrm>
            <a:custGeom>
              <a:avLst/>
              <a:gdLst/>
              <a:ahLst/>
              <a:cxnLst/>
              <a:rect l="l" t="t" r="r" b="b"/>
              <a:pathLst>
                <a:path w="63500" h="2667000">
                  <a:moveTo>
                    <a:pt x="0" y="0"/>
                  </a:moveTo>
                  <a:lnTo>
                    <a:pt x="63500" y="0"/>
                  </a:lnTo>
                  <a:lnTo>
                    <a:pt x="63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35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476375" y="6477000"/>
            <a:ext cx="571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59" name="AutoShape 59"/>
          <p:cNvSpPr/>
          <p:nvPr/>
        </p:nvSpPr>
        <p:spPr>
          <a:xfrm>
            <a:off x="2238375" y="5905500"/>
            <a:ext cx="0" cy="180975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60"/>
          <p:cNvGrpSpPr/>
          <p:nvPr/>
        </p:nvGrpSpPr>
        <p:grpSpPr>
          <a:xfrm>
            <a:off x="2428875" y="5857875"/>
            <a:ext cx="1524000" cy="266700"/>
            <a:chOff x="0" y="0"/>
            <a:chExt cx="2032000" cy="3556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032000" cy="355600"/>
            </a:xfrm>
            <a:custGeom>
              <a:avLst/>
              <a:gdLst/>
              <a:ahLst/>
              <a:cxnLst/>
              <a:rect l="l" t="t" r="r" b="b"/>
              <a:pathLst>
                <a:path w="2032000" h="355600">
                  <a:moveTo>
                    <a:pt x="1854200" y="0"/>
                  </a:moveTo>
                  <a:cubicBezTo>
                    <a:pt x="1952396" y="0"/>
                    <a:pt x="2032000" y="79604"/>
                    <a:pt x="2032000" y="177800"/>
                  </a:cubicBezTo>
                  <a:cubicBezTo>
                    <a:pt x="2032000" y="275996"/>
                    <a:pt x="1952396" y="355600"/>
                    <a:pt x="1854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11765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2032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428875" y="5886450"/>
            <a:ext cx="1524000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Antifraude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428875" y="6181725"/>
            <a:ext cx="58578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Integridad de Datos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428875" y="6515100"/>
            <a:ext cx="5762625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Las estampas de tiempo y coordenadas GPS son inmutables para el usuario, asegurando información 100% verídica para el cálculo de nóminas.</a:t>
            </a:r>
          </a:p>
        </p:txBody>
      </p:sp>
      <p:sp>
        <p:nvSpPr>
          <p:cNvPr id="66" name="AutoShape 66"/>
          <p:cNvSpPr/>
          <p:nvPr/>
        </p:nvSpPr>
        <p:spPr>
          <a:xfrm>
            <a:off x="1524000" y="7953375"/>
            <a:ext cx="952500" cy="0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7" name="Group 67"/>
          <p:cNvGrpSpPr/>
          <p:nvPr/>
        </p:nvGrpSpPr>
        <p:grpSpPr>
          <a:xfrm>
            <a:off x="9429750" y="5619750"/>
            <a:ext cx="7143750" cy="2381250"/>
            <a:chOff x="0" y="0"/>
            <a:chExt cx="9525000" cy="31750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525000" cy="3175000"/>
            </a:xfrm>
            <a:custGeom>
              <a:avLst/>
              <a:gdLst/>
              <a:ahLst/>
              <a:cxnLst/>
              <a:rect l="l" t="t" r="r" b="b"/>
              <a:pathLst>
                <a:path w="9525000" h="3175000">
                  <a:moveTo>
                    <a:pt x="317500" y="0"/>
                  </a:moveTo>
                  <a:lnTo>
                    <a:pt x="9207500" y="0"/>
                  </a:lnTo>
                  <a:cubicBezTo>
                    <a:pt x="9382851" y="0"/>
                    <a:pt x="9525000" y="142150"/>
                    <a:pt x="9525000" y="317500"/>
                  </a:cubicBezTo>
                  <a:lnTo>
                    <a:pt x="9525000" y="2857500"/>
                  </a:lnTo>
                  <a:cubicBezTo>
                    <a:pt x="9525000" y="3032850"/>
                    <a:pt x="9382851" y="3175000"/>
                    <a:pt x="9207500" y="3175000"/>
                  </a:cubicBezTo>
                  <a:lnTo>
                    <a:pt x="317500" y="3175000"/>
                  </a:lnTo>
                  <a:cubicBezTo>
                    <a:pt x="142150" y="3175000"/>
                    <a:pt x="0" y="3032850"/>
                    <a:pt x="0" y="28575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9525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429750" y="5810250"/>
            <a:ext cx="47625" cy="2000250"/>
            <a:chOff x="0" y="0"/>
            <a:chExt cx="63500" cy="26670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500" cy="2667000"/>
            </a:xfrm>
            <a:custGeom>
              <a:avLst/>
              <a:gdLst/>
              <a:ahLst/>
              <a:cxnLst/>
              <a:rect l="l" t="t" r="r" b="b"/>
              <a:pathLst>
                <a:path w="63500" h="2667000">
                  <a:moveTo>
                    <a:pt x="0" y="0"/>
                  </a:moveTo>
                  <a:lnTo>
                    <a:pt x="63500" y="0"/>
                  </a:lnTo>
                  <a:lnTo>
                    <a:pt x="63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35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572625" y="6477000"/>
            <a:ext cx="5715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DA722E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74" name="AutoShape 74"/>
          <p:cNvSpPr/>
          <p:nvPr/>
        </p:nvSpPr>
        <p:spPr>
          <a:xfrm>
            <a:off x="10334625" y="5905500"/>
            <a:ext cx="0" cy="180975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5" name="Group 75"/>
          <p:cNvGrpSpPr/>
          <p:nvPr/>
        </p:nvGrpSpPr>
        <p:grpSpPr>
          <a:xfrm>
            <a:off x="10525125" y="5857875"/>
            <a:ext cx="1524000" cy="266700"/>
            <a:chOff x="0" y="0"/>
            <a:chExt cx="2032000" cy="3556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032000" cy="355600"/>
            </a:xfrm>
            <a:custGeom>
              <a:avLst/>
              <a:gdLst/>
              <a:ahLst/>
              <a:cxnLst/>
              <a:rect l="l" t="t" r="r" b="b"/>
              <a:pathLst>
                <a:path w="2032000" h="355600">
                  <a:moveTo>
                    <a:pt x="1854200" y="0"/>
                  </a:moveTo>
                  <a:cubicBezTo>
                    <a:pt x="1952396" y="0"/>
                    <a:pt x="2032000" y="79604"/>
                    <a:pt x="2032000" y="177800"/>
                  </a:cubicBezTo>
                  <a:cubicBezTo>
                    <a:pt x="2032000" y="275996"/>
                    <a:pt x="1952396" y="355600"/>
                    <a:pt x="1854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D4686">
                <a:alpha val="11765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20320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0525125" y="5886450"/>
            <a:ext cx="1524000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100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Offline-First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525125" y="6181725"/>
            <a:ext cx="58578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Protección contra Pérdida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525125" y="6515100"/>
            <a:ext cx="5762625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5C5A8A"/>
                </a:solidFill>
                <a:latin typeface="Poppins"/>
                <a:ea typeface="Poppins"/>
                <a:cs typeface="Poppins"/>
                <a:sym typeface="Poppins"/>
              </a:rPr>
              <a:t>Bases de datos locales (SQLite) y sincronización bidireccional protegen los registros ante cualquier corte de red o apagón del dispositivo.</a:t>
            </a:r>
          </a:p>
        </p:txBody>
      </p:sp>
      <p:sp>
        <p:nvSpPr>
          <p:cNvPr id="81" name="AutoShape 81"/>
          <p:cNvSpPr/>
          <p:nvPr/>
        </p:nvSpPr>
        <p:spPr>
          <a:xfrm>
            <a:off x="9620250" y="7953375"/>
            <a:ext cx="952500" cy="0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2" name="Group 82"/>
          <p:cNvGrpSpPr/>
          <p:nvPr/>
        </p:nvGrpSpPr>
        <p:grpSpPr>
          <a:xfrm>
            <a:off x="1714500" y="8286750"/>
            <a:ext cx="381000" cy="381000"/>
            <a:chOff x="0" y="0"/>
            <a:chExt cx="508000" cy="5080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DA722E">
                <a:alpha val="19608"/>
              </a:srgbClr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6383000" y="8477250"/>
            <a:ext cx="238125" cy="238125"/>
            <a:chOff x="0" y="0"/>
            <a:chExt cx="317500" cy="3175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750" y="0"/>
                  </a:moveTo>
                  <a:cubicBezTo>
                    <a:pt x="71075" y="0"/>
                    <a:pt x="0" y="71075"/>
                    <a:pt x="0" y="158750"/>
                  </a:cubicBezTo>
                  <a:cubicBezTo>
                    <a:pt x="0" y="246425"/>
                    <a:pt x="71075" y="317500"/>
                    <a:pt x="158750" y="317500"/>
                  </a:cubicBezTo>
                  <a:cubicBezTo>
                    <a:pt x="246425" y="317500"/>
                    <a:pt x="317500" y="246425"/>
                    <a:pt x="317500" y="158750"/>
                  </a:cubicBezTo>
                  <a:cubicBezTo>
                    <a:pt x="317500" y="71075"/>
                    <a:pt x="246425" y="0"/>
                    <a:pt x="158750" y="0"/>
                  </a:cubicBezTo>
                  <a:close/>
                </a:path>
              </a:pathLst>
            </a:custGeom>
            <a:solidFill>
              <a:srgbClr val="1D4686">
                <a:alpha val="24706"/>
              </a:srgbClr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317500" cy="35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7145000" y="2381250"/>
            <a:ext cx="333375" cy="333375"/>
            <a:chOff x="0" y="0"/>
            <a:chExt cx="444500" cy="4445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222250" y="0"/>
                  </a:moveTo>
                  <a:cubicBezTo>
                    <a:pt x="99505" y="0"/>
                    <a:pt x="0" y="99505"/>
                    <a:pt x="0" y="222250"/>
                  </a:cubicBezTo>
                  <a:cubicBezTo>
                    <a:pt x="0" y="344995"/>
                    <a:pt x="99505" y="444500"/>
                    <a:pt x="222250" y="444500"/>
                  </a:cubicBezTo>
                  <a:cubicBezTo>
                    <a:pt x="344995" y="444500"/>
                    <a:pt x="444500" y="344995"/>
                    <a:pt x="444500" y="222250"/>
                  </a:cubicBezTo>
                  <a:cubicBezTo>
                    <a:pt x="444500" y="99505"/>
                    <a:pt x="344995" y="0"/>
                    <a:pt x="222250" y="0"/>
                  </a:cubicBezTo>
                  <a:close/>
                </a:path>
              </a:pathLst>
            </a:custGeom>
            <a:solidFill>
              <a:srgbClr val="DA722E">
                <a:alpha val="14902"/>
              </a:srgbClr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444500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1" name="AutoShape 91"/>
          <p:cNvSpPr/>
          <p:nvPr/>
        </p:nvSpPr>
        <p:spPr>
          <a:xfrm>
            <a:off x="1333500" y="8763000"/>
            <a:ext cx="15621000" cy="0"/>
          </a:xfrm>
          <a:prstGeom prst="line">
            <a:avLst/>
          </a:prstGeom>
          <a:ln w="9525" cap="flat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0" y="4732907"/>
            <a:ext cx="1287452" cy="821186"/>
            <a:chOff x="0" y="0"/>
            <a:chExt cx="478119" cy="304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187763" y="1224287"/>
            <a:ext cx="2831768" cy="7631814"/>
          </a:xfrm>
          <a:custGeom>
            <a:avLst/>
            <a:gdLst/>
            <a:ahLst/>
            <a:cxnLst/>
            <a:rect l="l" t="t" r="r" b="b"/>
            <a:pathLst>
              <a:path w="2831768" h="7631814">
                <a:moveTo>
                  <a:pt x="0" y="0"/>
                </a:moveTo>
                <a:lnTo>
                  <a:pt x="2831768" y="0"/>
                </a:lnTo>
                <a:lnTo>
                  <a:pt x="2831768" y="7631815"/>
                </a:lnTo>
                <a:lnTo>
                  <a:pt x="0" y="7631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8" b="-527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829152" y="1224287"/>
            <a:ext cx="2406077" cy="7744811"/>
          </a:xfrm>
          <a:custGeom>
            <a:avLst/>
            <a:gdLst/>
            <a:ahLst/>
            <a:cxnLst/>
            <a:rect l="l" t="t" r="r" b="b"/>
            <a:pathLst>
              <a:path w="2406077" h="7744811">
                <a:moveTo>
                  <a:pt x="0" y="0"/>
                </a:moveTo>
                <a:lnTo>
                  <a:pt x="2406077" y="0"/>
                </a:lnTo>
                <a:lnTo>
                  <a:pt x="2406077" y="7744811"/>
                </a:lnTo>
                <a:lnTo>
                  <a:pt x="0" y="77448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4" b="-3734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49654" y="1224287"/>
            <a:ext cx="2385693" cy="7744811"/>
          </a:xfrm>
          <a:custGeom>
            <a:avLst/>
            <a:gdLst/>
            <a:ahLst/>
            <a:cxnLst/>
            <a:rect l="l" t="t" r="r" b="b"/>
            <a:pathLst>
              <a:path w="2385693" h="7744811">
                <a:moveTo>
                  <a:pt x="0" y="0"/>
                </a:moveTo>
                <a:lnTo>
                  <a:pt x="2385693" y="0"/>
                </a:lnTo>
                <a:lnTo>
                  <a:pt x="2385693" y="7744811"/>
                </a:lnTo>
                <a:lnTo>
                  <a:pt x="0" y="77448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73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88200" y="86999"/>
            <a:ext cx="12311600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MOCKUPS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42640" y="1129650"/>
            <a:ext cx="2556109" cy="7726452"/>
          </a:xfrm>
          <a:custGeom>
            <a:avLst/>
            <a:gdLst/>
            <a:ahLst/>
            <a:cxnLst/>
            <a:rect l="l" t="t" r="r" b="b"/>
            <a:pathLst>
              <a:path w="2556109" h="7726452">
                <a:moveTo>
                  <a:pt x="0" y="0"/>
                </a:moveTo>
                <a:lnTo>
                  <a:pt x="2556110" y="0"/>
                </a:lnTo>
                <a:lnTo>
                  <a:pt x="2556110" y="7726452"/>
                </a:lnTo>
                <a:lnTo>
                  <a:pt x="0" y="7726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9" b="-3980"/>
            </a:stretch>
          </a:blipFill>
        </p:spPr>
      </p:sp>
    </p:spTree>
  </p:cSld>
  <p:clrMapOvr>
    <a:masterClrMapping/>
  </p:clrMapOvr>
  <p:transition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0" y="4732907"/>
            <a:ext cx="1287452" cy="821186"/>
            <a:chOff x="0" y="0"/>
            <a:chExt cx="478119" cy="304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801557" y="1251347"/>
            <a:ext cx="8006822" cy="6149925"/>
          </a:xfrm>
          <a:custGeom>
            <a:avLst/>
            <a:gdLst/>
            <a:ahLst/>
            <a:cxnLst/>
            <a:rect l="l" t="t" r="r" b="b"/>
            <a:pathLst>
              <a:path w="8006822" h="6149925">
                <a:moveTo>
                  <a:pt x="0" y="0"/>
                </a:moveTo>
                <a:lnTo>
                  <a:pt x="8006822" y="0"/>
                </a:lnTo>
                <a:lnTo>
                  <a:pt x="8006822" y="6149925"/>
                </a:lnTo>
                <a:lnTo>
                  <a:pt x="0" y="614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99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4878" y="1251347"/>
            <a:ext cx="6994417" cy="7858997"/>
          </a:xfrm>
          <a:custGeom>
            <a:avLst/>
            <a:gdLst/>
            <a:ahLst/>
            <a:cxnLst/>
            <a:rect l="l" t="t" r="r" b="b"/>
            <a:pathLst>
              <a:path w="6994417" h="7858997">
                <a:moveTo>
                  <a:pt x="0" y="0"/>
                </a:moveTo>
                <a:lnTo>
                  <a:pt x="6994417" y="0"/>
                </a:lnTo>
                <a:lnTo>
                  <a:pt x="6994417" y="7858997"/>
                </a:lnTo>
                <a:lnTo>
                  <a:pt x="0" y="7858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487"/>
            </a:stretch>
          </a:blipFill>
        </p:spPr>
      </p:sp>
      <p:sp>
        <p:nvSpPr>
          <p:cNvPr id="14" name="Freeform 14">
            <a:hlinkClick r:id="rId6" tooltip="https://app.visily.ai/projects/f9ae1981-f2d4-4675-a5b7-4a0ba5f1ce55/boards/2705786"/>
          </p:cNvPr>
          <p:cNvSpPr/>
          <p:nvPr/>
        </p:nvSpPr>
        <p:spPr>
          <a:xfrm>
            <a:off x="14169564" y="7944458"/>
            <a:ext cx="638851" cy="638851"/>
          </a:xfrm>
          <a:custGeom>
            <a:avLst/>
            <a:gdLst/>
            <a:ahLst/>
            <a:cxnLst/>
            <a:rect l="l" t="t" r="r" b="b"/>
            <a:pathLst>
              <a:path w="638851" h="638851">
                <a:moveTo>
                  <a:pt x="0" y="0"/>
                </a:moveTo>
                <a:lnTo>
                  <a:pt x="638851" y="0"/>
                </a:lnTo>
                <a:lnTo>
                  <a:pt x="638851" y="638851"/>
                </a:lnTo>
                <a:lnTo>
                  <a:pt x="0" y="638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988200" y="86999"/>
            <a:ext cx="12311600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MOCKUPS</a:t>
            </a:r>
          </a:p>
        </p:txBody>
      </p:sp>
      <p:sp>
        <p:nvSpPr>
          <p:cNvPr id="16" name="Freeform 16">
            <a:hlinkClick r:id="rId9" tooltip="https://app.visily.ai/projects/8411177e-2c40-47ae-88ac-c4ac4cbafcee/boards/2706663"/>
          </p:cNvPr>
          <p:cNvSpPr/>
          <p:nvPr/>
        </p:nvSpPr>
        <p:spPr>
          <a:xfrm>
            <a:off x="15169546" y="7944458"/>
            <a:ext cx="638851" cy="638851"/>
          </a:xfrm>
          <a:custGeom>
            <a:avLst/>
            <a:gdLst/>
            <a:ahLst/>
            <a:cxnLst/>
            <a:rect l="l" t="t" r="r" b="b"/>
            <a:pathLst>
              <a:path w="638851" h="638851">
                <a:moveTo>
                  <a:pt x="0" y="0"/>
                </a:moveTo>
                <a:lnTo>
                  <a:pt x="638851" y="0"/>
                </a:lnTo>
                <a:lnTo>
                  <a:pt x="638851" y="638851"/>
                </a:lnTo>
                <a:lnTo>
                  <a:pt x="0" y="638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hlinkClick r:id="rId12" tooltip="https://app.visily.ai/projects/bf866962-eec2-4218-aa6c-8459b5acc11b/boards/2706766"/>
          </p:cNvPr>
          <p:cNvSpPr/>
          <p:nvPr/>
        </p:nvSpPr>
        <p:spPr>
          <a:xfrm>
            <a:off x="16169528" y="7944458"/>
            <a:ext cx="638851" cy="638851"/>
          </a:xfrm>
          <a:custGeom>
            <a:avLst/>
            <a:gdLst/>
            <a:ahLst/>
            <a:cxnLst/>
            <a:rect l="l" t="t" r="r" b="b"/>
            <a:pathLst>
              <a:path w="638851" h="638851">
                <a:moveTo>
                  <a:pt x="0" y="0"/>
                </a:moveTo>
                <a:lnTo>
                  <a:pt x="638851" y="0"/>
                </a:lnTo>
                <a:lnTo>
                  <a:pt x="638851" y="638851"/>
                </a:lnTo>
                <a:lnTo>
                  <a:pt x="0" y="6388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621598">
            <a:off x="410611" y="1105449"/>
            <a:ext cx="9295481" cy="11216266"/>
          </a:xfrm>
          <a:custGeom>
            <a:avLst/>
            <a:gdLst/>
            <a:ahLst/>
            <a:cxnLst/>
            <a:rect l="l" t="t" r="r" b="b"/>
            <a:pathLst>
              <a:path w="9295481" h="11216266">
                <a:moveTo>
                  <a:pt x="0" y="0"/>
                </a:moveTo>
                <a:lnTo>
                  <a:pt x="9295480" y="0"/>
                </a:lnTo>
                <a:lnTo>
                  <a:pt x="9295480" y="11216267"/>
                </a:lnTo>
                <a:lnTo>
                  <a:pt x="0" y="1121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2286000"/>
            <a:ext cx="9974358" cy="8586017"/>
            <a:chOff x="0" y="0"/>
            <a:chExt cx="7091802" cy="6104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91801" cy="6104802"/>
            </a:xfrm>
            <a:custGeom>
              <a:avLst/>
              <a:gdLst/>
              <a:ahLst/>
              <a:cxnLst/>
              <a:rect l="l" t="t" r="r" b="b"/>
              <a:pathLst>
                <a:path w="7091801" h="6104802">
                  <a:moveTo>
                    <a:pt x="6765579" y="0"/>
                  </a:moveTo>
                  <a:cubicBezTo>
                    <a:pt x="6945001" y="0"/>
                    <a:pt x="7091801" y="130289"/>
                    <a:pt x="7091801" y="289530"/>
                  </a:cubicBezTo>
                  <a:lnTo>
                    <a:pt x="7091801" y="5870292"/>
                  </a:lnTo>
                  <a:cubicBezTo>
                    <a:pt x="7091801" y="6029534"/>
                    <a:pt x="6948405" y="6132372"/>
                    <a:pt x="6773096" y="6098267"/>
                  </a:cubicBezTo>
                  <a:lnTo>
                    <a:pt x="318706" y="4851019"/>
                  </a:lnTo>
                  <a:cubicBezTo>
                    <a:pt x="143396" y="4817032"/>
                    <a:pt x="0" y="4659048"/>
                    <a:pt x="0" y="4499807"/>
                  </a:cubicBezTo>
                  <a:lnTo>
                    <a:pt x="0" y="289530"/>
                  </a:lnTo>
                  <a:cubicBezTo>
                    <a:pt x="0" y="130289"/>
                    <a:pt x="146800" y="0"/>
                    <a:pt x="326223" y="0"/>
                  </a:cubicBezTo>
                  <a:lnTo>
                    <a:pt x="6765579" y="0"/>
                  </a:lnTo>
                  <a:close/>
                </a:path>
              </a:pathLst>
            </a:custGeom>
            <a:blipFill>
              <a:blip r:embed="rId4"/>
              <a:stretch>
                <a:fillRect l="-14601" r="-14601" b="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4501852" y="671592"/>
            <a:ext cx="9284297" cy="104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1504" y="3042442"/>
            <a:ext cx="7300694" cy="615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75"/>
              </a:lnSpc>
              <a:spcBef>
                <a:spcPct val="0"/>
              </a:spcBef>
            </a:pPr>
            <a:r>
              <a:rPr lang="en-US" sz="1907" u="none" spc="114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La App Transportes Contreras transforma los actuales cuellos de botella administrativos en un ecosistema digital eficiente. Nuestro equipo de desarrollo garantiza tres pilares fundamentales con la entrega de este proyecto: </a:t>
            </a:r>
          </a:p>
          <a:p>
            <a:pPr marL="0" lvl="0" indent="0" algn="just">
              <a:lnSpc>
                <a:spcPts val="2575"/>
              </a:lnSpc>
              <a:spcBef>
                <a:spcPct val="0"/>
              </a:spcBef>
            </a:pPr>
            <a:endParaRPr lang="en-US" sz="1907" u="none" spc="114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1916" lvl="1" indent="-205958" algn="just">
              <a:lnSpc>
                <a:spcPts val="2575"/>
              </a:lnSpc>
              <a:spcBef>
                <a:spcPct val="0"/>
              </a:spcBef>
              <a:buFont typeface="Arial"/>
              <a:buChar char="•"/>
            </a:pPr>
            <a:r>
              <a:rPr lang="en-US" sz="1907" b="1" u="none" spc="114">
                <a:solidFill>
                  <a:srgbClr val="FEFDFC"/>
                </a:solidFill>
                <a:latin typeface="Poppins Bold"/>
                <a:ea typeface="Poppins Bold"/>
                <a:cs typeface="Poppins Bold"/>
                <a:sym typeface="Poppins Bold"/>
              </a:rPr>
              <a:t>Gobernanza Centralizada:</a:t>
            </a:r>
            <a:r>
              <a:rPr lang="en-US" sz="1907" u="none" spc="114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 La administración toma el control total de las rutas y auditorías financieras, eliminando las planillas informales.</a:t>
            </a:r>
          </a:p>
          <a:p>
            <a:pPr algn="just">
              <a:lnSpc>
                <a:spcPts val="2575"/>
              </a:lnSpc>
              <a:spcBef>
                <a:spcPct val="0"/>
              </a:spcBef>
            </a:pPr>
            <a:r>
              <a:rPr lang="en-US" sz="1907" u="none" spc="114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411916" lvl="1" indent="-205958" algn="just">
              <a:lnSpc>
                <a:spcPts val="2575"/>
              </a:lnSpc>
              <a:spcBef>
                <a:spcPct val="0"/>
              </a:spcBef>
              <a:buFont typeface="Arial"/>
              <a:buChar char="•"/>
            </a:pPr>
            <a:r>
              <a:rPr lang="en-US" sz="1907" b="1" u="none" spc="114">
                <a:solidFill>
                  <a:srgbClr val="FEFDFC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Automatización Segura</a:t>
            </a:r>
            <a:r>
              <a:rPr lang="en-US" sz="1907" u="none" spc="114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: Los botones de estado y la autogeneración de planillas eliminan el error humano en las rendiciones de los choferes. </a:t>
            </a:r>
          </a:p>
          <a:p>
            <a:pPr algn="just">
              <a:lnSpc>
                <a:spcPts val="2575"/>
              </a:lnSpc>
              <a:spcBef>
                <a:spcPct val="0"/>
              </a:spcBef>
            </a:pPr>
            <a:endParaRPr lang="en-US" sz="1907" u="none" spc="114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1916" lvl="1" indent="-205958" algn="just">
              <a:lnSpc>
                <a:spcPts val="2575"/>
              </a:lnSpc>
              <a:spcBef>
                <a:spcPct val="0"/>
              </a:spcBef>
              <a:buFont typeface="Arial"/>
              <a:buChar char="•"/>
            </a:pPr>
            <a:r>
              <a:rPr lang="en-US" sz="1907" b="1" u="none" spc="114">
                <a:solidFill>
                  <a:srgbClr val="FEFDFC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Operatividad Ininterrumpida:</a:t>
            </a:r>
            <a:r>
              <a:rPr lang="en-US" sz="1907" u="none" spc="114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 La tecnología Offline-First asegura la captura de datos y comprobantes en cualquier ruta, sin importar la conectividad</a:t>
            </a:r>
          </a:p>
          <a:p>
            <a:pPr marL="0" lvl="0" indent="0" algn="just">
              <a:lnSpc>
                <a:spcPts val="2575"/>
              </a:lnSpc>
              <a:spcBef>
                <a:spcPct val="0"/>
              </a:spcBef>
            </a:pPr>
            <a:endParaRPr lang="en-US" sz="1907" u="none" spc="114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114817" y="252400"/>
            <a:ext cx="4058366" cy="581118"/>
          </a:xfrm>
          <a:custGeom>
            <a:avLst/>
            <a:gdLst/>
            <a:ahLst/>
            <a:cxnLst/>
            <a:rect l="l" t="t" r="r" b="b"/>
            <a:pathLst>
              <a:path w="4058366" h="581118">
                <a:moveTo>
                  <a:pt x="0" y="0"/>
                </a:moveTo>
                <a:lnTo>
                  <a:pt x="4058366" y="0"/>
                </a:lnTo>
                <a:lnTo>
                  <a:pt x="4058366" y="581117"/>
                </a:lnTo>
                <a:lnTo>
                  <a:pt x="0" y="581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840" t="-628363" r="-25304" b="-146796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9" name="Freeform 9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83" t="-522387" r="-25606" b="-11460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1" name="AutoShape 11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83166" y="4278244"/>
            <a:ext cx="11921665" cy="200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50"/>
              </a:lnSpc>
              <a:spcBef>
                <a:spcPct val="0"/>
              </a:spcBef>
            </a:pPr>
            <a:r>
              <a:rPr lang="en-US" sz="1103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sp>
        <p:nvSpPr>
          <p:cNvPr id="4" name="Freeform 4"/>
          <p:cNvSpPr/>
          <p:nvPr/>
        </p:nvSpPr>
        <p:spPr>
          <a:xfrm>
            <a:off x="-119537" y="7988579"/>
            <a:ext cx="5078884" cy="2539442"/>
          </a:xfrm>
          <a:custGeom>
            <a:avLst/>
            <a:gdLst/>
            <a:ahLst/>
            <a:cxnLst/>
            <a:rect l="l" t="t" r="r" b="b"/>
            <a:pathLst>
              <a:path w="5078884" h="2539442">
                <a:moveTo>
                  <a:pt x="0" y="0"/>
                </a:moveTo>
                <a:lnTo>
                  <a:pt x="5078884" y="0"/>
                </a:lnTo>
                <a:lnTo>
                  <a:pt x="5078884" y="2539442"/>
                </a:lnTo>
                <a:lnTo>
                  <a:pt x="0" y="2539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89427" y="-697002"/>
            <a:ext cx="5950008" cy="3478275"/>
          </a:xfrm>
          <a:custGeom>
            <a:avLst/>
            <a:gdLst/>
            <a:ahLst/>
            <a:cxnLst/>
            <a:rect l="l" t="t" r="r" b="b"/>
            <a:pathLst>
              <a:path w="5950008" h="3478275">
                <a:moveTo>
                  <a:pt x="0" y="0"/>
                </a:moveTo>
                <a:lnTo>
                  <a:pt x="5950008" y="0"/>
                </a:lnTo>
                <a:lnTo>
                  <a:pt x="5950008" y="3478276"/>
                </a:lnTo>
                <a:lnTo>
                  <a:pt x="0" y="3478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029186" y="3828145"/>
            <a:ext cx="8229627" cy="2859289"/>
            <a:chOff x="0" y="0"/>
            <a:chExt cx="2167474" cy="753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7474" cy="753064"/>
            </a:xfrm>
            <a:custGeom>
              <a:avLst/>
              <a:gdLst/>
              <a:ahLst/>
              <a:cxnLst/>
              <a:rect l="l" t="t" r="r" b="b"/>
              <a:pathLst>
                <a:path w="2167474" h="753064">
                  <a:moveTo>
                    <a:pt x="21637" y="0"/>
                  </a:moveTo>
                  <a:lnTo>
                    <a:pt x="2145837" y="0"/>
                  </a:lnTo>
                  <a:cubicBezTo>
                    <a:pt x="2151575" y="0"/>
                    <a:pt x="2157079" y="2280"/>
                    <a:pt x="2161136" y="6337"/>
                  </a:cubicBezTo>
                  <a:cubicBezTo>
                    <a:pt x="2165194" y="10395"/>
                    <a:pt x="2167474" y="15898"/>
                    <a:pt x="2167474" y="21637"/>
                  </a:cubicBezTo>
                  <a:lnTo>
                    <a:pt x="2167474" y="731427"/>
                  </a:lnTo>
                  <a:cubicBezTo>
                    <a:pt x="2167474" y="743377"/>
                    <a:pt x="2157787" y="753064"/>
                    <a:pt x="2145837" y="753064"/>
                  </a:cubicBezTo>
                  <a:lnTo>
                    <a:pt x="21637" y="753064"/>
                  </a:lnTo>
                  <a:cubicBezTo>
                    <a:pt x="15898" y="753064"/>
                    <a:pt x="10395" y="750784"/>
                    <a:pt x="6337" y="746727"/>
                  </a:cubicBezTo>
                  <a:cubicBezTo>
                    <a:pt x="2280" y="742669"/>
                    <a:pt x="0" y="737165"/>
                    <a:pt x="0" y="731427"/>
                  </a:cubicBezTo>
                  <a:lnTo>
                    <a:pt x="0" y="21637"/>
                  </a:lnTo>
                  <a:cubicBezTo>
                    <a:pt x="0" y="15898"/>
                    <a:pt x="2280" y="10395"/>
                    <a:pt x="6337" y="6337"/>
                  </a:cubicBezTo>
                  <a:cubicBezTo>
                    <a:pt x="10395" y="2280"/>
                    <a:pt x="15898" y="0"/>
                    <a:pt x="21637" y="0"/>
                  </a:cubicBezTo>
                  <a:close/>
                </a:path>
              </a:pathLst>
            </a:custGeom>
            <a:ln w="38100" cap="rnd">
              <a:solidFill>
                <a:srgbClr val="EBF3F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67474" cy="800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89033">
            <a:off x="13875580" y="6337636"/>
            <a:ext cx="4605259" cy="4622067"/>
          </a:xfrm>
          <a:custGeom>
            <a:avLst/>
            <a:gdLst/>
            <a:ahLst/>
            <a:cxnLst/>
            <a:rect l="l" t="t" r="r" b="b"/>
            <a:pathLst>
              <a:path w="4605259" h="4622067">
                <a:moveTo>
                  <a:pt x="0" y="0"/>
                </a:moveTo>
                <a:lnTo>
                  <a:pt x="4605260" y="0"/>
                </a:lnTo>
                <a:lnTo>
                  <a:pt x="4605260" y="4622067"/>
                </a:lnTo>
                <a:lnTo>
                  <a:pt x="0" y="46220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35446" y="2366212"/>
            <a:ext cx="3823023" cy="4114800"/>
          </a:xfrm>
          <a:custGeom>
            <a:avLst/>
            <a:gdLst/>
            <a:ahLst/>
            <a:cxnLst/>
            <a:rect l="l" t="t" r="r" b="b"/>
            <a:pathLst>
              <a:path w="3823023" h="4114800">
                <a:moveTo>
                  <a:pt x="0" y="0"/>
                </a:moveTo>
                <a:lnTo>
                  <a:pt x="3823023" y="0"/>
                </a:lnTo>
                <a:lnTo>
                  <a:pt x="382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12" name="Freeform 12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7083" t="-522387" r="-25606" b="-114608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AutoShape 14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1148</Words>
  <Application>Microsoft Office PowerPoint</Application>
  <PresentationFormat>Personalizado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Poppins Bold</vt:lpstr>
      <vt:lpstr>Arial</vt:lpstr>
      <vt:lpstr>Arimo</vt:lpstr>
      <vt:lpstr>Calibri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Fase 1 Capstone</dc:title>
  <cp:lastModifiedBy>PCXX</cp:lastModifiedBy>
  <cp:revision>2</cp:revision>
  <dcterms:created xsi:type="dcterms:W3CDTF">2006-08-16T00:00:00Z</dcterms:created>
  <dcterms:modified xsi:type="dcterms:W3CDTF">2026-09-08T18:36:16Z</dcterms:modified>
  <dc:identifier>DAHT5SLl_Ng</dc:identifier>
</cp:coreProperties>
</file>